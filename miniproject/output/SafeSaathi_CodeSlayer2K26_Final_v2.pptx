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bd884c40cc4096" /><Relationship Type="http://schemas.openxmlformats.org/officeDocument/2006/relationships/extended-properties" Target="/docProps/app.xml" Id="Rd392349f4a304f9c" /><Relationship Type="http://schemas.openxmlformats.org/officeDocument/2006/relationships/officeDocument" Target="/ppt/presentation.xml" Id="Rdb623ec97950400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83e6df20c49f0"/>
  </p:sldMasterIdLst>
  <p:notesMasterIdLst>
    <p:notesMasterId xmlns:r="http://schemas.openxmlformats.org/officeDocument/2006/relationships" r:id="Rbb52ed0959844235"/>
  </p:notesMasterIdLst>
  <p:sldIdLst>
    <p:sldId xmlns:r="http://schemas.openxmlformats.org/officeDocument/2006/relationships" id="256" r:id="R8bfa2e4600df479c"/>
    <p:sldId xmlns:r="http://schemas.openxmlformats.org/officeDocument/2006/relationships" id="257" r:id="R977216338e434252"/>
    <p:sldId xmlns:r="http://schemas.openxmlformats.org/officeDocument/2006/relationships" id="258" r:id="R0faffb2ac4ee4cd5"/>
    <p:sldId xmlns:r="http://schemas.openxmlformats.org/officeDocument/2006/relationships" id="259" r:id="R225df9fd708742a0"/>
    <p:sldId xmlns:r="http://schemas.openxmlformats.org/officeDocument/2006/relationships" id="260" r:id="Rfcc95bcbfddc4b59"/>
    <p:sldId xmlns:r="http://schemas.openxmlformats.org/officeDocument/2006/relationships" id="261" r:id="Rae631820c83b4f34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b5a09dec0944d6" /><Relationship Type="http://schemas.openxmlformats.org/officeDocument/2006/relationships/slideMaster" Target="/ppt/slideMasters/slideMaster1.xml" Id="R2ea83e6df20c49f0" /><Relationship Type="http://schemas.openxmlformats.org/officeDocument/2006/relationships/notesMaster" Target="/ppt/notesMasters/notesMaster1.xml" Id="Rbb52ed0959844235" /><Relationship Type="http://schemas.openxmlformats.org/officeDocument/2006/relationships/presProps" Target="/ppt/presProps.xml" Id="Ra5fc7e64a8d84c7d" /><Relationship Type="http://schemas.openxmlformats.org/officeDocument/2006/relationships/viewProps" Target="/ppt/viewProps.xml" Id="R3c41ef252d814aa5" /><Relationship Type="http://schemas.openxmlformats.org/officeDocument/2006/relationships/tableStyles" Target="/ppt/tableStyles.xml" Id="R48fce05e42ef4977" /><Relationship Type="http://schemas.openxmlformats.org/officeDocument/2006/relationships/slide" Target="/ppt/slides/slide1.xml" Id="R8bfa2e4600df479c" /><Relationship Type="http://schemas.openxmlformats.org/officeDocument/2006/relationships/slide" Target="/ppt/slides/slide2.xml" Id="R977216338e434252" /><Relationship Type="http://schemas.openxmlformats.org/officeDocument/2006/relationships/slide" Target="/ppt/slides/slide3.xml" Id="R0faffb2ac4ee4cd5" /><Relationship Type="http://schemas.openxmlformats.org/officeDocument/2006/relationships/slide" Target="/ppt/slides/slide4.xml" Id="R225df9fd708742a0" /><Relationship Type="http://schemas.openxmlformats.org/officeDocument/2006/relationships/slide" Target="/ppt/slides/slide5.xml" Id="Rfcc95bcbfddc4b59" /><Relationship Type="http://schemas.openxmlformats.org/officeDocument/2006/relationships/slide" Target="/ppt/slides/slide6.xml" Id="Rae631820c83b4f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c3c3bf0348843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8f2367a77747cb" /><Relationship Type="http://schemas.openxmlformats.org/officeDocument/2006/relationships/notesMaster" Target="/ppt/notesMasters/notesMaster1.xml" Id="Rc4fcbce5334741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5bbd745797947c9" /><Relationship Type="http://schemas.openxmlformats.org/officeDocument/2006/relationships/notesMaster" Target="/ppt/notesMasters/notesMaster1.xml" Id="R9826e3e6ec4d437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3db2047b784ae0" /><Relationship Type="http://schemas.openxmlformats.org/officeDocument/2006/relationships/notesMaster" Target="/ppt/notesMasters/notesMaster1.xml" Id="R65bc39ca5df344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e96fa23d054aa4" /><Relationship Type="http://schemas.openxmlformats.org/officeDocument/2006/relationships/notesMaster" Target="/ppt/notesMasters/notesMaster1.xml" Id="R9ab30bbcbbe1437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2b4550239a4e21" /><Relationship Type="http://schemas.openxmlformats.org/officeDocument/2006/relationships/notesMaster" Target="/ppt/notesMasters/notesMaster1.xml" Id="R7291ad8914b0428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f413b7794e475a" /><Relationship Type="http://schemas.openxmlformats.org/officeDocument/2006/relationships/notesMaster" Target="/ppt/notesMasters/notesMaster1.xml" Id="R9bcf360772ba49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visual template: SafeSaathi_CodeSlayer2K26.pptx supplied by the user.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Statistics: NCRB, Crime in India 2023, https://www.ncrb.gov.in/ ; NCW &amp; Pvalue Analytics, NARI 2025, https://pvalueanalytics.com/Home/NARI2025 . NARI headline data reports 40% of urban women feel unsafe in their cities; public-space harassment 7% overall and 14% among women under 24; two-thirds of incidents unreported.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design statements supplied by the user. Emergency response reference: 112 India, https://112.gov.in/ . AI is an assistive risk-signal system, not an attack detector or crime predictor.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references: Android Developers, https://developer.android.com/ ; Google Maps Platform, https://developers.google.com/maps ; Firebase, https://firebase.google.com/docs ; FastAPI, https://fastapi.tiangolo.com/ ; scikit-learn, https://scikit-learn.org/ 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Responsible-design scope supplied by the user. SafeSaathi complements, but does not replace, 112 or police response.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listed on slide include NCRB, NARI 2025, 112 India, Android, Google Maps, Firebase, FastAPI, scikit-learn and cited research papers.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016b47cf145b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3c404b50d462f" /><Relationship Type="http://schemas.openxmlformats.org/officeDocument/2006/relationships/slideLayout" Target="/ppt/slideLayouts/slideLayout1.xml" Id="R58ff5ddd237c488a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ff5ddd237c488a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7aeec2dbd42d8" /><Relationship Type="http://schemas.openxmlformats.org/officeDocument/2006/relationships/image" Target="/ppt/media/image.png" Id="R3f253dfe47564289" /><Relationship Type="http://schemas.openxmlformats.org/officeDocument/2006/relationships/image" Target="/ppt/media/image2.png" Id="R9cad52473ab94cde" /><Relationship Type="http://schemas.openxmlformats.org/officeDocument/2006/relationships/image" Target="/ppt/media/image3.png" Id="Rc3810511c08e4ce0" /><Relationship Type="http://schemas.openxmlformats.org/officeDocument/2006/relationships/notesSlide" Target="/ppt/notesSlides/notesSlide1.xml" Id="Re9c09dc3d95c40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80ca4fae64e6c" /><Relationship Type="http://schemas.openxmlformats.org/officeDocument/2006/relationships/image" Target="/ppt/media/image4.png" Id="R7a8a8327ceee41e5" /><Relationship Type="http://schemas.openxmlformats.org/officeDocument/2006/relationships/image" Target="/ppt/media/image5.png" Id="R55d7170774774104" /><Relationship Type="http://schemas.openxmlformats.org/officeDocument/2006/relationships/image" Target="/ppt/media/image6.png" Id="Rbd7b1c06bf7d4eef" /><Relationship Type="http://schemas.openxmlformats.org/officeDocument/2006/relationships/image" Target="/ppt/media/image7.png" Id="Rbbe5721853b2401b" /><Relationship Type="http://schemas.openxmlformats.org/officeDocument/2006/relationships/image" Target="/ppt/media/image8.png" Id="Rfd2817b3c3894e4a" /><Relationship Type="http://schemas.openxmlformats.org/officeDocument/2006/relationships/image" Target="/ppt/media/image9.png" Id="R7ab0c52e7743498e" /><Relationship Type="http://schemas.openxmlformats.org/officeDocument/2006/relationships/image" Target="/ppt/media/image10.png" Id="R399728394b324fb4" /><Relationship Type="http://schemas.openxmlformats.org/officeDocument/2006/relationships/image" Target="/ppt/media/image11.png" Id="R06f28dd2a8514239" /><Relationship Type="http://schemas.openxmlformats.org/officeDocument/2006/relationships/image" Target="/ppt/media/image12.png" Id="R8cb08f98362a4c59" /><Relationship Type="http://schemas.openxmlformats.org/officeDocument/2006/relationships/image" Target="/ppt/media/image13.png" Id="Rdeca7944b10c4e73" /><Relationship Type="http://schemas.openxmlformats.org/officeDocument/2006/relationships/notesSlide" Target="/ppt/notesSlides/notesSlide2.xml" Id="R4c90f34ad9b941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56302e7777465b" /><Relationship Type="http://schemas.openxmlformats.org/officeDocument/2006/relationships/image" Target="/ppt/media/image14.png" Id="R46a0e97b7ba4472c" /><Relationship Type="http://schemas.openxmlformats.org/officeDocument/2006/relationships/image" Target="/ppt/media/image15.png" Id="R4e2b6942decf45e9" /><Relationship Type="http://schemas.openxmlformats.org/officeDocument/2006/relationships/image" Target="/ppt/media/image16.png" Id="R589de721f71949c8" /><Relationship Type="http://schemas.openxmlformats.org/officeDocument/2006/relationships/image" Target="/ppt/media/image17.png" Id="R8387714c3d7e4717" /><Relationship Type="http://schemas.openxmlformats.org/officeDocument/2006/relationships/image" Target="/ppt/media/image18.png" Id="R88663feca3e24bc5" /><Relationship Type="http://schemas.openxmlformats.org/officeDocument/2006/relationships/image" Target="/ppt/media/image19.png" Id="R0180332dcc3c41d4" /><Relationship Type="http://schemas.openxmlformats.org/officeDocument/2006/relationships/image" Target="/ppt/media/image20.png" Id="R4a420a9cde054563" /><Relationship Type="http://schemas.openxmlformats.org/officeDocument/2006/relationships/image" Target="/ppt/media/image21.png" Id="R2f4766637a87448f" /><Relationship Type="http://schemas.openxmlformats.org/officeDocument/2006/relationships/image" Target="/ppt/media/image22.png" Id="Rc007f706cb174118" /><Relationship Type="http://schemas.openxmlformats.org/officeDocument/2006/relationships/image" Target="/ppt/media/image23.png" Id="Re4dcfc68ca574943" /><Relationship Type="http://schemas.openxmlformats.org/officeDocument/2006/relationships/image" Target="/ppt/media/image24.png" Id="R292dfcb0f3334ec2" /><Relationship Type="http://schemas.openxmlformats.org/officeDocument/2006/relationships/image" Target="/ppt/media/image25.png" Id="R0ce3f76c9fe14e4b" /><Relationship Type="http://schemas.openxmlformats.org/officeDocument/2006/relationships/image" Target="/ppt/media/image26.png" Id="R101c0d896db4477a" /><Relationship Type="http://schemas.openxmlformats.org/officeDocument/2006/relationships/image" Target="/ppt/media/image27.png" Id="R2a8759b8b198451c" /><Relationship Type="http://schemas.openxmlformats.org/officeDocument/2006/relationships/image" Target="/ppt/media/image28.png" Id="R961544af90784b60" /><Relationship Type="http://schemas.openxmlformats.org/officeDocument/2006/relationships/image" Target="/ppt/media/image29.png" Id="Rd448edce22df4038" /><Relationship Type="http://schemas.openxmlformats.org/officeDocument/2006/relationships/image" Target="/ppt/media/image30.png" Id="Rb63034b052db4ee1" /><Relationship Type="http://schemas.openxmlformats.org/officeDocument/2006/relationships/image" Target="/ppt/media/image31.png" Id="Rccdb6fefd1a5441d" /><Relationship Type="http://schemas.openxmlformats.org/officeDocument/2006/relationships/image" Target="/ppt/media/image32.png" Id="R9292838cb5ba4063" /><Relationship Type="http://schemas.openxmlformats.org/officeDocument/2006/relationships/notesSlide" Target="/ppt/notesSlides/notesSlide3.xml" Id="R775065d46d09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6edf0b8bf4583" /><Relationship Type="http://schemas.openxmlformats.org/officeDocument/2006/relationships/image" Target="/ppt/media/image33.png" Id="R6c5dcb5d17cb45e8" /><Relationship Type="http://schemas.openxmlformats.org/officeDocument/2006/relationships/image" Target="/ppt/media/image34.png" Id="Re53fc287b19e47f2" /><Relationship Type="http://schemas.openxmlformats.org/officeDocument/2006/relationships/image" Target="/ppt/media/image35.png" Id="R570ccb8b2de948d8" /><Relationship Type="http://schemas.openxmlformats.org/officeDocument/2006/relationships/image" Target="/ppt/media/image36.png" Id="R124323523c714007" /><Relationship Type="http://schemas.openxmlformats.org/officeDocument/2006/relationships/image" Target="/ppt/media/image37.png" Id="Re4e65c86d3324436" /><Relationship Type="http://schemas.openxmlformats.org/officeDocument/2006/relationships/image" Target="/ppt/media/image38.png" Id="R693eb490a66740a5" /><Relationship Type="http://schemas.openxmlformats.org/officeDocument/2006/relationships/image" Target="/ppt/media/image39.png" Id="Ra6df8ecbcd2e49aa" /><Relationship Type="http://schemas.openxmlformats.org/officeDocument/2006/relationships/image" Target="/ppt/media/image40.png" Id="Rb29a223e1d764138" /><Relationship Type="http://schemas.openxmlformats.org/officeDocument/2006/relationships/image" Target="/ppt/media/image41.png" Id="R9119370ab8bf4f52" /><Relationship Type="http://schemas.openxmlformats.org/officeDocument/2006/relationships/image" Target="/ppt/media/image42.png" Id="R49c493574b0d49d8" /><Relationship Type="http://schemas.openxmlformats.org/officeDocument/2006/relationships/image" Target="/ppt/media/image43.png" Id="Rcda2a28178564e2d" /><Relationship Type="http://schemas.openxmlformats.org/officeDocument/2006/relationships/notesSlide" Target="/ppt/notesSlides/notesSlide4.xml" Id="R5a102b0aa5a04e9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b1c4f73104aa7" /><Relationship Type="http://schemas.openxmlformats.org/officeDocument/2006/relationships/image" Target="/ppt/media/image44.png" Id="R3e79623185404fc1" /><Relationship Type="http://schemas.openxmlformats.org/officeDocument/2006/relationships/image" Target="/ppt/media/image45.png" Id="Rceee97ec7eda4aa2" /><Relationship Type="http://schemas.openxmlformats.org/officeDocument/2006/relationships/image" Target="/ppt/media/image46.png" Id="R9148acda955e45b9" /><Relationship Type="http://schemas.openxmlformats.org/officeDocument/2006/relationships/image" Target="/ppt/media/image47.png" Id="R2ed32abd305a482d" /><Relationship Type="http://schemas.openxmlformats.org/officeDocument/2006/relationships/image" Target="/ppt/media/image48.png" Id="R0e4e6dbe69d94b03" /><Relationship Type="http://schemas.openxmlformats.org/officeDocument/2006/relationships/image" Target="/ppt/media/image49.png" Id="R7fa53247f9aa4ab0" /><Relationship Type="http://schemas.openxmlformats.org/officeDocument/2006/relationships/image" Target="/ppt/media/image50.png" Id="Rf587ac2fcc244f46" /><Relationship Type="http://schemas.openxmlformats.org/officeDocument/2006/relationships/image" Target="/ppt/media/image51.png" Id="R524cf199c6354fdd" /><Relationship Type="http://schemas.openxmlformats.org/officeDocument/2006/relationships/image" Target="/ppt/media/image52.png" Id="Rc8299a05323340fb" /><Relationship Type="http://schemas.openxmlformats.org/officeDocument/2006/relationships/image" Target="/ppt/media/image53.png" Id="R2dc6dee4e6a44721" /><Relationship Type="http://schemas.openxmlformats.org/officeDocument/2006/relationships/image" Target="/ppt/media/image54.png" Id="R95afde7df26d4bda" /><Relationship Type="http://schemas.openxmlformats.org/officeDocument/2006/relationships/image" Target="/ppt/media/image55.png" Id="Rafe1ff09ebb64ec2" /><Relationship Type="http://schemas.openxmlformats.org/officeDocument/2006/relationships/notesSlide" Target="/ppt/notesSlides/notesSlide5.xml" Id="Rfd2c4a3d4c6148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600bcc19642ba" /><Relationship Type="http://schemas.openxmlformats.org/officeDocument/2006/relationships/image" Target="/ppt/media/image56.png" Id="R15cd19a1189a48ea" /><Relationship Type="http://schemas.openxmlformats.org/officeDocument/2006/relationships/image" Target="/ppt/media/image57.png" Id="R45f8a43a8fa54fa6" /><Relationship Type="http://schemas.openxmlformats.org/officeDocument/2006/relationships/image" Target="/ppt/media/image58.png" Id="R4a3086193cc04c07" /><Relationship Type="http://schemas.openxmlformats.org/officeDocument/2006/relationships/image" Target="/ppt/media/image59.png" Id="Rcf808bbbcf514bd5" /><Relationship Type="http://schemas.openxmlformats.org/officeDocument/2006/relationships/image" Target="/ppt/media/image60.png" Id="R2ee2ca167fd74a74" /><Relationship Type="http://schemas.openxmlformats.org/officeDocument/2006/relationships/image" Target="/ppt/media/image61.png" Id="R949c5229dc804e36" /><Relationship Type="http://schemas.openxmlformats.org/officeDocument/2006/relationships/image" Target="/ppt/media/image62.png" Id="R847ac8a4c0b14aff" /><Relationship Type="http://schemas.openxmlformats.org/officeDocument/2006/relationships/notesSlide" Target="/ppt/notesSlides/notesSlide6.xml" Id="Rd1a185083cf14f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53dfe475642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1230782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3340ABA1-767C-453E-9DD8-7BF7F91F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0448394-E608-4943-8B41-D8BB2F75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371600"/>
            <a:ext cx="219456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ad52473ab94c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21608" y="1389888"/>
            <a:ext cx="4754880" cy="621792"/>
          </a:xfrm>
          <a:prstGeom xmlns:a="http://schemas.openxmlformats.org/drawingml/2006/main" prst="rect">
            <a:avLst/>
          </a:prstGeom>
        </p:spPr>
      </p:pic>
      <p:sp>
        <p:nvSpPr>
          <p:cNvPr id="6" name="Text 2">
            <a:extLst xmlns:a="http://schemas.openxmlformats.org/drawingml/2006/main">
              <a:ext uri="{FF2B5EF4-FFF2-40B4-BE49-F238E27FC236}">
                <a16:creationId xmlns:a16="http://schemas.microsoft.com/office/drawing/2014/main" id="{D40549E5-1066-4879-95CD-FCCDD5AF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2316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Project Title :</a:t>
            </a:r>
            <a:endParaRPr sz="2000"/>
          </a:p>
        </p:txBody>
      </p:sp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D79A50B5-B6F6-48E5-98DD-8D60E2ABB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331720"/>
            <a:ext cx="4572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13235B"/>
                </a:solidFill>
                <a:latin typeface="Times New Roman"/>
                <a:ea typeface="Times New Roman"/>
                <a:cs typeface="Times New Roman"/>
              </a:rPr>
              <a:t>Safe</a:t>
            </a:r>
            <a:r>
              <a:rPr sz="34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Saathi</a:t>
            </a:r>
            <a:endParaRPr sz="3400"/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7881BA2D-0B49-4066-94F4-3AB05B6A8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2944368"/>
            <a:ext cx="58521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“Safety that walks with you — and calls the neighborhood when you need help.”</a:t>
            </a:r>
            <a:endParaRPr sz="1250"/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68938F9-1D82-4F4F-B53E-133B61FE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29000"/>
            <a:ext cx="219456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Name :</a:t>
            </a:r>
            <a:endParaRPr sz="2000"/>
          </a:p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3E449968-2C69-4864-923B-CFF6B6F7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34290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[TEAM NAME]</a:t>
            </a:r>
            <a:endParaRPr sz="1800"/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DA87BFD9-4519-4324-A7FC-E99F9AF52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977640"/>
            <a:ext cx="6400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Members </a:t>
            </a:r>
            <a:r>
              <a:rPr sz="130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(Names + Roles Briefly):</a:t>
            </a:r>
            <a:endParaRPr sz="2000"/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2E49E599-25BB-47FD-BC24-BE702473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2B1C2C0-4F68-4D0C-B436-5D2EB293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1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Team Lead · Android (Kotlin/Compose)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BA095EBA-C679-4600-9FFD-680563E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4480560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66818BF8-D044-4D4A-A837-298FA4B79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4480560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2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Backend · Firebase &amp; Cloud Functions</a:t>
            </a:r>
            <a:endParaRPr sz="10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EB0E9763-546E-476D-920E-F02E6EBF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C7534956-B6C6-48A2-9B55-EF798266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3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AI/ML · Risk engine (Python/FastAPI)</a:t>
            </a:r>
            <a:endParaRPr sz="105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FC0E6B49-11A5-47E5-9631-3B1718AB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5047488"/>
            <a:ext cx="3566160" cy="475488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DA62E522-583D-4559-8530-18C8C6CCF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4568" y="5047488"/>
            <a:ext cx="342900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Member 4 — </a:t>
            </a: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UI/UX · Maps, Testing &amp; Pitch</a:t>
            </a:r>
            <a:endParaRPr sz="105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AAD4224A-2D01-400A-A521-4FEA0530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806440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Tracks Chosen:</a:t>
            </a:r>
            <a:endParaRPr sz="2000"/>
          </a:p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142E77C6-8FD5-49BD-8B1A-206E2246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8C36903-81B2-4E83-9175-5C5ED28B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5843016"/>
            <a:ext cx="210312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AI/ML  (Primary)</a:t>
            </a:r>
            <a:endParaRPr sz="1300"/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35E56AF8-FBB7-49EF-8716-FFB9D394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CA43C2D5-C0B1-4A9D-AAB3-58AAF925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5843016"/>
            <a:ext cx="20116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Open Innovation</a:t>
            </a:r>
            <a:endParaRPr sz="1300"/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D9CF664-F099-4E58-8461-00061E762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40280"/>
            <a:ext cx="2514600" cy="443484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1A1A2E"/>
          </a:solidFill>
          <a:ln xmlns:a="http://schemas.openxmlformats.org/drawingml/2006/main" w="12700">
            <a:solidFill>
              <a:srgbClr val="1A1A2E"/>
            </a:solidFill>
            <a:prstDash val="solid"/>
          </a:ln>
          <a:effectLst xmlns:a="http://schemas.openxmlformats.org/drawingml/2006/main">
            <a:outerShdw blurRad="101600" dist="38100" dir="5400000" sx="100000" sy="100000" kx="0" ky="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5BE32BFE-59C2-4E26-A873-53F8F1CE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496312"/>
            <a:ext cx="2276856" cy="397764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7F9FC"/>
          </a:solidFill>
          <a:ln xmlns:a="http://schemas.openxmlformats.org/drawingml/2006/main" w="12700">
            <a:solidFill>
              <a:srgbClr val="F7F9FC"/>
            </a:solidFill>
            <a:prstDash val="solid"/>
          </a:ln>
        </p:spPr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55A9A544-4673-4DF4-8215-5B71CA24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2660" y="2331720"/>
            <a:ext cx="640080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A3A50"/>
          </a:solidFill>
          <a:ln xmlns:a="http://schemas.openxmlformats.org/drawingml/2006/main" w="12700">
            <a:solidFill>
              <a:srgbClr val="3A3A5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30BAEE5B-E489-4E9E-A8D8-1D47499E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1432" y="2651760"/>
            <a:ext cx="109728" cy="1097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89094A60-79D5-4A51-817F-2DF739AA5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587752"/>
            <a:ext cx="18288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  •  ON</a:t>
            </a:r>
            <a:endParaRPr sz="950"/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B9CEBC0D-D84D-467B-AA9E-65E5ACB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07792"/>
            <a:ext cx="2057400" cy="1417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8F7"/>
          </a:solidFill>
          <a:ln xmlns:a="http://schemas.openxmlformats.org/drawingml/2006/main" w="12700">
            <a:solidFill>
              <a:srgbClr val="C3D6EE"/>
            </a:solidFill>
            <a:prstDash val="solid"/>
          </a:ln>
        </p:spPr>
      </p:sp>
      <p:sp>
        <p:nvSpPr>
          <p:cNvPr id="31" name="Shape 27">
            <a:extLst xmlns:a="http://schemas.openxmlformats.org/drawingml/2006/main">
              <a:ext uri="{FF2B5EF4-FFF2-40B4-BE49-F238E27FC236}">
                <a16:creationId xmlns:a16="http://schemas.microsoft.com/office/drawing/2014/main" id="{89644225-B0D7-4926-B5B9-2B11311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64408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2" name="Shape 28">
            <a:extLst xmlns:a="http://schemas.openxmlformats.org/drawingml/2006/main">
              <a:ext uri="{FF2B5EF4-FFF2-40B4-BE49-F238E27FC236}">
                <a16:creationId xmlns:a16="http://schemas.microsoft.com/office/drawing/2014/main" id="{8344D4B0-6300-41EE-8680-157B505B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21024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3" name="Shape 29">
            <a:extLst xmlns:a="http://schemas.openxmlformats.org/drawingml/2006/main">
              <a:ext uri="{FF2B5EF4-FFF2-40B4-BE49-F238E27FC236}">
                <a16:creationId xmlns:a16="http://schemas.microsoft.com/office/drawing/2014/main" id="{3C99B37A-D69B-4010-8BE8-64B04D64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77640"/>
            <a:ext cx="2057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A9BF59A5-5209-4DB8-A92E-25E57DFB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4352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5" name="Shape 31">
            <a:extLst xmlns:a="http://schemas.openxmlformats.org/drawingml/2006/main">
              <a:ext uri="{FF2B5EF4-FFF2-40B4-BE49-F238E27FC236}">
                <a16:creationId xmlns:a16="http://schemas.microsoft.com/office/drawing/2014/main" id="{E7D3392E-A8EB-47D2-A537-FCF1C811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4704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6" name="Shape 32">
            <a:extLst xmlns:a="http://schemas.openxmlformats.org/drawingml/2006/main">
              <a:ext uri="{FF2B5EF4-FFF2-40B4-BE49-F238E27FC236}">
                <a16:creationId xmlns:a16="http://schemas.microsoft.com/office/drawing/2014/main" id="{20CFF586-3479-4D0A-A78C-F38EA26C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5056" y="2907792"/>
            <a:ext cx="0" cy="14173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3D6EE"/>
            </a:solidFill>
            <a:prstDash val="solid"/>
          </a:ln>
        </p:spPr>
      </p:sp>
      <p:sp>
        <p:nvSpPr>
          <p:cNvPr id="37" name="Shape 33">
            <a:extLst xmlns:a="http://schemas.openxmlformats.org/drawingml/2006/main">
              <a:ext uri="{FF2B5EF4-FFF2-40B4-BE49-F238E27FC236}">
                <a16:creationId xmlns:a16="http://schemas.microsoft.com/office/drawing/2014/main" id="{31CF0C49-295D-413E-AB6D-75560899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354312" y="3776472"/>
            <a:ext cx="411480" cy="36576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8" name="Shape 34">
            <a:extLst xmlns:a="http://schemas.openxmlformats.org/drawingml/2006/main">
              <a:ext uri="{FF2B5EF4-FFF2-40B4-BE49-F238E27FC236}">
                <a16:creationId xmlns:a16="http://schemas.microsoft.com/office/drawing/2014/main" id="{79ABC5F9-542E-47BB-9F1A-661DB88C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5792" y="3776472"/>
            <a:ext cx="274320" cy="457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39" name="Shape 35">
            <a:extLst xmlns:a="http://schemas.openxmlformats.org/drawingml/2006/main">
              <a:ext uri="{FF2B5EF4-FFF2-40B4-BE49-F238E27FC236}">
                <a16:creationId xmlns:a16="http://schemas.microsoft.com/office/drawing/2014/main" id="{911AFD04-9BDF-4174-B834-E5B6AFF4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040112" y="3364992"/>
            <a:ext cx="41148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sp>
        <p:nvSpPr>
          <p:cNvPr id="40" name="Shape 36">
            <a:extLst xmlns:a="http://schemas.openxmlformats.org/drawingml/2006/main">
              <a:ext uri="{FF2B5EF4-FFF2-40B4-BE49-F238E27FC236}">
                <a16:creationId xmlns:a16="http://schemas.microsoft.com/office/drawing/2014/main" id="{209B8314-D9F9-4800-8CF9-DBA918C8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0451592" y="3136392"/>
            <a:ext cx="41148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63CE"/>
            </a:solidFill>
            <a:prstDash val="solid"/>
          </a:ln>
        </p:spPr>
      </p:sp>
      <p:pic>
        <p:nvPicPr>
          <p:cNvPr id="9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10511c08e4c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53344" y="29077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2" name="Shape 37">
            <a:extLst xmlns:a="http://schemas.openxmlformats.org/drawingml/2006/main">
              <a:ext uri="{FF2B5EF4-FFF2-40B4-BE49-F238E27FC236}">
                <a16:creationId xmlns:a16="http://schemas.microsoft.com/office/drawing/2014/main" id="{D39ADDDC-B8FE-4D79-81F3-E48105E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8672" y="371246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25400">
            <a:solidFill>
              <a:srgbClr val="FFFFFF"/>
            </a:solidFill>
            <a:prstDash val="solid"/>
          </a:ln>
        </p:spPr>
      </p:sp>
      <p:sp>
        <p:nvSpPr>
          <p:cNvPr id="43" name="Shape 38">
            <a:extLst xmlns:a="http://schemas.openxmlformats.org/drawingml/2006/main">
              <a:ext uri="{FF2B5EF4-FFF2-40B4-BE49-F238E27FC236}">
                <a16:creationId xmlns:a16="http://schemas.microsoft.com/office/drawing/2014/main" id="{143C10F7-885C-4D69-A9D4-0A0F7AA4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6552"/>
            <a:ext cx="2057400" cy="41148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44" name="Text 39">
            <a:extLst xmlns:a="http://schemas.openxmlformats.org/drawingml/2006/main">
              <a:ext uri="{FF2B5EF4-FFF2-40B4-BE49-F238E27FC236}">
                <a16:creationId xmlns:a16="http://schemas.microsoft.com/office/drawing/2014/main" id="{BF5ED43F-E9BA-4406-A164-83F3EBA1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416552"/>
            <a:ext cx="1911096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ETA 18 min  ·  2 guardians  ·  47 nearby users active</a:t>
            </a:r>
            <a:endParaRPr sz="850"/>
          </a:p>
        </p:txBody>
      </p:sp>
      <p:sp>
        <p:nvSpPr>
          <p:cNvPr id="45" name="Shape 40">
            <a:extLst xmlns:a="http://schemas.openxmlformats.org/drawingml/2006/main">
              <a:ext uri="{FF2B5EF4-FFF2-40B4-BE49-F238E27FC236}">
                <a16:creationId xmlns:a16="http://schemas.microsoft.com/office/drawing/2014/main" id="{A10682C2-6018-4792-971F-9CC38B0B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919472"/>
            <a:ext cx="2057400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46" name="Text 41">
            <a:extLst xmlns:a="http://schemas.openxmlformats.org/drawingml/2006/main">
              <a:ext uri="{FF2B5EF4-FFF2-40B4-BE49-F238E27FC236}">
                <a16:creationId xmlns:a16="http://schemas.microsoft.com/office/drawing/2014/main" id="{0974A0B8-5E65-49F5-BC8D-13E9EADEA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7152" y="4946904"/>
            <a:ext cx="1463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Are you safe?</a:t>
            </a:r>
            <a:endParaRPr sz="1050"/>
          </a:p>
        </p:txBody>
      </p:sp>
      <p:sp>
        <p:nvSpPr>
          <p:cNvPr id="47" name="Text 42">
            <a:extLst xmlns:a="http://schemas.openxmlformats.org/drawingml/2006/main">
              <a:ext uri="{FF2B5EF4-FFF2-40B4-BE49-F238E27FC236}">
                <a16:creationId xmlns:a16="http://schemas.microsoft.com/office/drawing/2014/main" id="{AB5DB1D2-39D7-4FC0-8C04-18766EE98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1552" y="4965192"/>
            <a:ext cx="10058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Auto-alert in 0:30</a:t>
            </a:r>
            <a:endParaRPr sz="750"/>
          </a:p>
        </p:txBody>
      </p:sp>
      <p:sp>
        <p:nvSpPr>
          <p:cNvPr id="48" name="Shape 43">
            <a:extLst xmlns:a="http://schemas.openxmlformats.org/drawingml/2006/main">
              <a:ext uri="{FF2B5EF4-FFF2-40B4-BE49-F238E27FC236}">
                <a16:creationId xmlns:a16="http://schemas.microsoft.com/office/drawing/2014/main" id="{58463BDB-B8B5-45CA-84F3-06F8A048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E9E5A"/>
          </a:solidFill>
          <a:ln xmlns:a="http://schemas.openxmlformats.org/drawingml/2006/main" w="12700">
            <a:solidFill>
              <a:srgbClr val="1E9E5A"/>
            </a:solidFill>
            <a:prstDash val="solid"/>
          </a:ln>
        </p:spPr>
      </p:sp>
      <p:sp>
        <p:nvSpPr>
          <p:cNvPr id="49" name="Text 44">
            <a:extLst xmlns:a="http://schemas.openxmlformats.org/drawingml/2006/main">
              <a:ext uri="{FF2B5EF4-FFF2-40B4-BE49-F238E27FC236}">
                <a16:creationId xmlns:a16="http://schemas.microsoft.com/office/drawing/2014/main" id="{285846E2-934A-4B2E-99F2-E077CAC6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0" y="5266944"/>
            <a:ext cx="914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I'm Safe</a:t>
            </a:r>
            <a:endParaRPr sz="900"/>
          </a:p>
        </p:txBody>
      </p:sp>
      <p:sp>
        <p:nvSpPr>
          <p:cNvPr id="50" name="Shape 45">
            <a:extLst xmlns:a="http://schemas.openxmlformats.org/drawingml/2006/main">
              <a:ext uri="{FF2B5EF4-FFF2-40B4-BE49-F238E27FC236}">
                <a16:creationId xmlns:a16="http://schemas.microsoft.com/office/drawing/2014/main" id="{A3D31F9F-02E3-4C79-970A-2BD4C527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1" name="Text 46">
            <a:extLst xmlns:a="http://schemas.openxmlformats.org/drawingml/2006/main">
              <a:ext uri="{FF2B5EF4-FFF2-40B4-BE49-F238E27FC236}">
                <a16:creationId xmlns:a16="http://schemas.microsoft.com/office/drawing/2014/main" id="{F352B6EF-0F02-48BA-B480-4CC13E43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2992" y="5266944"/>
            <a:ext cx="8686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Need Help</a:t>
            </a:r>
            <a:endParaRPr sz="900"/>
          </a:p>
        </p:txBody>
      </p:sp>
      <p:sp>
        <p:nvSpPr>
          <p:cNvPr id="52" name="Shape 47">
            <a:extLst xmlns:a="http://schemas.openxmlformats.org/drawingml/2006/main">
              <a:ext uri="{FF2B5EF4-FFF2-40B4-BE49-F238E27FC236}">
                <a16:creationId xmlns:a16="http://schemas.microsoft.com/office/drawing/2014/main" id="{2BEC51F9-AA9D-4060-83A2-488984918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50800">
            <a:solidFill>
              <a:srgbClr val="F4C3CA"/>
            </a:solidFill>
            <a:prstDash val="solid"/>
          </a:ln>
        </p:spPr>
      </p:sp>
      <p:sp>
        <p:nvSpPr>
          <p:cNvPr id="53" name="Text 48">
            <a:extLst xmlns:a="http://schemas.openxmlformats.org/drawingml/2006/main">
              <a:ext uri="{FF2B5EF4-FFF2-40B4-BE49-F238E27FC236}">
                <a16:creationId xmlns:a16="http://schemas.microsoft.com/office/drawing/2014/main" id="{29338883-7AA2-455A-93E4-D2739596E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6940" y="5769864"/>
            <a:ext cx="7315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SOS</a:t>
            </a:r>
            <a:endParaRPr sz="1500"/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CCBB167-5B17-448F-B6F5-A77E7C87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5037918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733371C-14C5-4C37-A96C-A2B103E7F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6F7F38E-ABCC-422F-B532-52859420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5622C16-4255-42DA-818A-8724CC06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PROBLEM STATEMENT &amp;</a:t>
            </a:r>
            <a:endParaRPr sz="2700"/>
          </a:p>
          <a:p xmlns:a="http://schemas.openxmlformats.org/drawingml/2006/main">
            <a:pPr marL="0" indent="0" algn="ctr">
              <a:buNone/>
            </a:pPr>
            <a:r>
              <a:rPr sz="27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TARGET AUDIENCE</a:t>
            </a:r>
            <a:endParaRPr sz="2700"/>
          </a:p>
        </p:txBody>
      </p:sp>
      <p:pic>
        <p:nvPicPr>
          <p:cNvPr id="7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a8327ceee41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7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7170774774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4BDBEBDA-380A-4A37-AB4A-5681E925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772668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BFFFB73B-E94A-4B75-856C-BE8A92DE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70D31DFE-B678-4B3E-9B58-8AF78A5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325880"/>
            <a:ext cx="7269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 WE'RE SOLVING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C549E0B-137E-4504-B416-167F2D23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A10349D-02D6-47DC-BF15-BD2837B42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4.48 lakh</a:t>
            </a:r>
            <a:endParaRPr sz="26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27498A42-129B-434B-9A82-31DD07A0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crimes against women registered in India in 2023 — about 51 every hour</a:t>
            </a:r>
            <a:endParaRPr sz="10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F1AD572-56F6-4724-8B79-91B5D731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NCRB, Crime in India 2023</a:t>
            </a:r>
            <a:endParaRPr sz="80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318BC56F-A15F-4644-A3C5-3C6785364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154DCA94-5A5F-4259-AFC5-D7EBEC1E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40%</a:t>
            </a:r>
            <a:endParaRPr sz="2600"/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9C9A848-5E44-4248-B930-43F34829D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of urban women surveyed feel unsafe in their cities.</a:t>
            </a:r>
            <a:endParaRPr sz="1000"/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5966AECC-F50F-48D4-BF5C-DBBB9B4C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468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ECF321E0-7664-4B51-8C08-FC52941F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874520"/>
            <a:ext cx="2331720" cy="1572768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6A8E4225-AF69-4FC4-9097-5688AF46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20240"/>
            <a:ext cx="2103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600" b="1">
                <a:solidFill>
                  <a:srgbClr val="B3122E"/>
                </a:solidFill>
                <a:latin typeface="Times New Roman"/>
                <a:ea typeface="Times New Roman"/>
                <a:cs typeface="Times New Roman"/>
              </a:rPr>
              <a:t>2 in 3</a:t>
            </a:r>
            <a:endParaRPr sz="2600"/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9861D23-C3D4-475E-8C5C-7FB6B963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423160"/>
            <a:ext cx="210312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harassment incidents go unreported; public-space harassment was 14% for women under 24 vs 7% overall.</a:t>
            </a:r>
            <a:endParaRPr sz="10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3AC903E2-D231-4B52-AC23-818D5304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10896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i="1">
                <a:solidFill>
                  <a:srgbClr val="5A6478"/>
                </a:solidFill>
                <a:latin typeface="Arial"/>
                <a:ea typeface="Arial"/>
                <a:cs typeface="Arial"/>
              </a:rPr>
              <a:t>Source: NCW &amp; Pvalue Analytics, NARI 2025</a:t>
            </a:r>
            <a:endParaRPr sz="80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CFC59420-F9D7-4F9A-99DB-643ED7CE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675888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b1c06bf7d4ee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3796589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B66A28D4-70B5-4F06-86CE-E64299F0B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3639312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walks &amp; late commutes feel unsafe — neighbourhood streets (38%) and public transport (29%) are top harassment hotspots.</a:t>
            </a:r>
            <a:endParaRPr sz="1200"/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F35087AE-E89D-4FDB-98FF-5E8F9D3F9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379976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e5721853b240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4500677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5B0BD7D-6616-4E1F-BB49-2FE18DBD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4343400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Existing SOS apps are reactive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she must unlock the phone and press a button, exactly when panic or a snatched phone makes that hardest</a:t>
            </a:r>
            <a:endParaRPr sz="1200"/>
          </a:p>
        </p:txBody>
      </p:sp>
      <p:sp>
        <p:nvSpPr>
          <p:cNvPr id="28" name="Shape 22">
            <a:extLst xmlns:a="http://schemas.openxmlformats.org/drawingml/2006/main">
              <a:ext uri="{FF2B5EF4-FFF2-40B4-BE49-F238E27FC236}">
                <a16:creationId xmlns:a16="http://schemas.microsoft.com/office/drawing/2014/main" id="{A3AF94CE-C9DE-487F-960D-44801644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84064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2817b3c3894e4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204765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0" name="Text 23">
            <a:extLst xmlns:a="http://schemas.openxmlformats.org/drawingml/2006/main">
              <a:ext uri="{FF2B5EF4-FFF2-40B4-BE49-F238E27FC236}">
                <a16:creationId xmlns:a16="http://schemas.microsoft.com/office/drawing/2014/main" id="{F1C3918C-CD43-4EE6-9EC2-5725E12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047488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No one knows a journey went wrong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— no check-ins, no route-deviation or unexpected-stop alerts until it is too late</a:t>
            </a:r>
            <a:endParaRPr sz="1200"/>
          </a:p>
        </p:txBody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2500CDD2-7FFE-4637-BE13-773D44752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7881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0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b0c52e774349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5061" y="5908853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12FB805A-A60B-4587-9A2B-07E27584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5751576"/>
            <a:ext cx="6583680" cy="585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The need:</a:t>
            </a:r>
            <a:r>
              <a:rPr sz="1200">
                <a:solidFill>
                  <a:srgbClr val="1B1B1B"/>
                </a:solidFill>
                <a:latin typeface="Arial"/>
                <a:ea typeface="Arial"/>
                <a:cs typeface="Arial"/>
              </a:rPr>
              <a:t> proactive journey monitoring that notices risk signals and escalates automatically if she cannot respond</a:t>
            </a:r>
            <a:endParaRPr sz="120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2406004E-2A5B-4146-AD6F-E0236A19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188720"/>
            <a:ext cx="363931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64F5F98C-CB38-4CE3-87CC-FB1EF9243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6AD499F7-5B8E-461A-92BA-427DC169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325880"/>
            <a:ext cx="318211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TARGET USERS</a:t>
            </a:r>
            <a:endParaRPr sz="13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CC2E822E-2F74-4195-B6A5-A9EB5C53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187452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0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728394b324f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00180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5A3A4DA0-E9B1-4EB0-9446-A1FD92ED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185623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 Students (16–24)</a:t>
            </a:r>
            <a:endParaRPr sz="1200"/>
          </a:p>
        </p:txBody>
      </p:sp>
      <p:sp>
        <p:nvSpPr>
          <p:cNvPr id="40" name="Text 31">
            <a:extLst xmlns:a="http://schemas.openxmlformats.org/drawingml/2006/main">
              <a:ext uri="{FF2B5EF4-FFF2-40B4-BE49-F238E27FC236}">
                <a16:creationId xmlns:a16="http://schemas.microsoft.com/office/drawing/2014/main" id="{5FE3891B-2075-4D15-984A-B6EC52C7C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13969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Late classes, coaching, hostel returns</a:t>
            </a:r>
            <a:endParaRPr sz="1000"/>
          </a:p>
        </p:txBody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203D3F18-CCC4-4D58-815A-0D93E655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60604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2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28dd2a851423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273332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3" name="Text 33">
            <a:extLst xmlns:a="http://schemas.openxmlformats.org/drawingml/2006/main">
              <a:ext uri="{FF2B5EF4-FFF2-40B4-BE49-F238E27FC236}">
                <a16:creationId xmlns:a16="http://schemas.microsoft.com/office/drawing/2014/main" id="{8DD56D7B-E27D-4ABE-8DCD-E669F7A5B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58775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Working Professionals (22–40)</a:t>
            </a:r>
            <a:endParaRPr sz="1200"/>
          </a:p>
        </p:txBody>
      </p:sp>
      <p:sp>
        <p:nvSpPr>
          <p:cNvPr id="44" name="Text 34">
            <a:extLst xmlns:a="http://schemas.openxmlformats.org/drawingml/2006/main">
              <a:ext uri="{FF2B5EF4-FFF2-40B4-BE49-F238E27FC236}">
                <a16:creationId xmlns:a16="http://schemas.microsoft.com/office/drawing/2014/main" id="{FE6E1A4A-A77A-4320-B84E-10647EDAF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287121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 shifts, late cabs &amp; metro rides</a:t>
            </a:r>
            <a:endParaRPr sz="1000"/>
          </a:p>
        </p:txBody>
      </p:sp>
      <p:sp>
        <p:nvSpPr>
          <p:cNvPr id="45" name="Shape 35">
            <a:extLst xmlns:a="http://schemas.openxmlformats.org/drawingml/2006/main">
              <a:ext uri="{FF2B5EF4-FFF2-40B4-BE49-F238E27FC236}">
                <a16:creationId xmlns:a16="http://schemas.microsoft.com/office/drawing/2014/main" id="{1185C298-118F-4093-A952-E172CC89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33756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6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08f98362a4c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346484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47" name="Text 36">
            <a:extLst xmlns:a="http://schemas.openxmlformats.org/drawingml/2006/main">
              <a:ext uri="{FF2B5EF4-FFF2-40B4-BE49-F238E27FC236}">
                <a16:creationId xmlns:a16="http://schemas.microsoft.com/office/drawing/2014/main" id="{090B68EB-98BB-4290-8A80-C188EDC5B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31927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Solo Travellers</a:t>
            </a:r>
            <a:endParaRPr sz="1200"/>
          </a:p>
        </p:txBody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AEEC120B-BCCE-4EBB-B634-A020EFC0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360273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New cities, unfamiliar routes, late arrivals</a:t>
            </a:r>
            <a:endParaRPr sz="1000"/>
          </a:p>
        </p:txBody>
      </p:sp>
      <p:sp>
        <p:nvSpPr>
          <p:cNvPr id="49" name="Shape 38">
            <a:extLst xmlns:a="http://schemas.openxmlformats.org/drawingml/2006/main">
              <a:ext uri="{FF2B5EF4-FFF2-40B4-BE49-F238E27FC236}">
                <a16:creationId xmlns:a16="http://schemas.microsoft.com/office/drawing/2014/main" id="{8B35D15A-9D5F-491B-A416-7E2728B4C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069080"/>
            <a:ext cx="530352" cy="5303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a7944b10c4e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9764" y="4196364"/>
            <a:ext cx="275783" cy="275783"/>
          </a:xfrm>
          <a:prstGeom xmlns:a="http://schemas.openxmlformats.org/drawingml/2006/main" prst="rect">
            <a:avLst/>
          </a:prstGeom>
        </p:spPr>
      </p:pic>
      <p:sp>
        <p:nvSpPr>
          <p:cNvPr id="51" name="Text 39">
            <a:extLst xmlns:a="http://schemas.openxmlformats.org/drawingml/2006/main">
              <a:ext uri="{FF2B5EF4-FFF2-40B4-BE49-F238E27FC236}">
                <a16:creationId xmlns:a16="http://schemas.microsoft.com/office/drawing/2014/main" id="{325944C5-AFBB-4843-BCCE-63ACB894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050792"/>
            <a:ext cx="2743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Night Commuters</a:t>
            </a:r>
            <a:endParaRPr sz="1200"/>
          </a:p>
        </p:txBody>
      </p:sp>
      <p:sp>
        <p:nvSpPr>
          <p:cNvPr id="52" name="Text 40">
            <a:extLst xmlns:a="http://schemas.openxmlformats.org/drawingml/2006/main">
              <a:ext uri="{FF2B5EF4-FFF2-40B4-BE49-F238E27FC236}">
                <a16:creationId xmlns:a16="http://schemas.microsoft.com/office/drawing/2014/main" id="{3AE3C1B3-BB7B-4836-B739-942C897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0848" y="4334256"/>
            <a:ext cx="2743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Walk / auto / cab / bus after dark</a:t>
            </a:r>
            <a:endParaRPr sz="1000"/>
          </a:p>
        </p:txBody>
      </p:sp>
      <p:sp>
        <p:nvSpPr>
          <p:cNvPr id="53" name="Text 41">
            <a:extLst xmlns:a="http://schemas.openxmlformats.org/drawingml/2006/main">
              <a:ext uri="{FF2B5EF4-FFF2-40B4-BE49-F238E27FC236}">
                <a16:creationId xmlns:a16="http://schemas.microsoft.com/office/drawing/2014/main" id="{5DA1C1B7-2240-4CC2-980C-40AD912EC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800600"/>
            <a:ext cx="32918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Secondary users: </a:t>
            </a:r>
            <a:r>
              <a:rPr sz="10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family &amp; friends acting as trusted guardians</a:t>
            </a:r>
            <a:endParaRPr sz="1000"/>
          </a:p>
        </p:txBody>
      </p:sp>
      <p:sp>
        <p:nvSpPr>
          <p:cNvPr id="54" name="Shape 42">
            <a:extLst xmlns:a="http://schemas.openxmlformats.org/drawingml/2006/main">
              <a:ext uri="{FF2B5EF4-FFF2-40B4-BE49-F238E27FC236}">
                <a16:creationId xmlns:a16="http://schemas.microsoft.com/office/drawing/2014/main" id="{4459C4C2-9CB4-4621-89ED-B822925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5303520"/>
            <a:ext cx="3273552" cy="1078992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434B73DD-AD51-433E-97FD-EBDE7415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56" name="Text 44">
            <a:extLst xmlns:a="http://schemas.openxmlformats.org/drawingml/2006/main">
              <a:ext uri="{FF2B5EF4-FFF2-40B4-BE49-F238E27FC236}">
                <a16:creationId xmlns:a16="http://schemas.microsoft.com/office/drawing/2014/main" id="{2DFA67FF-EE56-4EC2-8CEC-C7AD1408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422392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B2C</a:t>
            </a:r>
            <a:endParaRPr sz="1200"/>
          </a:p>
        </p:txBody>
      </p:sp>
      <p:sp>
        <p:nvSpPr>
          <p:cNvPr id="57" name="Text 45">
            <a:extLst xmlns:a="http://schemas.openxmlformats.org/drawingml/2006/main">
              <a:ext uri="{FF2B5EF4-FFF2-40B4-BE49-F238E27FC236}">
                <a16:creationId xmlns:a16="http://schemas.microsoft.com/office/drawing/2014/main" id="{132560F8-471B-49FD-BF27-18C0A457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422392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B1B1B"/>
                </a:solidFill>
                <a:latin typeface="Arial"/>
                <a:ea typeface="Arial"/>
                <a:cs typeface="Arial"/>
              </a:rPr>
              <a:t>Free app for individual women</a:t>
            </a:r>
            <a:endParaRPr sz="1050"/>
          </a:p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759A8704-FE76-4714-8A65-EFF3D084B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9" name="Text 47">
            <a:extLst xmlns:a="http://schemas.openxmlformats.org/drawingml/2006/main">
              <a:ext uri="{FF2B5EF4-FFF2-40B4-BE49-F238E27FC236}">
                <a16:creationId xmlns:a16="http://schemas.microsoft.com/office/drawing/2014/main" id="{BE1F1CD4-4DC9-45D8-8649-E83D1E47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5907024"/>
            <a:ext cx="7315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B2B2C</a:t>
            </a:r>
            <a:endParaRPr sz="1000"/>
          </a:p>
        </p:txBody>
      </p:sp>
      <p:sp>
        <p:nvSpPr>
          <p:cNvPr id="60" name="Text 48">
            <a:extLst xmlns:a="http://schemas.openxmlformats.org/drawingml/2006/main">
              <a:ext uri="{FF2B5EF4-FFF2-40B4-BE49-F238E27FC236}">
                <a16:creationId xmlns:a16="http://schemas.microsoft.com/office/drawing/2014/main" id="{38C6C314-8A76-42D4-AB2B-0D1AA51AF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0032" y="5907024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1B1B1B"/>
                </a:solidFill>
                <a:latin typeface="Arial"/>
                <a:ea typeface="Arial"/>
                <a:cs typeface="Arial"/>
              </a:rPr>
              <a:t>Later: via colleges &amp; employers</a:t>
            </a:r>
            <a:endParaRPr sz="1050"/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0D5C69E-8483-4480-A712-EC88A4F64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6055646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EA00193-092D-4F55-9D06-D6DF8FDB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6432A66-E3B5-45F2-9D41-EBB77895D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E8506B-B90C-4EBE-883A-ECFFEFAD3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OUR UNIQUE SOLUTION</a:t>
            </a:r>
            <a:endParaRPr sz="3000"/>
          </a:p>
        </p:txBody>
      </p:sp>
      <p:pic>
        <p:nvPicPr>
          <p:cNvPr id="1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a0e97b7ba4472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b6942decf45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A31E2D8F-69D5-41FA-9894-D663124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43000"/>
            <a:ext cx="11548872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73ADB58F-91C0-4B41-B730-30131729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oundRect">
            <a:avLst>
              <a:gd name="adj" fmla="val 27778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2E820DA-0337-458F-985C-FC7CCC53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4206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IT WORKS — JOURNEY + COMMUNITY FLOW</a:t>
            </a:r>
            <a:endParaRPr sz="115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B39DEE51-C59B-4ADB-A105-F47CBAB1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9de721f71949c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327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2" name="Shape 7">
            <a:extLst xmlns:a="http://schemas.openxmlformats.org/drawingml/2006/main">
              <a:ext uri="{FF2B5EF4-FFF2-40B4-BE49-F238E27FC236}">
                <a16:creationId xmlns:a16="http://schemas.microsoft.com/office/drawing/2014/main" id="{EFD92F9A-C106-4508-BE3F-68D621125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1F520957-0C48-4BE7-923F-A98D643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1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1</a:t>
            </a:r>
            <a:endParaRPr sz="9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76EA9A92-7DA2-4015-B1A5-DD041160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Start Journey</a:t>
            </a:r>
            <a:endParaRPr sz="11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7EEC22E-A237-4C14-8057-88E8E178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Set destination, ETA &amp; guardians</a:t>
            </a:r>
            <a:endParaRPr sz="90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81847C4F-1F68-4BAC-8666-90BC48B6A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19C74CF6-A523-4717-8BE7-B90ACA5AB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93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4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87714c3d7e47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5299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19" name="Shape 13">
            <a:extLst xmlns:a="http://schemas.openxmlformats.org/drawingml/2006/main">
              <a:ext uri="{FF2B5EF4-FFF2-40B4-BE49-F238E27FC236}">
                <a16:creationId xmlns:a16="http://schemas.microsoft.com/office/drawing/2014/main" id="{F82CD247-E92D-429E-92A9-989BC362B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5DECF62F-A563-417F-ACD2-8A1CA0B7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841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2</a:t>
            </a:r>
            <a:endParaRPr sz="9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9D3AE61E-6767-43A9-886F-EDF2A8FF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Monitor Journey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A5A1A354-0BF6-4CF9-9CB7-F43025A8D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Live GPS + motion shared securely</a:t>
            </a:r>
            <a:endParaRPr sz="900"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3E4AA215-7F61-45A4-9C98-2A96E910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646DC9B7-211F-49D8-8628-F15CB6D0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5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663feca3e24b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323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26" name="Shape 19">
            <a:extLst xmlns:a="http://schemas.openxmlformats.org/drawingml/2006/main">
              <a:ext uri="{FF2B5EF4-FFF2-40B4-BE49-F238E27FC236}">
                <a16:creationId xmlns:a16="http://schemas.microsoft.com/office/drawing/2014/main" id="{0D4CC1DB-6057-4D32-9712-32E6DD411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0B63CE"/>
            </a:solidFill>
            <a:prstDash val="solid"/>
          </a:ln>
        </p:spPr>
      </p:sp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C1A4A9DC-3EDB-41C8-A1AA-AB9CC4ADA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865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3</a:t>
            </a:r>
            <a:endParaRPr sz="90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4E10D42A-837D-4FA1-AFFF-C0872EB7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Detect Risk Signal</a:t>
            </a:r>
            <a:endParaRPr sz="1150"/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23953E89-711A-4DA2-867F-FAE24336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Deviation · long stop · late ETA</a:t>
            </a:r>
            <a:endParaRPr sz="900"/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F05DB4A3-E06B-4CEA-AA69-81AF95DC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1" name="Shape 24">
            <a:extLst xmlns:a="http://schemas.openxmlformats.org/drawingml/2006/main">
              <a:ext uri="{FF2B5EF4-FFF2-40B4-BE49-F238E27FC236}">
                <a16:creationId xmlns:a16="http://schemas.microsoft.com/office/drawing/2014/main" id="{553BF0A3-9758-47C6-AB50-4F9127A0B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0332dcc3c41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347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1DB711FB-936A-4657-A90C-7CDD8728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34" name="Text 26">
            <a:extLst xmlns:a="http://schemas.openxmlformats.org/drawingml/2006/main">
              <a:ext uri="{FF2B5EF4-FFF2-40B4-BE49-F238E27FC236}">
                <a16:creationId xmlns:a16="http://schemas.microsoft.com/office/drawing/2014/main" id="{C42F4C91-37A7-423E-B4B7-083ED629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889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4</a:t>
            </a:r>
            <a:endParaRPr sz="900"/>
          </a:p>
        </p:txBody>
      </p:sp>
      <p:sp>
        <p:nvSpPr>
          <p:cNvPr id="35" name="Text 27">
            <a:extLst xmlns:a="http://schemas.openxmlformats.org/drawingml/2006/main">
              <a:ext uri="{FF2B5EF4-FFF2-40B4-BE49-F238E27FC236}">
                <a16:creationId xmlns:a16="http://schemas.microsoft.com/office/drawing/2014/main" id="{BF82CE64-56CE-4223-8365-AE9BAA44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“Are You Safe?”</a:t>
            </a:r>
            <a:endParaRPr sz="1150"/>
          </a:p>
        </p:txBody>
      </p:sp>
      <p:sp>
        <p:nvSpPr>
          <p:cNvPr id="36" name="Text 28">
            <a:extLst xmlns:a="http://schemas.openxmlformats.org/drawingml/2006/main">
              <a:ext uri="{FF2B5EF4-FFF2-40B4-BE49-F238E27FC236}">
                <a16:creationId xmlns:a16="http://schemas.microsoft.com/office/drawing/2014/main" id="{3919BAA0-7097-42CA-9CB5-127E7363D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Silent prompt, 30-sec countdown</a:t>
            </a:r>
            <a:endParaRPr sz="900"/>
          </a:p>
        </p:txBody>
      </p:sp>
      <p:sp>
        <p:nvSpPr>
          <p:cNvPr id="37" name="Shape 29">
            <a:extLst xmlns:a="http://schemas.openxmlformats.org/drawingml/2006/main">
              <a:ext uri="{FF2B5EF4-FFF2-40B4-BE49-F238E27FC236}">
                <a16:creationId xmlns:a16="http://schemas.microsoft.com/office/drawing/2014/main" id="{B0573337-65BF-48CC-B488-F4173A28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38" name="Shape 30">
            <a:extLst xmlns:a="http://schemas.openxmlformats.org/drawingml/2006/main">
              <a:ext uri="{FF2B5EF4-FFF2-40B4-BE49-F238E27FC236}">
                <a16:creationId xmlns:a16="http://schemas.microsoft.com/office/drawing/2014/main" id="{B7377846-7DE1-4C4A-8BAD-6891562F3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65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9050">
            <a:solidFill>
              <a:srgbClr val="E8820C"/>
            </a:solidFill>
            <a:prstDash val="solid"/>
          </a:ln>
        </p:spPr>
      </p:sp>
      <p:pic>
        <p:nvPicPr>
          <p:cNvPr id="168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420a9cde0545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1371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13600BC2-2E0E-45E6-83CA-F1788109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E8820C"/>
            </a:solidFill>
            <a:prstDash val="solid"/>
          </a:ln>
        </p:spPr>
      </p:sp>
      <p:sp>
        <p:nvSpPr>
          <p:cNvPr id="41" name="Text 32">
            <a:extLst xmlns:a="http://schemas.openxmlformats.org/drawingml/2006/main">
              <a:ext uri="{FF2B5EF4-FFF2-40B4-BE49-F238E27FC236}">
                <a16:creationId xmlns:a16="http://schemas.microsoft.com/office/drawing/2014/main" id="{245CEBBD-A7BF-48B0-A830-EB34BBA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5</a:t>
            </a:r>
            <a:endParaRPr sz="900"/>
          </a:p>
        </p:txBody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B2DFDB5E-89BB-474C-8C22-E8CC6294F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E8820C"/>
                </a:solidFill>
                <a:latin typeface="Arial"/>
                <a:ea typeface="Arial"/>
                <a:cs typeface="Arial"/>
              </a:rPr>
              <a:t>No Response → Dual Escalation</a:t>
            </a:r>
            <a:endParaRPr sz="115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051A988E-76F1-4C5E-B7FF-FA509BF8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Guardians + nearby users alerted in parallel</a:t>
            </a:r>
            <a:endParaRPr sz="900"/>
          </a:p>
        </p:txBody>
      </p:sp>
      <p:sp>
        <p:nvSpPr>
          <p:cNvPr id="44" name="Shape 35">
            <a:extLst xmlns:a="http://schemas.openxmlformats.org/drawingml/2006/main">
              <a:ext uri="{FF2B5EF4-FFF2-40B4-BE49-F238E27FC236}">
                <a16:creationId xmlns:a16="http://schemas.microsoft.com/office/drawing/2014/main" id="{92FE03DD-3FF0-4521-B191-ED11BDF7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11096"/>
            <a:ext cx="10972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3235B"/>
            </a:solidFill>
            <a:prstDash val="dash"/>
            <a:tailEnd type="triangle"/>
          </a:ln>
        </p:spPr>
      </p:sp>
      <p:sp>
        <p:nvSpPr>
          <p:cNvPr id="45" name="Shape 36">
            <a:extLst xmlns:a="http://schemas.openxmlformats.org/drawingml/2006/main">
              <a:ext uri="{FF2B5EF4-FFF2-40B4-BE49-F238E27FC236}">
                <a16:creationId xmlns:a16="http://schemas.microsoft.com/office/drawing/2014/main" id="{39F838BD-B2DF-4443-A7D3-27FF1590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7896" y="1627632"/>
            <a:ext cx="566928" cy="56692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9050">
            <a:solidFill>
              <a:srgbClr val="B3122E"/>
            </a:solidFill>
            <a:prstDash val="solid"/>
          </a:ln>
        </p:spPr>
      </p:sp>
      <p:pic>
        <p:nvPicPr>
          <p:cNvPr id="175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766637a8744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33959" y="1763695"/>
            <a:ext cx="294803" cy="294803"/>
          </a:xfrm>
          <a:prstGeom xmlns:a="http://schemas.openxmlformats.org/drawingml/2006/main" prst="rect">
            <a:avLst/>
          </a:prstGeom>
        </p:spPr>
      </p:pic>
      <p:sp>
        <p:nvSpPr>
          <p:cNvPr id="47" name="Shape 37">
            <a:extLst xmlns:a="http://schemas.openxmlformats.org/drawingml/2006/main">
              <a:ext uri="{FF2B5EF4-FFF2-40B4-BE49-F238E27FC236}">
                <a16:creationId xmlns:a16="http://schemas.microsoft.com/office/drawing/2014/main" id="{DD89229E-8B7A-4C9B-9F8B-26B77783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B3122E"/>
            </a:solidFill>
            <a:prstDash val="solid"/>
          </a:ln>
        </p:spPr>
      </p:sp>
      <p:sp>
        <p:nvSpPr>
          <p:cNvPr id="48" name="Text 38">
            <a:extLst xmlns:a="http://schemas.openxmlformats.org/drawingml/2006/main">
              <a:ext uri="{FF2B5EF4-FFF2-40B4-BE49-F238E27FC236}">
                <a16:creationId xmlns:a16="http://schemas.microsoft.com/office/drawing/2014/main" id="{661163B6-FA3B-45FD-A19C-9A778308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9376" y="1572768"/>
            <a:ext cx="23774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6</a:t>
            </a:r>
            <a:endParaRPr sz="900"/>
          </a:p>
        </p:txBody>
      </p:sp>
      <p:sp>
        <p:nvSpPr>
          <p:cNvPr id="49" name="Text 39">
            <a:extLst xmlns:a="http://schemas.openxmlformats.org/drawingml/2006/main">
              <a:ext uri="{FF2B5EF4-FFF2-40B4-BE49-F238E27FC236}">
                <a16:creationId xmlns:a16="http://schemas.microsoft.com/office/drawing/2014/main" id="{E6D01C26-A926-45E1-8186-C5B8CB12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221992"/>
            <a:ext cx="1828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Emergency Actions</a:t>
            </a:r>
            <a:endParaRPr sz="1150"/>
          </a:p>
        </p:txBody>
      </p:sp>
      <p:sp>
        <p:nvSpPr>
          <p:cNvPr id="50" name="Text 40">
            <a:extLst xmlns:a="http://schemas.openxmlformats.org/drawingml/2006/main">
              <a:ext uri="{FF2B5EF4-FFF2-40B4-BE49-F238E27FC236}">
                <a16:creationId xmlns:a16="http://schemas.microsoft.com/office/drawing/2014/main" id="{30A31726-B250-45BD-9E0B-8E910110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6960" y="246888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5A6478"/>
                </a:solidFill>
                <a:latin typeface="Arial"/>
                <a:ea typeface="Arial"/>
                <a:cs typeface="Arial"/>
              </a:rPr>
              <a:t>Siren · one-tap 112 · anonymized SOS</a:t>
            </a:r>
            <a:endParaRPr sz="900"/>
          </a:p>
        </p:txBody>
      </p:sp>
      <p:sp>
        <p:nvSpPr>
          <p:cNvPr id="51" name="Shape 41">
            <a:extLst xmlns:a="http://schemas.openxmlformats.org/drawingml/2006/main">
              <a:ext uri="{FF2B5EF4-FFF2-40B4-BE49-F238E27FC236}">
                <a16:creationId xmlns:a16="http://schemas.microsoft.com/office/drawing/2014/main" id="{20CBD226-20AB-4519-801D-56FD63B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971800"/>
            <a:ext cx="6766560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52" name="Shape 42">
            <a:extLst xmlns:a="http://schemas.openxmlformats.org/drawingml/2006/main">
              <a:ext uri="{FF2B5EF4-FFF2-40B4-BE49-F238E27FC236}">
                <a16:creationId xmlns:a16="http://schemas.microsoft.com/office/drawing/2014/main" id="{CEFD40EC-1FFA-42D8-BB8D-0A761BCF6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53" name="Text 43">
            <a:extLst xmlns:a="http://schemas.openxmlformats.org/drawingml/2006/main">
              <a:ext uri="{FF2B5EF4-FFF2-40B4-BE49-F238E27FC236}">
                <a16:creationId xmlns:a16="http://schemas.microsoft.com/office/drawing/2014/main" id="{9A51690D-A9DD-476C-8EC7-65266FE1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81528"/>
            <a:ext cx="64008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FEATURES</a:t>
            </a:r>
            <a:endParaRPr sz="1300"/>
          </a:p>
        </p:txBody>
      </p:sp>
      <p:sp>
        <p:nvSpPr>
          <p:cNvPr id="54" name="Shape 44">
            <a:extLst xmlns:a="http://schemas.openxmlformats.org/drawingml/2006/main">
              <a:ext uri="{FF2B5EF4-FFF2-40B4-BE49-F238E27FC236}">
                <a16:creationId xmlns:a16="http://schemas.microsoft.com/office/drawing/2014/main" id="{6EF30550-330E-4427-AB35-360B6E85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55" name="Shape 45">
            <a:extLst xmlns:a="http://schemas.openxmlformats.org/drawingml/2006/main">
              <a:ext uri="{FF2B5EF4-FFF2-40B4-BE49-F238E27FC236}">
                <a16:creationId xmlns:a16="http://schemas.microsoft.com/office/drawing/2014/main" id="{C9611440-84FD-453D-93E8-04BC474C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85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07f706cb1741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CEB811FF-750E-4BA4-A39D-C095DD100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Guardian Journey</a:t>
            </a:r>
            <a:endParaRPr sz="9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0F34B328-37F4-4E43-A424-355D0E360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Safe-walk mode: guardians watch live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36421B77-20AB-4103-9DA7-31764262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0" name="Shape 49">
            <a:extLst xmlns:a="http://schemas.openxmlformats.org/drawingml/2006/main">
              <a:ext uri="{FF2B5EF4-FFF2-40B4-BE49-F238E27FC236}">
                <a16:creationId xmlns:a16="http://schemas.microsoft.com/office/drawing/2014/main" id="{0D1EDB8B-7FF6-4A38-A952-E597D7AC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dcfc68ca5749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2" name="Text 50">
            <a:extLst xmlns:a="http://schemas.openxmlformats.org/drawingml/2006/main">
              <a:ext uri="{FF2B5EF4-FFF2-40B4-BE49-F238E27FC236}">
                <a16:creationId xmlns:a16="http://schemas.microsoft.com/office/drawing/2014/main" id="{5F999F6D-8749-4527-81A6-DFF062317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Live Location Sharing</a:t>
            </a:r>
            <a:endParaRPr sz="950"/>
          </a:p>
        </p:txBody>
      </p:sp>
      <p:sp>
        <p:nvSpPr>
          <p:cNvPr id="63" name="Text 51">
            <a:extLst xmlns:a="http://schemas.openxmlformats.org/drawingml/2006/main">
              <a:ext uri="{FF2B5EF4-FFF2-40B4-BE49-F238E27FC236}">
                <a16:creationId xmlns:a16="http://schemas.microsoft.com/office/drawing/2014/main" id="{FE51B875-447B-4C36-8E93-D430164B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Secure link; auto-stops at destination</a:t>
            </a:r>
            <a:endParaRPr sz="800"/>
          </a:p>
        </p:txBody>
      </p:sp>
      <p:sp>
        <p:nvSpPr>
          <p:cNvPr id="64" name="Shape 52">
            <a:extLst xmlns:a="http://schemas.openxmlformats.org/drawingml/2006/main">
              <a:ext uri="{FF2B5EF4-FFF2-40B4-BE49-F238E27FC236}">
                <a16:creationId xmlns:a16="http://schemas.microsoft.com/office/drawing/2014/main" id="{5893CD39-6AA3-4594-8FE1-72FA0A9E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3547872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65" name="Shape 53">
            <a:extLst xmlns:a="http://schemas.openxmlformats.org/drawingml/2006/main">
              <a:ext uri="{FF2B5EF4-FFF2-40B4-BE49-F238E27FC236}">
                <a16:creationId xmlns:a16="http://schemas.microsoft.com/office/drawing/2014/main" id="{AD018D4F-1921-4B3C-BB8B-AD10AC4F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3730752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95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dfcb0f333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3836091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67" name="Text 54">
            <a:extLst xmlns:a="http://schemas.openxmlformats.org/drawingml/2006/main">
              <a:ext uri="{FF2B5EF4-FFF2-40B4-BE49-F238E27FC236}">
                <a16:creationId xmlns:a16="http://schemas.microsoft.com/office/drawing/2014/main" id="{AFFDFF0C-EE98-480E-99E5-9CD7FD31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621024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Timer</a:t>
            </a:r>
            <a:endParaRPr sz="950"/>
          </a:p>
        </p:txBody>
      </p:sp>
      <p:sp>
        <p:nvSpPr>
          <p:cNvPr id="68" name="Text 55">
            <a:extLst xmlns:a="http://schemas.openxmlformats.org/drawingml/2006/main">
              <a:ext uri="{FF2B5EF4-FFF2-40B4-BE49-F238E27FC236}">
                <a16:creationId xmlns:a16="http://schemas.microsoft.com/office/drawing/2014/main" id="{6AABCD11-528A-4FC8-9B5F-CCB034683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977640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Miss the check-in → guardians alerted</a:t>
            </a:r>
            <a:endParaRPr sz="800"/>
          </a:p>
        </p:txBody>
      </p:sp>
      <p:sp>
        <p:nvSpPr>
          <p:cNvPr id="69" name="Shape 56">
            <a:extLst xmlns:a="http://schemas.openxmlformats.org/drawingml/2006/main">
              <a:ext uri="{FF2B5EF4-FFF2-40B4-BE49-F238E27FC236}">
                <a16:creationId xmlns:a16="http://schemas.microsoft.com/office/drawing/2014/main" id="{B5AC30CE-750E-48A6-A036-013C20EB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0" name="Shape 57">
            <a:extLst xmlns:a="http://schemas.openxmlformats.org/drawingml/2006/main">
              <a:ext uri="{FF2B5EF4-FFF2-40B4-BE49-F238E27FC236}">
                <a16:creationId xmlns:a16="http://schemas.microsoft.com/office/drawing/2014/main" id="{132EF215-F7B8-451D-A13B-A598F936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0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e3f76c9fe14e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2" name="Text 58">
            <a:extLst xmlns:a="http://schemas.openxmlformats.org/drawingml/2006/main">
              <a:ext uri="{FF2B5EF4-FFF2-40B4-BE49-F238E27FC236}">
                <a16:creationId xmlns:a16="http://schemas.microsoft.com/office/drawing/2014/main" id="{9EE3777C-DFE8-4F37-97CE-C38796D7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Nearby Community SOS</a:t>
            </a:r>
            <a:endParaRPr sz="950"/>
          </a:p>
        </p:txBody>
      </p:sp>
      <p:sp>
        <p:nvSpPr>
          <p:cNvPr id="73" name="Text 59">
            <a:extLst xmlns:a="http://schemas.openxmlformats.org/drawingml/2006/main">
              <a:ext uri="{FF2B5EF4-FFF2-40B4-BE49-F238E27FC236}">
                <a16:creationId xmlns:a16="http://schemas.microsoft.com/office/drawing/2014/main" id="{00548DBB-1F3D-475F-97B5-5D2C4D6D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Anonymized alert to users within ~200 m</a:t>
            </a:r>
            <a:endParaRPr sz="800"/>
          </a:p>
        </p:txBody>
      </p:sp>
      <p:sp>
        <p:nvSpPr>
          <p:cNvPr id="74" name="Shape 60">
            <a:extLst xmlns:a="http://schemas.openxmlformats.org/drawingml/2006/main">
              <a:ext uri="{FF2B5EF4-FFF2-40B4-BE49-F238E27FC236}">
                <a16:creationId xmlns:a16="http://schemas.microsoft.com/office/drawing/2014/main" id="{9BC96564-BF3F-4D15-B46F-DC07B076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75" name="Shape 61">
            <a:extLst xmlns:a="http://schemas.openxmlformats.org/drawingml/2006/main">
              <a:ext uri="{FF2B5EF4-FFF2-40B4-BE49-F238E27FC236}">
                <a16:creationId xmlns:a16="http://schemas.microsoft.com/office/drawing/2014/main" id="{075DF053-527F-4209-81D2-6977736ED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05" name="Imag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1c0d896db447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77" name="Text 62">
            <a:extLst xmlns:a="http://schemas.openxmlformats.org/drawingml/2006/main">
              <a:ext uri="{FF2B5EF4-FFF2-40B4-BE49-F238E27FC236}">
                <a16:creationId xmlns:a16="http://schemas.microsoft.com/office/drawing/2014/main" id="{805B3050-3C97-408F-AD32-3F2DEEDF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Unexpected-Stop Alert</a:t>
            </a:r>
            <a:endParaRPr sz="950"/>
          </a:p>
        </p:txBody>
      </p:sp>
      <p:sp>
        <p:nvSpPr>
          <p:cNvPr id="78" name="Text 63">
            <a:extLst xmlns:a="http://schemas.openxmlformats.org/drawingml/2006/main">
              <a:ext uri="{FF2B5EF4-FFF2-40B4-BE49-F238E27FC236}">
                <a16:creationId xmlns:a16="http://schemas.microsoft.com/office/drawing/2014/main" id="{D51596E1-FA5E-417F-842E-FEB2C48FF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Flags long stops at odd places</a:t>
            </a:r>
            <a:endParaRPr sz="800"/>
          </a:p>
        </p:txBody>
      </p:sp>
      <p:sp>
        <p:nvSpPr>
          <p:cNvPr id="79" name="Shape 64">
            <a:extLst xmlns:a="http://schemas.openxmlformats.org/drawingml/2006/main">
              <a:ext uri="{FF2B5EF4-FFF2-40B4-BE49-F238E27FC236}">
                <a16:creationId xmlns:a16="http://schemas.microsoft.com/office/drawing/2014/main" id="{5AC2ACAF-5BAE-4338-AEC0-958FA774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4443984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0" name="Shape 65">
            <a:extLst xmlns:a="http://schemas.openxmlformats.org/drawingml/2006/main">
              <a:ext uri="{FF2B5EF4-FFF2-40B4-BE49-F238E27FC236}">
                <a16:creationId xmlns:a16="http://schemas.microsoft.com/office/drawing/2014/main" id="{39C67E20-A2A0-4833-AC10-BCFB5E8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4626864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0" name="Imag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759b8b19845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4732203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2" name="Text 66">
            <a:extLst xmlns:a="http://schemas.openxmlformats.org/drawingml/2006/main">
              <a:ext uri="{FF2B5EF4-FFF2-40B4-BE49-F238E27FC236}">
                <a16:creationId xmlns:a16="http://schemas.microsoft.com/office/drawing/2014/main" id="{8B24CFED-DC54-4C01-B82E-3AC09296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517136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One-tap / Shake / Voice SOS</a:t>
            </a:r>
            <a:endParaRPr sz="950"/>
          </a:p>
        </p:txBody>
      </p:sp>
      <p:sp>
        <p:nvSpPr>
          <p:cNvPr id="83" name="Text 67">
            <a:extLst xmlns:a="http://schemas.openxmlformats.org/drawingml/2006/main">
              <a:ext uri="{FF2B5EF4-FFF2-40B4-BE49-F238E27FC236}">
                <a16:creationId xmlns:a16="http://schemas.microsoft.com/office/drawing/2014/main" id="{5DE36045-8AB3-4566-80AF-BB55C860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4873752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SOS + alert to guardians</a:t>
            </a:r>
            <a:endParaRPr sz="800"/>
          </a:p>
        </p:txBody>
      </p:sp>
      <p:sp>
        <p:nvSpPr>
          <p:cNvPr id="84" name="Shape 68">
            <a:extLst xmlns:a="http://schemas.openxmlformats.org/drawingml/2006/main">
              <a:ext uri="{FF2B5EF4-FFF2-40B4-BE49-F238E27FC236}">
                <a16:creationId xmlns:a16="http://schemas.microsoft.com/office/drawing/2014/main" id="{FAFDCB22-6D6F-4092-9074-8283523C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85" name="Shape 69">
            <a:extLst xmlns:a="http://schemas.openxmlformats.org/drawingml/2006/main">
              <a:ext uri="{FF2B5EF4-FFF2-40B4-BE49-F238E27FC236}">
                <a16:creationId xmlns:a16="http://schemas.microsoft.com/office/drawing/2014/main" id="{530EC9D4-4ED5-464D-B763-C001779C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15" name="Imag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1544af9078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9699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87" name="Text 70">
            <a:extLst xmlns:a="http://schemas.openxmlformats.org/drawingml/2006/main">
              <a:ext uri="{FF2B5EF4-FFF2-40B4-BE49-F238E27FC236}">
                <a16:creationId xmlns:a16="http://schemas.microsoft.com/office/drawing/2014/main" id="{43473A50-2ADC-4C89-A0E1-A18D76DF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Shake / Voice SOS</a:t>
            </a:r>
            <a:endParaRPr sz="950"/>
          </a:p>
        </p:txBody>
      </p:sp>
      <p:sp>
        <p:nvSpPr>
          <p:cNvPr id="88" name="Text 71">
            <a:extLst xmlns:a="http://schemas.openxmlformats.org/drawingml/2006/main">
              <a:ext uri="{FF2B5EF4-FFF2-40B4-BE49-F238E27FC236}">
                <a16:creationId xmlns:a16="http://schemas.microsoft.com/office/drawing/2014/main" id="{3FE9132B-892F-41A3-BB39-681E280D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Hands-free when she cannot tap</a:t>
            </a:r>
            <a:endParaRPr sz="800"/>
          </a:p>
        </p:txBody>
      </p:sp>
      <p:sp>
        <p:nvSpPr>
          <p:cNvPr id="89" name="Shape 72">
            <a:extLst xmlns:a="http://schemas.openxmlformats.org/drawingml/2006/main">
              <a:ext uri="{FF2B5EF4-FFF2-40B4-BE49-F238E27FC236}">
                <a16:creationId xmlns:a16="http://schemas.microsoft.com/office/drawing/2014/main" id="{022E94A3-A38E-4035-BD45-D60EDB43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0" name="Shape 73">
            <a:extLst xmlns:a="http://schemas.openxmlformats.org/drawingml/2006/main">
              <a:ext uri="{FF2B5EF4-FFF2-40B4-BE49-F238E27FC236}">
                <a16:creationId xmlns:a16="http://schemas.microsoft.com/office/drawing/2014/main" id="{18A07F3C-D0ED-4FA7-B05C-6B56D3EA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1488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0" name="Imag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8edce22df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66827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2" name="Text 74">
            <a:extLst xmlns:a="http://schemas.openxmlformats.org/drawingml/2006/main">
              <a:ext uri="{FF2B5EF4-FFF2-40B4-BE49-F238E27FC236}">
                <a16:creationId xmlns:a16="http://schemas.microsoft.com/office/drawing/2014/main" id="{B39620D7-F538-48D8-B0E5-C70F30FE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93" name="Text 75">
            <a:extLst xmlns:a="http://schemas.openxmlformats.org/drawingml/2006/main">
              <a:ext uri="{FF2B5EF4-FFF2-40B4-BE49-F238E27FC236}">
                <a16:creationId xmlns:a16="http://schemas.microsoft.com/office/drawing/2014/main" id="{C87A5E73-78A6-4812-8DE8-4002E63A8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Priority-ordered call &amp; alert chain</a:t>
            </a:r>
            <a:endParaRPr sz="800"/>
          </a:p>
        </p:txBody>
      </p:sp>
      <p:sp>
        <p:nvSpPr>
          <p:cNvPr id="94" name="Shape 76">
            <a:extLst xmlns:a="http://schemas.openxmlformats.org/drawingml/2006/main">
              <a:ext uri="{FF2B5EF4-FFF2-40B4-BE49-F238E27FC236}">
                <a16:creationId xmlns:a16="http://schemas.microsoft.com/office/drawing/2014/main" id="{7A5FEEC3-BC66-490D-B018-70C7A013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340096"/>
            <a:ext cx="2057400" cy="804672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sp>
        <p:nvSpPr>
          <p:cNvPr id="95" name="Shape 77">
            <a:extLst xmlns:a="http://schemas.openxmlformats.org/drawingml/2006/main">
              <a:ext uri="{FF2B5EF4-FFF2-40B4-BE49-F238E27FC236}">
                <a16:creationId xmlns:a16="http://schemas.microsoft.com/office/drawing/2014/main" id="{96C508BA-BDD3-4864-9962-8D080C89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5522976"/>
            <a:ext cx="438912" cy="4389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225" name="Imag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034b052db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33955" y="5628315"/>
            <a:ext cx="228234" cy="228234"/>
          </a:xfrm>
          <a:prstGeom xmlns:a="http://schemas.openxmlformats.org/drawingml/2006/main" prst="rect">
            <a:avLst/>
          </a:prstGeom>
        </p:spPr>
      </p:pic>
      <p:sp>
        <p:nvSpPr>
          <p:cNvPr id="97" name="Text 78">
            <a:extLst xmlns:a="http://schemas.openxmlformats.org/drawingml/2006/main">
              <a:ext uri="{FF2B5EF4-FFF2-40B4-BE49-F238E27FC236}">
                <a16:creationId xmlns:a16="http://schemas.microsoft.com/office/drawing/2014/main" id="{9B2ECC38-3FDA-457B-AC77-92CD05D4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413248"/>
            <a:ext cx="1417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Nearby Help</a:t>
            </a:r>
            <a:endParaRPr sz="950"/>
          </a:p>
        </p:txBody>
      </p:sp>
      <p:sp>
        <p:nvSpPr>
          <p:cNvPr id="98" name="Text 79">
            <a:extLst xmlns:a="http://schemas.openxmlformats.org/drawingml/2006/main">
              <a:ext uri="{FF2B5EF4-FFF2-40B4-BE49-F238E27FC236}">
                <a16:creationId xmlns:a16="http://schemas.microsoft.com/office/drawing/2014/main" id="{77ABFEE6-721D-4B1B-942E-91B8549F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5769864"/>
            <a:ext cx="14173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Police, hospitals, safe spots + 112</a:t>
            </a:r>
            <a:endParaRPr sz="800"/>
          </a:p>
        </p:txBody>
      </p:sp>
      <p:sp>
        <p:nvSpPr>
          <p:cNvPr id="99" name="Text 80">
            <a:extLst xmlns:a="http://schemas.openxmlformats.org/drawingml/2006/main">
              <a:ext uri="{FF2B5EF4-FFF2-40B4-BE49-F238E27FC236}">
                <a16:creationId xmlns:a16="http://schemas.microsoft.com/office/drawing/2014/main" id="{3E3CED63-712F-4654-A495-CA65BD51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6236208"/>
            <a:ext cx="64008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+ Siren · Encrypted opt-in evidence · Assistive AI risk signals</a:t>
            </a:r>
            <a:endParaRPr sz="950"/>
          </a:p>
        </p:txBody>
      </p:sp>
      <p:sp>
        <p:nvSpPr>
          <p:cNvPr id="100" name="Shape 81">
            <a:extLst xmlns:a="http://schemas.openxmlformats.org/drawingml/2006/main">
              <a:ext uri="{FF2B5EF4-FFF2-40B4-BE49-F238E27FC236}">
                <a16:creationId xmlns:a16="http://schemas.microsoft.com/office/drawing/2014/main" id="{73A7DDB7-2AD9-41AA-85F8-C5B625AE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2971800"/>
            <a:ext cx="4599432" cy="35661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101" name="Shape 82">
            <a:extLst xmlns:a="http://schemas.openxmlformats.org/drawingml/2006/main">
              <a:ext uri="{FF2B5EF4-FFF2-40B4-BE49-F238E27FC236}">
                <a16:creationId xmlns:a16="http://schemas.microsoft.com/office/drawing/2014/main" id="{65F2D213-0A82-447B-AF11-468F708B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02" name="Text 83">
            <a:extLst xmlns:a="http://schemas.openxmlformats.org/drawingml/2006/main">
              <a:ext uri="{FF2B5EF4-FFF2-40B4-BE49-F238E27FC236}">
                <a16:creationId xmlns:a16="http://schemas.microsoft.com/office/drawing/2014/main" id="{D242251A-9B06-4550-89CA-CF9BB4F9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081528"/>
            <a:ext cx="42336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WHY IT'S DIFFERENT</a:t>
            </a:r>
            <a:endParaRPr sz="1300"/>
          </a:p>
        </p:txBody>
      </p:sp>
      <p:graphicFrame>
        <p:nvGraphicFramePr>
          <p:cNvPr id="232" name="Table 0"/>
          <p:cNvGraphicFramePr/>
          <p:nvPr/>
        </p:nvGraphicFramePr>
        <p:xfrm>
          <a:off xmlns:a="http://schemas.openxmlformats.org/drawingml/2006/main" x="7452360" y="3520440"/>
          <a:ext xmlns:a="http://schemas.openxmlformats.org/drawingml/2006/main" cx="4233672" cy="914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6152"/>
                <a:gridCol w="1371600"/>
                <a:gridCol w="1645920"/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sz="12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1323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Traditional SOS App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5A64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SafeSaathi</a:t>
                      </a:r>
                      <a:endParaRPr sz="95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B3122E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Trigger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Manual button only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Tap · shake · voice · auto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Approach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Reactive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Proactive monitoring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Journey awareness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Limited / none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Route, stops, ETA, timer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If she can't respond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Nothing happens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Auto-escalates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EEF3FA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3235B"/>
                          </a:solidFill>
                          <a:latin typeface="Arial"/>
                          <a:ea typeface="Arial"/>
                          <a:cs typeface="Arial"/>
                        </a:rPr>
                        <a:t>Misuse resistance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5A6478"/>
                          </a:solidFill>
                          <a:latin typeface="Arial"/>
                          <a:ea typeface="Arial"/>
                          <a:cs typeface="Arial"/>
                        </a:rPr>
                        <a:t>Basic controls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B3122E"/>
                          </a:solidFill>
                          <a:latin typeface="Arial"/>
                          <a:ea typeface="Arial"/>
                          <a:cs typeface="Arial"/>
                        </a:rPr>
                        <a:t>Anonymized · rate-limited · audited</a:t>
                      </a:r>
                      <a:endParaRPr sz="900"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4864" marR="54864" marT="18288" marB="18288" anchor="ctr">
                    <a:lnL w="9525" cmpd="sng">
                      <a:solidFill>
                        <a:srgbClr val="B8C8E0"/>
                      </a:solidFill>
                      <a:prstDash val="solid"/>
                    </a:lnL>
                    <a:lnR w="9525" cmpd="sng">
                      <a:solidFill>
                        <a:srgbClr val="B8C8E0"/>
                      </a:solidFill>
                      <a:prstDash val="solid"/>
                    </a:lnR>
                    <a:lnT w="9525" cmpd="sng">
                      <a:solidFill>
                        <a:srgbClr val="B8C8E0"/>
                      </a:solidFill>
                      <a:prstDash val="solid"/>
                    </a:lnT>
                    <a:lnB w="9525" cmpd="sng">
                      <a:solidFill>
                        <a:srgbClr val="B8C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4" name="Shape 84">
            <a:extLst xmlns:a="http://schemas.openxmlformats.org/drawingml/2006/main">
              <a:ext uri="{FF2B5EF4-FFF2-40B4-BE49-F238E27FC236}">
                <a16:creationId xmlns:a16="http://schemas.microsoft.com/office/drawing/2014/main" id="{F2025CEB-2619-40B3-83A1-47DB39B7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303520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4" name="Imag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b6fefd1a544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544982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6" name="Text 85">
            <a:extLst xmlns:a="http://schemas.openxmlformats.org/drawingml/2006/main">
              <a:ext uri="{FF2B5EF4-FFF2-40B4-BE49-F238E27FC236}">
                <a16:creationId xmlns:a16="http://schemas.microsoft.com/office/drawing/2014/main" id="{B49DCEF5-6BCF-4375-B257-4887D8052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303520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1 — Silence is a signal: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 a missed “Are you safe?” check triggers help automatically</a:t>
            </a:r>
            <a:endParaRPr sz="950"/>
          </a:p>
        </p:txBody>
      </p:sp>
      <p:sp>
        <p:nvSpPr>
          <p:cNvPr id="107" name="Shape 86">
            <a:extLst xmlns:a="http://schemas.openxmlformats.org/drawingml/2006/main">
              <a:ext uri="{FF2B5EF4-FFF2-40B4-BE49-F238E27FC236}">
                <a16:creationId xmlns:a16="http://schemas.microsoft.com/office/drawing/2014/main" id="{57BB42AA-6294-408A-BEFF-93ED2C35E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5888736"/>
            <a:ext cx="4233672" cy="512064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pic>
        <p:nvPicPr>
          <p:cNvPr id="237" name="Imag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2838cb5ba40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3800" y="6035040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09" name="Text 87">
            <a:extLst xmlns:a="http://schemas.openxmlformats.org/drawingml/2006/main">
              <a:ext uri="{FF2B5EF4-FFF2-40B4-BE49-F238E27FC236}">
                <a16:creationId xmlns:a16="http://schemas.microsoft.com/office/drawing/2014/main" id="{C2C53BB5-5500-484A-BE37-E7D735E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5888736"/>
            <a:ext cx="3749040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Novelty 2 — Community safety network: nearby users can act as digital witnesses; anonymized alerts protect bystanders.</a:t>
            </a:r>
            <a:endParaRPr sz="950"/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DE08CEB-1987-4F05-9C62-D6991251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2733378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B10F072-B238-42EE-B07E-8168F76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366CAB2-B421-44F1-AA73-F7C16517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02A4556-62B2-42F3-9200-78E1767D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TECH STACK + ARCHITECTURE</a:t>
            </a:r>
            <a:endParaRPr sz="3000"/>
          </a:p>
        </p:txBody>
      </p:sp>
      <p:pic>
        <p:nvPicPr>
          <p:cNvPr id="10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5dcb5d17cb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3fc287b19e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DBFE0347-383B-435E-9EDB-ADF4B8C8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374904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1B5F2CD4-5AE5-4854-A7D8-BC425332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D055E9F-EBFC-4084-A7AA-39318EBED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325880"/>
            <a:ext cx="33832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 STACK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B4595F3-FC0D-40DB-A3FD-B64372A1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ccb8b2de948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0409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4C6C40FF-8857-4156-AC38-9B5CD6AD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18470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Mobile App</a:t>
            </a:r>
            <a:endParaRPr sz="1200"/>
          </a:p>
        </p:txBody>
      </p:sp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593D336B-CAE7-43E1-B5E9-E323D4E7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1214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Kotlin · Jetpack Compose · Location Services · Sensors (accelerometer, gyroscope)</a:t>
            </a:r>
            <a:endParaRPr sz="950"/>
          </a:p>
        </p:txBody>
      </p:sp>
      <p:sp>
        <p:nvSpPr>
          <p:cNvPr id="14" name="Shape 9">
            <a:extLst xmlns:a="http://schemas.openxmlformats.org/drawingml/2006/main">
              <a:ext uri="{FF2B5EF4-FFF2-40B4-BE49-F238E27FC236}">
                <a16:creationId xmlns:a16="http://schemas.microsoft.com/office/drawing/2014/main" id="{D2A40C52-5444-40B8-8782-55AC1913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974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4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4323523c7140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281818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DF4667AC-F64F-47DA-9F2F-9571A59A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62432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Backend</a:t>
            </a:r>
            <a:endParaRPr sz="12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6786D187-AA3B-4151-9B75-CC5D3425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289864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Auth · Cloud Functions (Node.js) · REST APIs</a:t>
            </a:r>
            <a:endParaRPr sz="95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29D0254D-3ABF-4EC2-8404-651592468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18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e65c86d33244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359542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0" name="Text 13">
            <a:extLst xmlns:a="http://schemas.openxmlformats.org/drawingml/2006/main">
              <a:ext uri="{FF2B5EF4-FFF2-40B4-BE49-F238E27FC236}">
                <a16:creationId xmlns:a16="http://schemas.microsoft.com/office/drawing/2014/main" id="{0A32C15A-70FD-440B-A44D-B90FAC0C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40156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Database</a:t>
            </a:r>
            <a:endParaRPr sz="1200"/>
          </a:p>
        </p:txBody>
      </p:sp>
      <p:sp>
        <p:nvSpPr>
          <p:cNvPr id="21" name="Text 14">
            <a:extLst xmlns:a="http://schemas.openxmlformats.org/drawingml/2006/main">
              <a:ext uri="{FF2B5EF4-FFF2-40B4-BE49-F238E27FC236}">
                <a16:creationId xmlns:a16="http://schemas.microsoft.com/office/drawing/2014/main" id="{F8ACF1B1-3167-4425-BF5B-88325116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367588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Firestore — journeys, guardians, alerts</a:t>
            </a:r>
            <a:endParaRPr sz="950"/>
          </a:p>
        </p:txBody>
      </p:sp>
      <p:sp>
        <p:nvSpPr>
          <p:cNvPr id="22" name="Shape 15">
            <a:extLst xmlns:a="http://schemas.openxmlformats.org/drawingml/2006/main">
              <a:ext uri="{FF2B5EF4-FFF2-40B4-BE49-F238E27FC236}">
                <a16:creationId xmlns:a16="http://schemas.microsoft.com/office/drawing/2014/main" id="{CCECAF1F-604E-4B22-A3B4-9FE5ABB8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5196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2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3eb490a66740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437266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4" name="Text 16">
            <a:extLst xmlns:a="http://schemas.openxmlformats.org/drawingml/2006/main">
              <a:ext uri="{FF2B5EF4-FFF2-40B4-BE49-F238E27FC236}">
                <a16:creationId xmlns:a16="http://schemas.microsoft.com/office/drawing/2014/main" id="{BCC1B74E-8EF3-4EDA-BDEE-8EBAA3B5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17880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Maps &amp; Location</a:t>
            </a:r>
            <a:endParaRPr sz="1200"/>
          </a:p>
        </p:txBody>
      </p:sp>
      <p:sp>
        <p:nvSpPr>
          <p:cNvPr id="25" name="Text 17">
            <a:extLst xmlns:a="http://schemas.openxmlformats.org/drawingml/2006/main">
              <a:ext uri="{FF2B5EF4-FFF2-40B4-BE49-F238E27FC236}">
                <a16:creationId xmlns:a16="http://schemas.microsoft.com/office/drawing/2014/main" id="{3253E981-8400-4132-921F-A9A9072B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45312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SDK / MapLibre · Places API · Fused Location Provider</a:t>
            </a:r>
            <a:endParaRPr sz="950"/>
          </a:p>
        </p:txBody>
      </p:sp>
      <p:sp>
        <p:nvSpPr>
          <p:cNvPr id="26" name="Shape 18">
            <a:extLst xmlns:a="http://schemas.openxmlformats.org/drawingml/2006/main">
              <a:ext uri="{FF2B5EF4-FFF2-40B4-BE49-F238E27FC236}">
                <a16:creationId xmlns:a16="http://schemas.microsoft.com/office/drawing/2014/main" id="{EFD50296-2306-4689-80AA-8E9FEEBA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26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df8ecbcd2e49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14990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28" name="Text 19">
            <a:extLst xmlns:a="http://schemas.openxmlformats.org/drawingml/2006/main">
              <a:ext uri="{FF2B5EF4-FFF2-40B4-BE49-F238E27FC236}">
                <a16:creationId xmlns:a16="http://schemas.microsoft.com/office/drawing/2014/main" id="{28F82ADA-1455-4F5E-A4A9-ED6936CA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95604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Notifications</a:t>
            </a:r>
            <a:endParaRPr sz="1200"/>
          </a:p>
        </p:txBody>
      </p:sp>
      <p:sp>
        <p:nvSpPr>
          <p:cNvPr id="29" name="Text 20">
            <a:extLst xmlns:a="http://schemas.openxmlformats.org/drawingml/2006/main">
              <a:ext uri="{FF2B5EF4-FFF2-40B4-BE49-F238E27FC236}">
                <a16:creationId xmlns:a16="http://schemas.microsoft.com/office/drawing/2014/main" id="{8C97B7FD-2FB5-4BD5-9CBE-01F7B484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23036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Cloud Messaging · SMS fallback</a:t>
            </a:r>
            <a:endParaRPr sz="950"/>
          </a:p>
        </p:txBody>
      </p:sp>
      <p:sp>
        <p:nvSpPr>
          <p:cNvPr id="30" name="Shape 21">
            <a:extLst xmlns:a="http://schemas.openxmlformats.org/drawingml/2006/main">
              <a:ext uri="{FF2B5EF4-FFF2-40B4-BE49-F238E27FC236}">
                <a16:creationId xmlns:a16="http://schemas.microsoft.com/office/drawing/2014/main" id="{CEE53AA5-3E2C-4CC9-B86D-093F2CA7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806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130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9a223e1d7641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3621" y="5927141"/>
            <a:ext cx="261518" cy="261518"/>
          </a:xfrm>
          <a:prstGeom xmlns:a="http://schemas.openxmlformats.org/drawingml/2006/main" prst="rect">
            <a:avLst/>
          </a:prstGeom>
        </p:spPr>
      </p:pic>
      <p:sp>
        <p:nvSpPr>
          <p:cNvPr id="32" name="Text 22">
            <a:extLst xmlns:a="http://schemas.openxmlformats.org/drawingml/2006/main">
              <a:ext uri="{FF2B5EF4-FFF2-40B4-BE49-F238E27FC236}">
                <a16:creationId xmlns:a16="http://schemas.microsoft.com/office/drawing/2014/main" id="{6CF29793-37F9-4B02-9882-270F21B0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5733288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AI Layer</a:t>
            </a:r>
            <a:endParaRPr sz="1200"/>
          </a:p>
        </p:txBody>
      </p:sp>
      <p:sp>
        <p:nvSpPr>
          <p:cNvPr id="33" name="Text 23">
            <a:extLst xmlns:a="http://schemas.openxmlformats.org/drawingml/2006/main">
              <a:ext uri="{FF2B5EF4-FFF2-40B4-BE49-F238E27FC236}">
                <a16:creationId xmlns:a16="http://schemas.microsoft.com/office/drawing/2014/main" id="{2AC3F9A4-F661-48C4-B0E9-A856FFEC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6007608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Python · FastAPI · scikit-learn risk scoring (rules + Isolation Forest)</a:t>
            </a:r>
            <a:endParaRPr sz="950"/>
          </a:p>
        </p:txBody>
      </p:sp>
      <p:sp>
        <p:nvSpPr>
          <p:cNvPr id="34" name="Shape 24">
            <a:extLst xmlns:a="http://schemas.openxmlformats.org/drawingml/2006/main">
              <a:ext uri="{FF2B5EF4-FFF2-40B4-BE49-F238E27FC236}">
                <a16:creationId xmlns:a16="http://schemas.microsoft.com/office/drawing/2014/main" id="{528ECE15-45E6-47BE-AE6D-71FE9E86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960" y="1188720"/>
            <a:ext cx="76169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35" name="Shape 25">
            <a:extLst xmlns:a="http://schemas.openxmlformats.org/drawingml/2006/main">
              <a:ext uri="{FF2B5EF4-FFF2-40B4-BE49-F238E27FC236}">
                <a16:creationId xmlns:a16="http://schemas.microsoft.com/office/drawing/2014/main" id="{376F4459-FB98-42DF-91BF-C0C6A769A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6" name="Text 26">
            <a:extLst xmlns:a="http://schemas.openxmlformats.org/drawingml/2006/main">
              <a:ext uri="{FF2B5EF4-FFF2-40B4-BE49-F238E27FC236}">
                <a16:creationId xmlns:a16="http://schemas.microsoft.com/office/drawing/2014/main" id="{ADEA3FCD-2990-4D58-B8D9-51D26F87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325880"/>
            <a:ext cx="7159752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ARCHITECTURE</a:t>
            </a:r>
            <a:endParaRPr sz="1300"/>
          </a:p>
        </p:txBody>
      </p:sp>
      <p:sp>
        <p:nvSpPr>
          <p:cNvPr id="37" name="Shape 27">
            <a:extLst xmlns:a="http://schemas.openxmlformats.org/drawingml/2006/main">
              <a:ext uri="{FF2B5EF4-FFF2-40B4-BE49-F238E27FC236}">
                <a16:creationId xmlns:a16="http://schemas.microsoft.com/office/drawing/2014/main" id="{8AF37FD5-B016-41C5-A9D0-CC51825D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874520"/>
            <a:ext cx="132588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38" name="Text 28">
            <a:extLst xmlns:a="http://schemas.openxmlformats.org/drawingml/2006/main">
              <a:ext uri="{FF2B5EF4-FFF2-40B4-BE49-F238E27FC236}">
                <a16:creationId xmlns:a16="http://schemas.microsoft.com/office/drawing/2014/main" id="{77D048A9-DAAC-4548-986A-0E2D488D4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9384"/>
            <a:ext cx="12344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User</a:t>
            </a:r>
            <a:endParaRPr sz="1050"/>
          </a:p>
        </p:txBody>
      </p:sp>
      <p:sp>
        <p:nvSpPr>
          <p:cNvPr id="39" name="Text 29">
            <a:extLst xmlns:a="http://schemas.openxmlformats.org/drawingml/2006/main">
              <a:ext uri="{FF2B5EF4-FFF2-40B4-BE49-F238E27FC236}">
                <a16:creationId xmlns:a16="http://schemas.microsoft.com/office/drawing/2014/main" id="{F80DF74B-1383-4E23-A2A7-D243B25E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5424" y="2203704"/>
            <a:ext cx="121615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Starts journey or triggers SOS</a:t>
            </a:r>
            <a:endParaRPr sz="800"/>
          </a:p>
        </p:txBody>
      </p:sp>
      <p:pic>
        <p:nvPicPr>
          <p:cNvPr id="139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9370ab8bf4f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0" y="19659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1" name="Shape 30">
            <a:extLst xmlns:a="http://schemas.openxmlformats.org/drawingml/2006/main">
              <a:ext uri="{FF2B5EF4-FFF2-40B4-BE49-F238E27FC236}">
                <a16:creationId xmlns:a16="http://schemas.microsoft.com/office/drawing/2014/main" id="{581B5C85-1A17-4D0A-92B7-9F382CA2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1">
            <a:extLst xmlns:a="http://schemas.openxmlformats.org/drawingml/2006/main">
              <a:ext uri="{FF2B5EF4-FFF2-40B4-BE49-F238E27FC236}">
                <a16:creationId xmlns:a16="http://schemas.microsoft.com/office/drawing/2014/main" id="{C41AC0D0-1E06-4671-BCE4-09BF23B1D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Mobile App</a:t>
            </a:r>
            <a:endParaRPr sz="1050"/>
          </a:p>
        </p:txBody>
      </p:sp>
      <p:sp>
        <p:nvSpPr>
          <p:cNvPr id="43" name="Text 32">
            <a:extLst xmlns:a="http://schemas.openxmlformats.org/drawingml/2006/main">
              <a:ext uri="{FF2B5EF4-FFF2-40B4-BE49-F238E27FC236}">
                <a16:creationId xmlns:a16="http://schemas.microsoft.com/office/drawing/2014/main" id="{05EFDD44-6AB7-4DE2-B59C-8C817078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Kotlin + Compose · foreground service</a:t>
            </a:r>
            <a:endParaRPr sz="800"/>
          </a:p>
        </p:txBody>
      </p:sp>
      <p:sp>
        <p:nvSpPr>
          <p:cNvPr id="44" name="Shape 33">
            <a:extLst xmlns:a="http://schemas.openxmlformats.org/drawingml/2006/main">
              <a:ext uri="{FF2B5EF4-FFF2-40B4-BE49-F238E27FC236}">
                <a16:creationId xmlns:a16="http://schemas.microsoft.com/office/drawing/2014/main" id="{1FA44366-BFA7-463A-87B8-BB89A26A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74520"/>
            <a:ext cx="160020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5" name="Text 34">
            <a:extLst xmlns:a="http://schemas.openxmlformats.org/drawingml/2006/main">
              <a:ext uri="{FF2B5EF4-FFF2-40B4-BE49-F238E27FC236}">
                <a16:creationId xmlns:a16="http://schemas.microsoft.com/office/drawing/2014/main" id="{B2874246-3B4F-4FAD-AD8B-CF2D76F7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29384"/>
            <a:ext cx="1508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Location / Sensor Data</a:t>
            </a:r>
            <a:endParaRPr sz="1050"/>
          </a:p>
        </p:txBody>
      </p:sp>
      <p:sp>
        <p:nvSpPr>
          <p:cNvPr id="46" name="Text 35">
            <a:extLst xmlns:a="http://schemas.openxmlformats.org/drawingml/2006/main">
              <a:ext uri="{FF2B5EF4-FFF2-40B4-BE49-F238E27FC236}">
                <a16:creationId xmlns:a16="http://schemas.microsoft.com/office/drawing/2014/main" id="{CA2134E9-6F3B-4161-B22B-A99E2BE5A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203704"/>
            <a:ext cx="149047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GPS · accelerometer · gyroscope · optional mic cue</a:t>
            </a:r>
            <a:endParaRPr sz="800"/>
          </a:p>
        </p:txBody>
      </p:sp>
      <p:sp>
        <p:nvSpPr>
          <p:cNvPr id="47" name="Shape 36">
            <a:extLst xmlns:a="http://schemas.openxmlformats.org/drawingml/2006/main">
              <a:ext uri="{FF2B5EF4-FFF2-40B4-BE49-F238E27FC236}">
                <a16:creationId xmlns:a16="http://schemas.microsoft.com/office/drawing/2014/main" id="{AD321449-E2EA-4C7F-8C12-27C2FEE2B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0" y="1874520"/>
            <a:ext cx="14630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8" name="Text 37">
            <a:extLst xmlns:a="http://schemas.openxmlformats.org/drawingml/2006/main">
              <a:ext uri="{FF2B5EF4-FFF2-40B4-BE49-F238E27FC236}">
                <a16:creationId xmlns:a16="http://schemas.microsoft.com/office/drawing/2014/main" id="{438CF45C-43BC-4CC7-B38B-9D2C9F56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929384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Backend</a:t>
            </a:r>
            <a:endParaRPr sz="1050"/>
          </a:p>
        </p:txBody>
      </p:sp>
      <p:sp>
        <p:nvSpPr>
          <p:cNvPr id="49" name="Text 38">
            <a:extLst xmlns:a="http://schemas.openxmlformats.org/drawingml/2006/main">
              <a:ext uri="{FF2B5EF4-FFF2-40B4-BE49-F238E27FC236}">
                <a16:creationId xmlns:a16="http://schemas.microsoft.com/office/drawing/2014/main" id="{7158042C-EB91-4008-8564-00CE3A6C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144" y="2203704"/>
            <a:ext cx="13533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Firebase Auth · Cloud Functions · Firestore</a:t>
            </a:r>
            <a:endParaRPr sz="800"/>
          </a:p>
        </p:txBody>
      </p:sp>
      <p:sp>
        <p:nvSpPr>
          <p:cNvPr id="50" name="Shape 39">
            <a:extLst xmlns:a="http://schemas.openxmlformats.org/drawingml/2006/main">
              <a:ext uri="{FF2B5EF4-FFF2-40B4-BE49-F238E27FC236}">
                <a16:creationId xmlns:a16="http://schemas.microsoft.com/office/drawing/2014/main" id="{2B0448AF-10A7-4BC0-B8EB-D82AF6FD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0">
            <a:extLst xmlns:a="http://schemas.openxmlformats.org/drawingml/2006/main">
              <a:ext uri="{FF2B5EF4-FFF2-40B4-BE49-F238E27FC236}">
                <a16:creationId xmlns:a16="http://schemas.microsoft.com/office/drawing/2014/main" id="{8E2B1D38-AED1-43C2-9589-749A09A78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2" name="Shape 41">
            <a:extLst xmlns:a="http://schemas.openxmlformats.org/drawingml/2006/main">
              <a:ext uri="{FF2B5EF4-FFF2-40B4-BE49-F238E27FC236}">
                <a16:creationId xmlns:a16="http://schemas.microsoft.com/office/drawing/2014/main" id="{40A2BD30-7F08-48C7-A4D9-F7631E24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08860"/>
            <a:ext cx="41148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3" name="Shape 42">
            <a:extLst xmlns:a="http://schemas.openxmlformats.org/drawingml/2006/main">
              <a:ext uri="{FF2B5EF4-FFF2-40B4-BE49-F238E27FC236}">
                <a16:creationId xmlns:a16="http://schemas.microsoft.com/office/drawing/2014/main" id="{7E6ED575-0827-46E8-9778-528CF7A53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5480" y="3246120"/>
            <a:ext cx="214884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5ECFF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4" name="Text 43">
            <a:extLst xmlns:a="http://schemas.openxmlformats.org/drawingml/2006/main">
              <a:ext uri="{FF2B5EF4-FFF2-40B4-BE49-F238E27FC236}">
                <a16:creationId xmlns:a16="http://schemas.microsoft.com/office/drawing/2014/main" id="{22D43C47-A238-4FAD-A612-BF057DE2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00984"/>
            <a:ext cx="2057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 Analysis (AI)</a:t>
            </a:r>
            <a:endParaRPr sz="1050"/>
          </a:p>
        </p:txBody>
      </p:sp>
      <p:sp>
        <p:nvSpPr>
          <p:cNvPr id="55" name="Text 44">
            <a:extLst xmlns:a="http://schemas.openxmlformats.org/drawingml/2006/main">
              <a:ext uri="{FF2B5EF4-FFF2-40B4-BE49-F238E27FC236}">
                <a16:creationId xmlns:a16="http://schemas.microsoft.com/office/drawing/2014/main" id="{4CB062CD-F9F3-446D-88C8-60286186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344" y="3575304"/>
            <a:ext cx="203911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FastAPI · risk score 0–1 from journey signals</a:t>
            </a:r>
            <a:endParaRPr sz="800"/>
          </a:p>
        </p:txBody>
      </p:sp>
      <p:sp>
        <p:nvSpPr>
          <p:cNvPr id="56" name="Shape 45">
            <a:extLst xmlns:a="http://schemas.openxmlformats.org/drawingml/2006/main">
              <a:ext uri="{FF2B5EF4-FFF2-40B4-BE49-F238E27FC236}">
                <a16:creationId xmlns:a16="http://schemas.microsoft.com/office/drawing/2014/main" id="{F2805B81-65B8-4119-8373-CEC707AC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46120"/>
            <a:ext cx="2194560" cy="86868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3235B"/>
          </a:solidFill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57" name="Text 46">
            <a:extLst xmlns:a="http://schemas.openxmlformats.org/drawingml/2006/main">
              <a:ext uri="{FF2B5EF4-FFF2-40B4-BE49-F238E27FC236}">
                <a16:creationId xmlns:a16="http://schemas.microsoft.com/office/drawing/2014/main" id="{5798A65B-D91C-4FEE-8C5B-DF51566AE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300984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Safety Engine</a:t>
            </a:r>
            <a:endParaRPr sz="1050"/>
          </a:p>
        </p:txBody>
      </p:sp>
      <p:sp>
        <p:nvSpPr>
          <p:cNvPr id="58" name="Text 47">
            <a:extLst xmlns:a="http://schemas.openxmlformats.org/drawingml/2006/main">
              <a:ext uri="{FF2B5EF4-FFF2-40B4-BE49-F238E27FC236}">
                <a16:creationId xmlns:a16="http://schemas.microsoft.com/office/drawing/2014/main" id="{E2E98811-CF83-4095-B5B4-D6610860B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4264" y="3575304"/>
            <a:ext cx="2084832" cy="4846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Rules + risk score → check-in &amp; escalation</a:t>
            </a:r>
            <a:endParaRPr sz="800"/>
          </a:p>
        </p:txBody>
      </p:sp>
      <p:sp>
        <p:nvSpPr>
          <p:cNvPr id="59" name="Shape 48">
            <a:extLst xmlns:a="http://schemas.openxmlformats.org/drawingml/2006/main">
              <a:ext uri="{FF2B5EF4-FFF2-40B4-BE49-F238E27FC236}">
                <a16:creationId xmlns:a16="http://schemas.microsoft.com/office/drawing/2014/main" id="{74F8ECDC-B085-48C8-8DF8-99DACB93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0" name="Text 49">
            <a:extLst xmlns:a="http://schemas.openxmlformats.org/drawingml/2006/main">
              <a:ext uri="{FF2B5EF4-FFF2-40B4-BE49-F238E27FC236}">
                <a16:creationId xmlns:a16="http://schemas.microsoft.com/office/drawing/2014/main" id="{965A4BFF-0916-4C21-AED1-72EDC17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246120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Trusted Contacts</a:t>
            </a:r>
            <a:endParaRPr sz="950"/>
          </a:p>
        </p:txBody>
      </p:sp>
      <p:sp>
        <p:nvSpPr>
          <p:cNvPr id="61" name="Shape 50">
            <a:extLst xmlns:a="http://schemas.openxmlformats.org/drawingml/2006/main">
              <a:ext uri="{FF2B5EF4-FFF2-40B4-BE49-F238E27FC236}">
                <a16:creationId xmlns:a16="http://schemas.microsoft.com/office/drawing/2014/main" id="{864A2A6B-5EE5-4728-9D40-C0FC864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62" name="Text 51">
            <a:extLst xmlns:a="http://schemas.openxmlformats.org/drawingml/2006/main">
              <a:ext uri="{FF2B5EF4-FFF2-40B4-BE49-F238E27FC236}">
                <a16:creationId xmlns:a16="http://schemas.microsoft.com/office/drawing/2014/main" id="{37C96095-7387-4940-9E73-A1BB329B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712464"/>
            <a:ext cx="16916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Nearby Community</a:t>
            </a:r>
            <a:endParaRPr sz="950"/>
          </a:p>
        </p:txBody>
      </p:sp>
      <p:sp>
        <p:nvSpPr>
          <p:cNvPr id="63" name="Shape 52">
            <a:extLst xmlns:a="http://schemas.openxmlformats.org/drawingml/2006/main">
              <a:ext uri="{FF2B5EF4-FFF2-40B4-BE49-F238E27FC236}">
                <a16:creationId xmlns:a16="http://schemas.microsoft.com/office/drawing/2014/main" id="{584A4758-9CCE-4277-AA7B-65E854968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4" name="Shape 53">
            <a:extLst xmlns:a="http://schemas.openxmlformats.org/drawingml/2006/main">
              <a:ext uri="{FF2B5EF4-FFF2-40B4-BE49-F238E27FC236}">
                <a16:creationId xmlns:a16="http://schemas.microsoft.com/office/drawing/2014/main" id="{E88D0760-7525-446D-B728-F9FF923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823960" y="3680460"/>
            <a:ext cx="731520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5" name="Shape 54">
            <a:extLst xmlns:a="http://schemas.openxmlformats.org/drawingml/2006/main">
              <a:ext uri="{FF2B5EF4-FFF2-40B4-BE49-F238E27FC236}">
                <a16:creationId xmlns:a16="http://schemas.microsoft.com/office/drawing/2014/main" id="{B2B9D02D-6B50-49CC-B701-69FE4074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6172200" y="3447288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6" name="Shape 55">
            <a:extLst xmlns:a="http://schemas.openxmlformats.org/drawingml/2006/main">
              <a:ext uri="{FF2B5EF4-FFF2-40B4-BE49-F238E27FC236}">
                <a16:creationId xmlns:a16="http://schemas.microsoft.com/office/drawing/2014/main" id="{7BFBFA59-4EE5-46F8-9D8A-1E23FE8A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172200" y="3840480"/>
            <a:ext cx="457200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B3122E"/>
            </a:solidFill>
            <a:prstDash val="solid"/>
            <a:tailEnd type="triangle"/>
          </a:ln>
        </p:spPr>
      </p:sp>
      <p:sp>
        <p:nvSpPr>
          <p:cNvPr id="67" name="Shape 56">
            <a:extLst xmlns:a="http://schemas.openxmlformats.org/drawingml/2006/main">
              <a:ext uri="{FF2B5EF4-FFF2-40B4-BE49-F238E27FC236}">
                <a16:creationId xmlns:a16="http://schemas.microsoft.com/office/drawing/2014/main" id="{B5345BCC-F99B-437A-8661-FDD32091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743200"/>
            <a:ext cx="914" cy="50292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3122E"/>
            </a:solidFill>
            <a:prstDash val="dash"/>
            <a:tailEnd type="triangle"/>
          </a:ln>
        </p:spPr>
      </p:sp>
      <p:sp>
        <p:nvSpPr>
          <p:cNvPr id="68" name="Text 57">
            <a:extLst xmlns:a="http://schemas.openxmlformats.org/drawingml/2006/main">
              <a:ext uri="{FF2B5EF4-FFF2-40B4-BE49-F238E27FC236}">
                <a16:creationId xmlns:a16="http://schemas.microsoft.com/office/drawing/2014/main" id="{0217D9EC-E26D-4100-AAC4-54B0D0CF0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61488"/>
            <a:ext cx="21945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Direct SOS (tap / shake / voice)</a:t>
            </a:r>
            <a:endParaRPr sz="750"/>
          </a:p>
        </p:txBody>
      </p:sp>
      <p:sp>
        <p:nvSpPr>
          <p:cNvPr id="69" name="Text 58">
            <a:extLst xmlns:a="http://schemas.openxmlformats.org/drawingml/2006/main">
              <a:ext uri="{FF2B5EF4-FFF2-40B4-BE49-F238E27FC236}">
                <a16:creationId xmlns:a16="http://schemas.microsoft.com/office/drawing/2014/main" id="{C2A893A9-3F18-4E9A-82E8-724814ED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142232"/>
            <a:ext cx="1691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50">
                <a:solidFill>
                  <a:srgbClr val="5A6478"/>
                </a:solidFill>
                <a:latin typeface="Arial"/>
                <a:ea typeface="Arial"/>
                <a:cs typeface="Arial"/>
              </a:rPr>
              <a:t>Coarse alert · 112 / security / witness</a:t>
            </a:r>
            <a:endParaRPr sz="750"/>
          </a:p>
        </p:txBody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B08F1AAB-E5F0-4A29-9120-CB7AFBE84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434840"/>
            <a:ext cx="4572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SAFETY ENGINE — ESCALATION LADDER</a:t>
            </a:r>
            <a:endParaRPr sz="10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B6CEFBB1-4489-44F6-BD01-072565C5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4736592"/>
            <a:ext cx="1828800" cy="713232"/>
          </a:xfrm>
          <a:prstGeom xmlns:a="http://schemas.openxmlformats.org/drawingml/2006/main" prst="homePlate">
            <a:avLst/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72" name="Text 61">
            <a:extLst xmlns:a="http://schemas.openxmlformats.org/drawingml/2006/main">
              <a:ext uri="{FF2B5EF4-FFF2-40B4-BE49-F238E27FC236}">
                <a16:creationId xmlns:a16="http://schemas.microsoft.com/office/drawing/2014/main" id="{38FCD9B8-F3CF-4D95-8B13-73B026653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L1  “Are you safe?”</a:t>
            </a:r>
            <a:endParaRPr sz="1050"/>
          </a:p>
        </p:txBody>
      </p:sp>
      <p:sp>
        <p:nvSpPr>
          <p:cNvPr id="73" name="Text 62">
            <a:extLst xmlns:a="http://schemas.openxmlformats.org/drawingml/2006/main">
              <a:ext uri="{FF2B5EF4-FFF2-40B4-BE49-F238E27FC236}">
                <a16:creationId xmlns:a16="http://schemas.microsoft.com/office/drawing/2014/main" id="{1D476F85-E2EF-421F-B7DF-97FEB8E6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86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Silent prompt · 30 s · safe PIN</a:t>
            </a:r>
            <a:endParaRPr sz="850"/>
          </a:p>
        </p:txBody>
      </p:sp>
      <p:sp>
        <p:nvSpPr>
          <p:cNvPr id="74" name="Shape 63">
            <a:extLst xmlns:a="http://schemas.openxmlformats.org/drawingml/2006/main">
              <a:ext uri="{FF2B5EF4-FFF2-40B4-BE49-F238E27FC236}">
                <a16:creationId xmlns:a16="http://schemas.microsoft.com/office/drawing/2014/main" id="{BFAD89D1-8F2B-431C-8A24-D81D015B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E8820C"/>
          </a:solidFill>
          <a:ln xmlns:a="http://schemas.openxmlformats.org/drawingml/2006/main" w="12700">
            <a:solidFill>
              <a:srgbClr val="E8820C"/>
            </a:solidFill>
            <a:prstDash val="solid"/>
          </a:ln>
        </p:spPr>
      </p:sp>
      <p:sp>
        <p:nvSpPr>
          <p:cNvPr id="75" name="Text 64">
            <a:extLst xmlns:a="http://schemas.openxmlformats.org/drawingml/2006/main">
              <a:ext uri="{FF2B5EF4-FFF2-40B4-BE49-F238E27FC236}">
                <a16:creationId xmlns:a16="http://schemas.microsoft.com/office/drawing/2014/main" id="{2146B5CA-EAF3-4014-9575-050523CB0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L2  Alert guardians</a:t>
            </a:r>
            <a:endParaRPr sz="1050"/>
          </a:p>
        </p:txBody>
      </p:sp>
      <p:sp>
        <p:nvSpPr>
          <p:cNvPr id="76" name="Text 65">
            <a:extLst xmlns:a="http://schemas.openxmlformats.org/drawingml/2006/main">
              <a:ext uri="{FF2B5EF4-FFF2-40B4-BE49-F238E27FC236}">
                <a16:creationId xmlns:a16="http://schemas.microsoft.com/office/drawing/2014/main" id="{92632D2E-BEDD-4CA3-9E7B-A2A74C75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Push + SMS + live location link</a:t>
            </a:r>
            <a:endParaRPr sz="850"/>
          </a:p>
        </p:txBody>
      </p:sp>
      <p:sp>
        <p:nvSpPr>
          <p:cNvPr id="77" name="Shape 66">
            <a:extLst xmlns:a="http://schemas.openxmlformats.org/drawingml/2006/main">
              <a:ext uri="{FF2B5EF4-FFF2-40B4-BE49-F238E27FC236}">
                <a16:creationId xmlns:a16="http://schemas.microsoft.com/office/drawing/2014/main" id="{A4919A7E-7C2B-4515-9684-36AD2856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78" name="Text 67">
            <a:extLst xmlns:a="http://schemas.openxmlformats.org/drawingml/2006/main">
              <a:ext uri="{FF2B5EF4-FFF2-40B4-BE49-F238E27FC236}">
                <a16:creationId xmlns:a16="http://schemas.microsoft.com/office/drawing/2014/main" id="{CE98F79E-3CE0-4E98-A4A1-52577A6F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4773168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L3  Emergency mode</a:t>
            </a:r>
            <a:endParaRPr sz="1050"/>
          </a:p>
        </p:txBody>
      </p:sp>
      <p:sp>
        <p:nvSpPr>
          <p:cNvPr id="79" name="Text 68">
            <a:extLst xmlns:a="http://schemas.openxmlformats.org/drawingml/2006/main">
              <a:ext uri="{FF2B5EF4-FFF2-40B4-BE49-F238E27FC236}">
                <a16:creationId xmlns:a16="http://schemas.microsoft.com/office/drawing/2014/main" id="{7829B6F8-A4DD-4EED-8CFA-C4FCFC9E6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6740" y="5065776"/>
            <a:ext cx="154305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Siren · call chain · one-tap 112</a:t>
            </a:r>
            <a:endParaRPr sz="850"/>
          </a:p>
        </p:txBody>
      </p:sp>
      <p:sp>
        <p:nvSpPr>
          <p:cNvPr id="80" name="Shape 69">
            <a:extLst xmlns:a="http://schemas.openxmlformats.org/drawingml/2006/main">
              <a:ext uri="{FF2B5EF4-FFF2-40B4-BE49-F238E27FC236}">
                <a16:creationId xmlns:a16="http://schemas.microsoft.com/office/drawing/2014/main" id="{D63A63B0-7114-41E3-9AB5-EEE03DE0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0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c493574b0d49d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90288" y="585216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82" name="Text 70">
            <a:extLst xmlns:a="http://schemas.openxmlformats.org/drawingml/2006/main">
              <a:ext uri="{FF2B5EF4-FFF2-40B4-BE49-F238E27FC236}">
                <a16:creationId xmlns:a16="http://schemas.microsoft.com/office/drawing/2014/main" id="{6358BD09-4600-4FFA-9DE8-E47A14E0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Privacy by design: location shared only during journey/SOS · TLS · Firestore rules · auto-delete history · nearby alerts hide exact address + identity.</a:t>
            </a:r>
            <a:endParaRPr sz="850"/>
          </a:p>
        </p:txBody>
      </p:sp>
      <p:sp>
        <p:nvSpPr>
          <p:cNvPr id="83" name="Shape 71">
            <a:extLst xmlns:a="http://schemas.openxmlformats.org/drawingml/2006/main">
              <a:ext uri="{FF2B5EF4-FFF2-40B4-BE49-F238E27FC236}">
                <a16:creationId xmlns:a16="http://schemas.microsoft.com/office/drawing/2014/main" id="{84E2965C-CBF8-4B47-B553-91ADFE5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80" y="5650992"/>
            <a:ext cx="3520440" cy="73152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8C8E0"/>
            </a:solidFill>
            <a:prstDash val="solid"/>
          </a:ln>
        </p:spPr>
      </p:sp>
      <p:pic>
        <p:nvPicPr>
          <p:cNvPr id="183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a2a28178564e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93608" y="5852160"/>
            <a:ext cx="292608" cy="292608"/>
          </a:xfrm>
          <a:prstGeom xmlns:a="http://schemas.openxmlformats.org/drawingml/2006/main" prst="rect">
            <a:avLst/>
          </a:prstGeom>
        </p:spPr>
      </p:pic>
      <p:sp>
        <p:nvSpPr>
          <p:cNvPr id="85" name="Text 72">
            <a:extLst xmlns:a="http://schemas.openxmlformats.org/drawingml/2006/main">
              <a:ext uri="{FF2B5EF4-FFF2-40B4-BE49-F238E27FC236}">
                <a16:creationId xmlns:a16="http://schemas.microsoft.com/office/drawing/2014/main" id="{8586B0CF-0F62-4F45-A3B8-E130EE10F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650992"/>
            <a:ext cx="292608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Offline fallback: SMS with last-known location; queue and retry uploads when data returns.</a:t>
            </a:r>
            <a:endParaRPr sz="850"/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4D87B32-0A55-4FF6-8D27-C91F5A1C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8380" y="4736592"/>
            <a:ext cx="1828800" cy="713232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6D1023"/>
          </a:solidFill>
          <a:ln xmlns:a="http://schemas.openxmlformats.org/drawingml/2006/main" w="9525">
            <a:solidFill>
              <a:srgbClr val="6D1023"/>
            </a:solidFill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F7226AB-722C-4C28-BB79-C93D3BB2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4773168"/>
            <a:ext cx="15240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703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L4  Community SOS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FC0DBFC-AC0C-48E5-969C-85E68223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5065776"/>
            <a:ext cx="1562100" cy="3108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370"/>
          </a:bodyPr>
          <a:lstStyle xmlns:a="http://schemas.openxmlformats.org/drawingml/2006/main"/>
          <a:p xmlns:a="http://schemas.openxmlformats.org/drawingml/2006/main">
            <a:pPr>
              <a:defRPr sz="788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FFFFFF"/>
                </a:solidFill>
                <a:latin typeface="Arial"/>
                <a:ea typeface="Arial"/>
                <a:cs typeface="Arial"/>
              </a:rPr>
              <a:t>Anonymized · ~200 m · optional 10–15s audio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CD9535-E101-4ECE-BC65-C6E8109D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410216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300CCE3-E1EE-426D-8099-99FDF968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1E556E-96A2-4D4F-80C2-E3F3460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AE873F5-B6DC-4C24-891F-49F6EF72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FEASIBILITY, SHOWSTOPPERS &amp; USP</a:t>
            </a:r>
            <a:endParaRPr sz="2800"/>
          </a:p>
        </p:txBody>
      </p:sp>
      <p:pic>
        <p:nvPicPr>
          <p:cNvPr id="10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79623185404f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10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ee97ec7eda4a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895BE568-87A0-4CDD-9490-0D52F5CE8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5806440" cy="3108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AC607FBD-02C8-466F-A1AA-E1B58683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8C3B0024-6A9A-4C4F-922F-704DBD5FB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F4E52504-C75B-4841-9AB4-AE43C809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B44B7557-4411-4CB7-80BC-DCB087A8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TECHNICAL</a:t>
            </a:r>
            <a:endParaRPr sz="900"/>
          </a:p>
        </p:txBody>
      </p:sp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617CE006-E44C-4948-BEAF-3DCEA22E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Mature Android APIs: GPS, sensors, geofencing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= auth, DB &amp; push with no server setup</a:t>
            </a:r>
            <a:endParaRPr sz="950"/>
          </a:p>
        </p:txBody>
      </p:sp>
      <p:sp>
        <p:nvSpPr>
          <p:cNvPr id="13" name="Shape 9">
            <a:extLst xmlns:a="http://schemas.openxmlformats.org/drawingml/2006/main">
              <a:ext uri="{FF2B5EF4-FFF2-40B4-BE49-F238E27FC236}">
                <a16:creationId xmlns:a16="http://schemas.microsoft.com/office/drawing/2014/main" id="{FB5151CD-C932-47D1-9D6B-B4C26640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9FE3F3BF-BC00-4945-B799-54FF79EB4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8308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ECONOMIC</a:t>
            </a:r>
            <a:endParaRPr sz="900"/>
          </a:p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9B766E79-C248-45C9-83B3-C4B3229B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11226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Runs on existing smartphones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No extra hardware · free-tier cloud &amp; Maps credits</a:t>
            </a:r>
            <a:endParaRPr sz="950"/>
          </a:p>
        </p:txBody>
      </p:sp>
      <p:sp>
        <p:nvSpPr>
          <p:cNvPr id="16" name="Shape 12">
            <a:extLst xmlns:a="http://schemas.openxmlformats.org/drawingml/2006/main">
              <a:ext uri="{FF2B5EF4-FFF2-40B4-BE49-F238E27FC236}">
                <a16:creationId xmlns:a16="http://schemas.microsoft.com/office/drawing/2014/main" id="{85A739CB-BC6F-4E50-A941-24C81E1E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DB8201B8-D5EA-478C-BDF5-C5F8245D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17520"/>
            <a:ext cx="1417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SCOPE</a:t>
            </a:r>
            <a:endParaRPr sz="900"/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C5809AB-169A-4143-8B1F-514B2A7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Lightweight risk score: rules + Isolation Forest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Trained &amp; demoed on simulated journeys</a:t>
            </a:r>
            <a:endParaRPr sz="950"/>
          </a:p>
        </p:txBody>
      </p:sp>
      <p:sp>
        <p:nvSpPr>
          <p:cNvPr id="19" name="Shape 15">
            <a:extLst xmlns:a="http://schemas.openxmlformats.org/drawingml/2006/main">
              <a:ext uri="{FF2B5EF4-FFF2-40B4-BE49-F238E27FC236}">
                <a16:creationId xmlns:a16="http://schemas.microsoft.com/office/drawing/2014/main" id="{1B4B35C8-A8DA-47F4-92F4-58529A8E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4A90E2"/>
          </a:solidFill>
          <a:ln xmlns:a="http://schemas.openxmlformats.org/drawingml/2006/main" w="12700">
            <a:solidFill>
              <a:srgbClr val="4A90E2"/>
            </a:solidFill>
            <a:prstDash val="solid"/>
          </a:ln>
        </p:spPr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1B06B4AB-A53A-4BB1-BE59-9F93EA17E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017520"/>
            <a:ext cx="2103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HACKATHON BUILD PLAN</a:t>
            </a:r>
            <a:endParaRPr sz="900"/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53A51543-E8C1-4A3F-94C0-B5E9EDDE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3346704"/>
            <a:ext cx="2606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3 modules: SOS core → Journey monitor → Risk &amp; escalation</a:t>
            </a:r>
            <a:endParaRPr sz="950"/>
          </a:p>
          <a:p xmlns:a="http://schemas.openxmlformats.org/drawingml/2006/main">
            <a:pPr marL="342900" indent="-342900">
              <a:spcAft>
                <a:spcPts val="300"/>
              </a:spcAft>
              <a:buSzPct val="100000"/>
              <a:buChar char="•"/>
            </a:pP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4 members build in parallel</a:t>
            </a:r>
            <a:endParaRPr sz="950"/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4B0BE0A0-6CAD-4F11-93C8-86A33004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688" y="1783080"/>
            <a:ext cx="0" cy="23774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36B6E09-DFAD-4845-8B31-3C13297D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71800"/>
            <a:ext cx="5440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3235B"/>
            </a:solidFill>
            <a:prstDash val="solid"/>
          </a:ln>
        </p:spPr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8289B8E-6875-41F1-B5E1-68E94CDF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4434840"/>
            <a:ext cx="5806440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13D3D09E-7C0F-4573-A5B9-F4B8CC52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DA980F2-9FFD-4B30-938C-C8FC7C6C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44568"/>
            <a:ext cx="54406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USP (UNIQUE SELLING POINT)</a:t>
            </a:r>
            <a:endParaRPr sz="1300"/>
          </a:p>
        </p:txBody>
      </p:sp>
      <p:sp>
        <p:nvSpPr>
          <p:cNvPr id="27" name="Shape 23">
            <a:extLst xmlns:a="http://schemas.openxmlformats.org/drawingml/2006/main">
              <a:ext uri="{FF2B5EF4-FFF2-40B4-BE49-F238E27FC236}">
                <a16:creationId xmlns:a16="http://schemas.microsoft.com/office/drawing/2014/main" id="{F88B7B45-54BD-4DBA-A41F-850A3D8C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28" name="Shape 24">
            <a:extLst xmlns:a="http://schemas.openxmlformats.org/drawingml/2006/main">
              <a:ext uri="{FF2B5EF4-FFF2-40B4-BE49-F238E27FC236}">
                <a16:creationId xmlns:a16="http://schemas.microsoft.com/office/drawing/2014/main" id="{7995B7F5-7BA4-4221-976F-FDA15909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48acda955e45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2728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56DE28D1-7572-4AFE-99D0-A99C9F86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Proactive, not only reactive</a:t>
            </a:r>
            <a:endParaRPr sz="950"/>
          </a:p>
        </p:txBody>
      </p:sp>
      <p:sp>
        <p:nvSpPr>
          <p:cNvPr id="31" name="Text 26">
            <a:extLst xmlns:a="http://schemas.openxmlformats.org/drawingml/2006/main">
              <a:ext uri="{FF2B5EF4-FFF2-40B4-BE49-F238E27FC236}">
                <a16:creationId xmlns:a16="http://schemas.microsoft.com/office/drawing/2014/main" id="{B188D03C-D844-4DC2-AA61-B042E503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72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Watches the journey, not just waits for a button</a:t>
            </a:r>
            <a:endParaRPr sz="800"/>
          </a:p>
        </p:txBody>
      </p:sp>
      <p:sp>
        <p:nvSpPr>
          <p:cNvPr id="32" name="Shape 27">
            <a:extLst xmlns:a="http://schemas.openxmlformats.org/drawingml/2006/main">
              <a:ext uri="{FF2B5EF4-FFF2-40B4-BE49-F238E27FC236}">
                <a16:creationId xmlns:a16="http://schemas.microsoft.com/office/drawing/2014/main" id="{427B50C1-F82D-4ADC-A8FC-6DB3CAD3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0008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3" name="Shape 28">
            <a:extLst xmlns:a="http://schemas.openxmlformats.org/drawingml/2006/main">
              <a:ext uri="{FF2B5EF4-FFF2-40B4-BE49-F238E27FC236}">
                <a16:creationId xmlns:a16="http://schemas.microsoft.com/office/drawing/2014/main" id="{246A71D8-09D8-4B55-A873-298E2C2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088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d32abd305a48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099816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5" name="Text 29">
            <a:extLst xmlns:a="http://schemas.openxmlformats.org/drawingml/2006/main">
              <a:ext uri="{FF2B5EF4-FFF2-40B4-BE49-F238E27FC236}">
                <a16:creationId xmlns:a16="http://schemas.microsoft.com/office/drawing/2014/main" id="{BDE079C1-AC73-4EBD-A22D-5ADE16082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Multi-signal monitoring</a:t>
            </a:r>
            <a:endParaRPr sz="950"/>
          </a:p>
        </p:txBody>
      </p:sp>
      <p:sp>
        <p:nvSpPr>
          <p:cNvPr id="36" name="Text 30">
            <a:extLst xmlns:a="http://schemas.openxmlformats.org/drawingml/2006/main">
              <a:ext uri="{FF2B5EF4-FFF2-40B4-BE49-F238E27FC236}">
                <a16:creationId xmlns:a16="http://schemas.microsoft.com/office/drawing/2014/main" id="{370B4FA4-08BF-4296-86DA-CE4B8F1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Route, stops, ETA, timer &amp; motion combined</a:t>
            </a:r>
            <a:endParaRPr sz="800"/>
          </a:p>
        </p:txBody>
      </p:sp>
      <p:sp>
        <p:nvSpPr>
          <p:cNvPr id="37" name="Shape 31">
            <a:extLst xmlns:a="http://schemas.openxmlformats.org/drawingml/2006/main">
              <a:ext uri="{FF2B5EF4-FFF2-40B4-BE49-F238E27FC236}">
                <a16:creationId xmlns:a16="http://schemas.microsoft.com/office/drawing/2014/main" id="{C4FD047D-F19A-43AB-9BB6-6F64736B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7096" y="5001768"/>
            <a:ext cx="1737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2B8C0"/>
            </a:solidFill>
            <a:prstDash val="solid"/>
          </a:ln>
        </p:spPr>
      </p:sp>
      <p:sp>
        <p:nvSpPr>
          <p:cNvPr id="38" name="Shape 32">
            <a:extLst xmlns:a="http://schemas.openxmlformats.org/drawingml/2006/main">
              <a:ext uri="{FF2B5EF4-FFF2-40B4-BE49-F238E27FC236}">
                <a16:creationId xmlns:a16="http://schemas.microsoft.com/office/drawing/2014/main" id="{1DA71C88-0D0F-4AED-8D42-263FCEDAB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7176" y="507492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9FA"/>
          </a:solidFill>
          <a:ln xmlns:a="http://schemas.openxmlformats.org/drawingml/2006/main" w="19050">
            <a:solidFill>
              <a:srgbClr val="DCE9FA"/>
            </a:solidFill>
            <a:prstDash val="solid"/>
          </a:ln>
        </p:spPr>
      </p:sp>
      <p:pic>
        <p:nvPicPr>
          <p:cNvPr id="14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e6dbe69d94b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46904" y="51846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40" name="Text 33">
            <a:extLst xmlns:a="http://schemas.openxmlformats.org/drawingml/2006/main">
              <a:ext uri="{FF2B5EF4-FFF2-40B4-BE49-F238E27FC236}">
                <a16:creationId xmlns:a16="http://schemas.microsoft.com/office/drawing/2014/main" id="{D4CAD7BB-9D28-4DD6-B03E-D9CBE24D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550408"/>
            <a:ext cx="159105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B3122E"/>
                </a:solidFill>
                <a:latin typeface="Arial"/>
                <a:ea typeface="Arial"/>
                <a:cs typeface="Arial"/>
              </a:rPr>
              <a:t>Misuse-resistant design</a:t>
            </a:r>
            <a:endParaRPr sz="950"/>
          </a:p>
        </p:txBody>
      </p:sp>
      <p:sp>
        <p:nvSpPr>
          <p:cNvPr id="41" name="Text 34">
            <a:extLst xmlns:a="http://schemas.openxmlformats.org/drawingml/2006/main">
              <a:ext uri="{FF2B5EF4-FFF2-40B4-BE49-F238E27FC236}">
                <a16:creationId xmlns:a16="http://schemas.microsoft.com/office/drawing/2014/main" id="{534CB071-4267-4F3E-8AA7-086D617D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248" y="5907024"/>
            <a:ext cx="15910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A6478"/>
                </a:solidFill>
                <a:latin typeface="Arial"/>
                <a:ea typeface="Arial"/>
                <a:cs typeface="Arial"/>
              </a:rPr>
              <a:t>Anonymized alerts · rate limits · audit trails</a:t>
            </a:r>
            <a:endParaRPr sz="800"/>
          </a:p>
        </p:txBody>
      </p:sp>
      <p:sp>
        <p:nvSpPr>
          <p:cNvPr id="42" name="Shape 35">
            <a:extLst xmlns:a="http://schemas.openxmlformats.org/drawingml/2006/main">
              <a:ext uri="{FF2B5EF4-FFF2-40B4-BE49-F238E27FC236}">
                <a16:creationId xmlns:a16="http://schemas.microsoft.com/office/drawing/2014/main" id="{82E06AAC-2AA0-4971-BFE0-DBB09773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188720"/>
            <a:ext cx="555955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3" name="Shape 36">
            <a:extLst xmlns:a="http://schemas.openxmlformats.org/drawingml/2006/main">
              <a:ext uri="{FF2B5EF4-FFF2-40B4-BE49-F238E27FC236}">
                <a16:creationId xmlns:a16="http://schemas.microsoft.com/office/drawing/2014/main" id="{707656E9-18CB-4707-AC46-88119E5B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4" name="Text 37">
            <a:extLst xmlns:a="http://schemas.openxmlformats.org/drawingml/2006/main">
              <a:ext uri="{FF2B5EF4-FFF2-40B4-BE49-F238E27FC236}">
                <a16:creationId xmlns:a16="http://schemas.microsoft.com/office/drawing/2014/main" id="{99F3E779-3F21-453B-9099-F1195558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298448"/>
            <a:ext cx="519379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SHOWSTOPPERS &amp; MITIGATION</a:t>
            </a:r>
            <a:endParaRPr sz="1300"/>
          </a:p>
        </p:txBody>
      </p:sp>
      <p:sp>
        <p:nvSpPr>
          <p:cNvPr id="45" name="Text 38">
            <a:extLst xmlns:a="http://schemas.openxmlformats.org/drawingml/2006/main">
              <a:ext uri="{FF2B5EF4-FFF2-40B4-BE49-F238E27FC236}">
                <a16:creationId xmlns:a16="http://schemas.microsoft.com/office/drawing/2014/main" id="{823FEFC2-9473-4747-9626-55B8B0B58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19072"/>
            <a:ext cx="2103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RISK</a:t>
            </a:r>
            <a:endParaRPr sz="1100"/>
          </a:p>
        </p:txBody>
      </p:sp>
      <p:sp>
        <p:nvSpPr>
          <p:cNvPr id="46" name="Text 39">
            <a:extLst xmlns:a="http://schemas.openxmlformats.org/drawingml/2006/main">
              <a:ext uri="{FF2B5EF4-FFF2-40B4-BE49-F238E27FC236}">
                <a16:creationId xmlns:a16="http://schemas.microsoft.com/office/drawing/2014/main" id="{1F22CB52-DCCB-4FBC-891D-2E525965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1719072"/>
            <a:ext cx="267919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MITIGATION</a:t>
            </a:r>
            <a:endParaRPr sz="1100"/>
          </a:p>
        </p:txBody>
      </p:sp>
      <p:sp>
        <p:nvSpPr>
          <p:cNvPr id="47" name="Shape 40">
            <a:extLst xmlns:a="http://schemas.openxmlformats.org/drawingml/2006/main">
              <a:ext uri="{FF2B5EF4-FFF2-40B4-BE49-F238E27FC236}">
                <a16:creationId xmlns:a16="http://schemas.microsoft.com/office/drawing/2014/main" id="{8711E228-9B51-4BA2-A6A9-0F16A0777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2996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49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53247f9aa4a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1488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49" name="Text 41">
            <a:extLst xmlns:a="http://schemas.openxmlformats.org/drawingml/2006/main">
              <a:ext uri="{FF2B5EF4-FFF2-40B4-BE49-F238E27FC236}">
                <a16:creationId xmlns:a16="http://schemas.microsoft.com/office/drawing/2014/main" id="{D5B9F4DD-26B2-45E5-9AF2-B29A20D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02996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GPS inaccuracy</a:t>
            </a:r>
            <a:endParaRPr sz="950"/>
          </a:p>
        </p:txBody>
      </p:sp>
      <p:sp>
        <p:nvSpPr>
          <p:cNvPr id="50" name="Shape 42">
            <a:extLst xmlns:a="http://schemas.openxmlformats.org/drawingml/2006/main">
              <a:ext uri="{FF2B5EF4-FFF2-40B4-BE49-F238E27FC236}">
                <a16:creationId xmlns:a16="http://schemas.microsoft.com/office/drawing/2014/main" id="{73935FBE-EBBE-4430-9BBD-4DE0C9B5E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27685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1" name="Shape 43">
            <a:extLst xmlns:a="http://schemas.openxmlformats.org/drawingml/2006/main">
              <a:ext uri="{FF2B5EF4-FFF2-40B4-BE49-F238E27FC236}">
                <a16:creationId xmlns:a16="http://schemas.microsoft.com/office/drawing/2014/main" id="{61B0CA0C-1959-41EB-A73F-9C9E006B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02996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2" name="Text 44">
            <a:extLst xmlns:a="http://schemas.openxmlformats.org/drawingml/2006/main">
              <a:ext uri="{FF2B5EF4-FFF2-40B4-BE49-F238E27FC236}">
                <a16:creationId xmlns:a16="http://schemas.microsoft.com/office/drawing/2014/main" id="{63737550-6A07-48FB-A962-E4BCF959F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02996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Accuracy filter + route buffer; confirm over several points</a:t>
            </a:r>
            <a:endParaRPr sz="850"/>
          </a:p>
        </p:txBody>
      </p:sp>
      <p:sp>
        <p:nvSpPr>
          <p:cNvPr id="53" name="Shape 45">
            <a:extLst xmlns:a="http://schemas.openxmlformats.org/drawingml/2006/main">
              <a:ext uri="{FF2B5EF4-FFF2-40B4-BE49-F238E27FC236}">
                <a16:creationId xmlns:a16="http://schemas.microsoft.com/office/drawing/2014/main" id="{B8966832-53ED-4886-9DAC-22F56A8E0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61518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55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7ac2fcc244f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273405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55" name="Text 46">
            <a:extLst xmlns:a="http://schemas.openxmlformats.org/drawingml/2006/main">
              <a:ext uri="{FF2B5EF4-FFF2-40B4-BE49-F238E27FC236}">
                <a16:creationId xmlns:a16="http://schemas.microsoft.com/office/drawing/2014/main" id="{38F4ACE8-AC2B-4EFF-9CC6-5B48ADD1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261518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False alarms</a:t>
            </a:r>
            <a:endParaRPr sz="950"/>
          </a:p>
        </p:txBody>
      </p:sp>
      <p:sp>
        <p:nvSpPr>
          <p:cNvPr id="56" name="Shape 47">
            <a:extLst xmlns:a="http://schemas.openxmlformats.org/drawingml/2006/main">
              <a:ext uri="{FF2B5EF4-FFF2-40B4-BE49-F238E27FC236}">
                <a16:creationId xmlns:a16="http://schemas.microsoft.com/office/drawing/2014/main" id="{57CD93E6-4F64-441E-BCCC-DECA4E8E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286207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57" name="Shape 48">
            <a:extLst xmlns:a="http://schemas.openxmlformats.org/drawingml/2006/main">
              <a:ext uri="{FF2B5EF4-FFF2-40B4-BE49-F238E27FC236}">
                <a16:creationId xmlns:a16="http://schemas.microsoft.com/office/drawing/2014/main" id="{1DE7BCD4-0931-4FAE-91EB-9B26F1F8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261518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58" name="Text 49">
            <a:extLst xmlns:a="http://schemas.openxmlformats.org/drawingml/2006/main">
              <a:ext uri="{FF2B5EF4-FFF2-40B4-BE49-F238E27FC236}">
                <a16:creationId xmlns:a16="http://schemas.microsoft.com/office/drawing/2014/main" id="{05F5F2F0-CA49-4044-9C57-D6A69DD0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61518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Check-in + cancel window + safe PIN; no public accusation feed or identity display</a:t>
            </a:r>
            <a:endParaRPr sz="850"/>
          </a:p>
        </p:txBody>
      </p:sp>
      <p:sp>
        <p:nvSpPr>
          <p:cNvPr id="59" name="Shape 50">
            <a:extLst xmlns:a="http://schemas.openxmlformats.org/drawingml/2006/main">
              <a:ext uri="{FF2B5EF4-FFF2-40B4-BE49-F238E27FC236}">
                <a16:creationId xmlns:a16="http://schemas.microsoft.com/office/drawing/2014/main" id="{2A451D1A-0256-4491-B75B-8889DB49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1" name="Imag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cf199c6354f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31927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1" name="Text 51">
            <a:extLst xmlns:a="http://schemas.openxmlformats.org/drawingml/2006/main">
              <a:ext uri="{FF2B5EF4-FFF2-40B4-BE49-F238E27FC236}">
                <a16:creationId xmlns:a16="http://schemas.microsoft.com/office/drawing/2014/main" id="{05EEF49D-7917-45AE-8538-E4A159EF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200400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Poor network</a:t>
            </a:r>
            <a:endParaRPr sz="950"/>
          </a:p>
        </p:txBody>
      </p:sp>
      <p:sp>
        <p:nvSpPr>
          <p:cNvPr id="62" name="Shape 52">
            <a:extLst xmlns:a="http://schemas.openxmlformats.org/drawingml/2006/main">
              <a:ext uri="{FF2B5EF4-FFF2-40B4-BE49-F238E27FC236}">
                <a16:creationId xmlns:a16="http://schemas.microsoft.com/office/drawing/2014/main" id="{F95ACDF5-534F-4EA4-996E-27A52C08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3447288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3" name="Shape 53">
            <a:extLst xmlns:a="http://schemas.openxmlformats.org/drawingml/2006/main">
              <a:ext uri="{FF2B5EF4-FFF2-40B4-BE49-F238E27FC236}">
                <a16:creationId xmlns:a16="http://schemas.microsoft.com/office/drawing/2014/main" id="{A71C55D8-7DFF-417F-90E6-6B81072B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200400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64" name="Text 54">
            <a:extLst xmlns:a="http://schemas.openxmlformats.org/drawingml/2006/main">
              <a:ext uri="{FF2B5EF4-FFF2-40B4-BE49-F238E27FC236}">
                <a16:creationId xmlns:a16="http://schemas.microsoft.com/office/drawing/2014/main" id="{7AFF6F0B-E1CA-4E6F-84BB-1A17A1B7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200400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SMS fallback with last location; queue &amp; retry</a:t>
            </a:r>
            <a:endParaRPr sz="850"/>
          </a:p>
        </p:txBody>
      </p:sp>
      <p:sp>
        <p:nvSpPr>
          <p:cNvPr id="65" name="Shape 55">
            <a:extLst xmlns:a="http://schemas.openxmlformats.org/drawingml/2006/main">
              <a:ext uri="{FF2B5EF4-FFF2-40B4-BE49-F238E27FC236}">
                <a16:creationId xmlns:a16="http://schemas.microsoft.com/office/drawing/2014/main" id="{FA79F865-BAB4-4E0C-9A0A-A998C404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785616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67" name="Imag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99a05323340f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390448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67" name="Text 56">
            <a:extLst xmlns:a="http://schemas.openxmlformats.org/drawingml/2006/main">
              <a:ext uri="{FF2B5EF4-FFF2-40B4-BE49-F238E27FC236}">
                <a16:creationId xmlns:a16="http://schemas.microsoft.com/office/drawing/2014/main" id="{AB4E378D-294E-41BA-AC89-0E2E7755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3785616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Battery drain</a:t>
            </a:r>
            <a:endParaRPr sz="950"/>
          </a:p>
        </p:txBody>
      </p:sp>
      <p:sp>
        <p:nvSpPr>
          <p:cNvPr id="68" name="Shape 57">
            <a:extLst xmlns:a="http://schemas.openxmlformats.org/drawingml/2006/main">
              <a:ext uri="{FF2B5EF4-FFF2-40B4-BE49-F238E27FC236}">
                <a16:creationId xmlns:a16="http://schemas.microsoft.com/office/drawing/2014/main" id="{9675EC07-61D7-409D-8EFC-661BCC1A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032504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69" name="Shape 58">
            <a:extLst xmlns:a="http://schemas.openxmlformats.org/drawingml/2006/main">
              <a:ext uri="{FF2B5EF4-FFF2-40B4-BE49-F238E27FC236}">
                <a16:creationId xmlns:a16="http://schemas.microsoft.com/office/drawing/2014/main" id="{26800F66-AF85-4DD2-BDE0-2F8D4A3B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3785616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0" name="Text 59">
            <a:extLst xmlns:a="http://schemas.openxmlformats.org/drawingml/2006/main">
              <a:ext uri="{FF2B5EF4-FFF2-40B4-BE49-F238E27FC236}">
                <a16:creationId xmlns:a16="http://schemas.microsoft.com/office/drawing/2014/main" id="{1A7886F8-7CD4-408C-931F-9E47A118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785616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Adaptive GPS sampling; monitor only during a journey</a:t>
            </a:r>
            <a:endParaRPr sz="850"/>
          </a:p>
        </p:txBody>
      </p:sp>
      <p:sp>
        <p:nvSpPr>
          <p:cNvPr id="71" name="Shape 60">
            <a:extLst xmlns:a="http://schemas.openxmlformats.org/drawingml/2006/main">
              <a:ext uri="{FF2B5EF4-FFF2-40B4-BE49-F238E27FC236}">
                <a16:creationId xmlns:a16="http://schemas.microsoft.com/office/drawing/2014/main" id="{F898D0AE-D3D6-40FE-BD0D-47216EB00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370832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3" name="Imag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6dee4e6a447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4489704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3" name="Text 61">
            <a:extLst xmlns:a="http://schemas.openxmlformats.org/drawingml/2006/main">
              <a:ext uri="{FF2B5EF4-FFF2-40B4-BE49-F238E27FC236}">
                <a16:creationId xmlns:a16="http://schemas.microsoft.com/office/drawing/2014/main" id="{ADA38B80-5AB4-4C47-943A-BC4CDE26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370832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Privacy &amp; security</a:t>
            </a:r>
            <a:endParaRPr sz="950"/>
          </a:p>
        </p:txBody>
      </p:sp>
      <p:sp>
        <p:nvSpPr>
          <p:cNvPr id="74" name="Shape 62">
            <a:extLst xmlns:a="http://schemas.openxmlformats.org/drawingml/2006/main">
              <a:ext uri="{FF2B5EF4-FFF2-40B4-BE49-F238E27FC236}">
                <a16:creationId xmlns:a16="http://schemas.microsoft.com/office/drawing/2014/main" id="{BCCD1FA4-0FA4-44AE-9927-79CD8E0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4617720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75" name="Shape 63">
            <a:extLst xmlns:a="http://schemas.openxmlformats.org/drawingml/2006/main">
              <a:ext uri="{FF2B5EF4-FFF2-40B4-BE49-F238E27FC236}">
                <a16:creationId xmlns:a16="http://schemas.microsoft.com/office/drawing/2014/main" id="{1AC6673A-A357-494B-9064-91D964AD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370832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76" name="Text 64">
            <a:extLst xmlns:a="http://schemas.openxmlformats.org/drawingml/2006/main">
              <a:ext uri="{FF2B5EF4-FFF2-40B4-BE49-F238E27FC236}">
                <a16:creationId xmlns:a16="http://schemas.microsoft.com/office/drawing/2014/main" id="{7A0A3C77-1098-4CAD-A8A4-A8B22B067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370832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Explicit consent, journey-only sharing, TLS, auto-delete; nearby alerts hide identity</a:t>
            </a:r>
            <a:endParaRPr sz="850"/>
          </a:p>
        </p:txBody>
      </p:sp>
      <p:sp>
        <p:nvSpPr>
          <p:cNvPr id="77" name="Shape 65">
            <a:extLst xmlns:a="http://schemas.openxmlformats.org/drawingml/2006/main">
              <a:ext uri="{FF2B5EF4-FFF2-40B4-BE49-F238E27FC236}">
                <a16:creationId xmlns:a16="http://schemas.microsoft.com/office/drawing/2014/main" id="{5AED658B-54C5-4E47-B1F1-A1AE66B8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956048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79" name="Imag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fde7df26d4b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07492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9" name="Text 66">
            <a:extLst xmlns:a="http://schemas.openxmlformats.org/drawingml/2006/main">
              <a:ext uri="{FF2B5EF4-FFF2-40B4-BE49-F238E27FC236}">
                <a16:creationId xmlns:a16="http://schemas.microsoft.com/office/drawing/2014/main" id="{2D47951E-D715-4C14-A86A-98362300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4956048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Background-location limits</a:t>
            </a:r>
            <a:endParaRPr sz="950"/>
          </a:p>
        </p:txBody>
      </p:sp>
      <p:sp>
        <p:nvSpPr>
          <p:cNvPr id="80" name="Shape 67">
            <a:extLst xmlns:a="http://schemas.openxmlformats.org/drawingml/2006/main">
              <a:ext uri="{FF2B5EF4-FFF2-40B4-BE49-F238E27FC236}">
                <a16:creationId xmlns:a16="http://schemas.microsoft.com/office/drawing/2014/main" id="{B9623BF8-46D0-47F1-9C48-683AD688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202936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1" name="Shape 68">
            <a:extLst xmlns:a="http://schemas.openxmlformats.org/drawingml/2006/main">
              <a:ext uri="{FF2B5EF4-FFF2-40B4-BE49-F238E27FC236}">
                <a16:creationId xmlns:a16="http://schemas.microsoft.com/office/drawing/2014/main" id="{CB5141B4-2ECB-4C20-910D-EAFE6B77D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4956048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2" name="Text 69">
            <a:extLst xmlns:a="http://schemas.openxmlformats.org/drawingml/2006/main">
              <a:ext uri="{FF2B5EF4-FFF2-40B4-BE49-F238E27FC236}">
                <a16:creationId xmlns:a16="http://schemas.microsoft.com/office/drawing/2014/main" id="{681A3DE5-C52E-42B2-8884-DB1D919AF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4956048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Foreground service with visible notification (Android policy)</a:t>
            </a:r>
            <a:endParaRPr sz="850"/>
          </a:p>
        </p:txBody>
      </p:sp>
      <p:sp>
        <p:nvSpPr>
          <p:cNvPr id="83" name="Shape 70">
            <a:extLst xmlns:a="http://schemas.openxmlformats.org/drawingml/2006/main">
              <a:ext uri="{FF2B5EF4-FFF2-40B4-BE49-F238E27FC236}">
                <a16:creationId xmlns:a16="http://schemas.microsoft.com/office/drawing/2014/main" id="{7BB89754-05BF-4969-80BA-D009E577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541264"/>
            <a:ext cx="2240280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185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1ff09ebb64e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566013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85" name="Text 71">
            <a:extLst xmlns:a="http://schemas.openxmlformats.org/drawingml/2006/main">
              <a:ext uri="{FF2B5EF4-FFF2-40B4-BE49-F238E27FC236}">
                <a16:creationId xmlns:a16="http://schemas.microsoft.com/office/drawing/2014/main" id="{C8CE6A3E-8B99-445B-80BD-91D12E58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5541264"/>
            <a:ext cx="178308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mis-scoring</a:t>
            </a:r>
            <a:endParaRPr sz="950"/>
          </a:p>
        </p:txBody>
      </p:sp>
      <p:sp>
        <p:nvSpPr>
          <p:cNvPr id="86" name="Shape 72">
            <a:extLst xmlns:a="http://schemas.openxmlformats.org/drawingml/2006/main">
              <a:ext uri="{FF2B5EF4-FFF2-40B4-BE49-F238E27FC236}">
                <a16:creationId xmlns:a16="http://schemas.microsoft.com/office/drawing/2014/main" id="{4FDFCABB-FE72-4669-9769-82E790A3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9952" y="5788152"/>
            <a:ext cx="219456" cy="9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225">
            <a:solidFill>
              <a:srgbClr val="13235B"/>
            </a:solidFill>
            <a:prstDash val="solid"/>
            <a:tailEnd type="triangle"/>
          </a:ln>
        </p:spPr>
      </p:sp>
      <p:sp>
        <p:nvSpPr>
          <p:cNvPr id="87" name="Shape 73">
            <a:extLst xmlns:a="http://schemas.openxmlformats.org/drawingml/2006/main">
              <a:ext uri="{FF2B5EF4-FFF2-40B4-BE49-F238E27FC236}">
                <a16:creationId xmlns:a16="http://schemas.microsoft.com/office/drawing/2014/main" id="{FED81E9D-7F78-4B14-AD20-40B64177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0" y="5541264"/>
            <a:ext cx="2679192" cy="493776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88" name="Text 74">
            <a:extLst xmlns:a="http://schemas.openxmlformats.org/drawingml/2006/main">
              <a:ext uri="{FF2B5EF4-FFF2-40B4-BE49-F238E27FC236}">
                <a16:creationId xmlns:a16="http://schemas.microsoft.com/office/drawing/2014/main" id="{75AE741E-7337-4A42-9010-078B2ACF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5541264"/>
            <a:ext cx="25603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13235B"/>
                </a:solidFill>
                <a:latin typeface="Arial"/>
                <a:ea typeface="Arial"/>
                <a:cs typeface="Arial"/>
              </a:rPr>
              <a:t>AI only raises signals; rules + user confirmation decide</a:t>
            </a:r>
            <a:endParaRPr sz="850"/>
          </a:p>
        </p:txBody>
      </p:sp>
      <p:sp>
        <p:nvSpPr>
          <p:cNvPr id="89" name="Text 75">
            <a:extLst xmlns:a="http://schemas.openxmlformats.org/drawingml/2006/main">
              <a:ext uri="{FF2B5EF4-FFF2-40B4-BE49-F238E27FC236}">
                <a16:creationId xmlns:a16="http://schemas.microsoft.com/office/drawing/2014/main" id="{F068F4EA-D6E6-46EE-89EC-C591F1F0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6144768"/>
            <a:ext cx="519379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SafeSaathi is an assistive tool — it complements, never replaces, 112 and police. It does not predict or prevent crime.</a:t>
            </a:r>
            <a:endParaRPr sz="850"/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96D9103-9A5D-479C-A938-02CEA39E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14833860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593AA42-32AD-46C4-8354-83C19C16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808080"/>
            </a:solidFill>
            <a:prstDash val="solid"/>
          </a:ln>
        </p:spPr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CF910EE-5CAE-4BF9-865A-038D900E3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201168"/>
            <a:ext cx="2103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1B1B1B"/>
                </a:solidFill>
                <a:latin typeface="Arial"/>
                <a:ea typeface="Arial"/>
                <a:cs typeface="Arial"/>
              </a:rPr>
              <a:t>[TEAM NAME]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03ACA41-A21B-4A4F-BC03-731AE159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109728"/>
            <a:ext cx="69494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800" b="1">
                <a:solidFill>
                  <a:srgbClr val="1B1B1B"/>
                </a:solidFill>
                <a:latin typeface="Times New Roman"/>
                <a:ea typeface="Times New Roman"/>
                <a:cs typeface="Times New Roman"/>
              </a:rPr>
              <a:t>BUSINESS MODEL &amp; REFERENCES</a:t>
            </a:r>
            <a:endParaRPr sz="2800"/>
          </a:p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d19a1189a48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829800" y="109728"/>
            <a:ext cx="1051560" cy="841248"/>
          </a:xfrm>
          <a:prstGeom xmlns:a="http://schemas.openxmlformats.org/drawingml/2006/main" prst="rect">
            <a:avLst/>
          </a:prstGeom>
        </p:spPr>
      </p:pic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8a43a8fa54f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72800" y="91440"/>
            <a:ext cx="923544" cy="868680"/>
          </a:xfrm>
          <a:prstGeom xmlns:a="http://schemas.openxmlformats.org/drawingml/2006/main" prst="rect">
            <a:avLst/>
          </a:prstGeom>
        </p:spPr>
      </p:pic>
      <p:sp>
        <p:nvSpPr>
          <p:cNvPr id="7" name="Shape 3">
            <a:extLst xmlns:a="http://schemas.openxmlformats.org/drawingml/2006/main">
              <a:ext uri="{FF2B5EF4-FFF2-40B4-BE49-F238E27FC236}">
                <a16:creationId xmlns:a16="http://schemas.microsoft.com/office/drawing/2014/main" id="{041205EF-C776-490F-B341-36F0A39E9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" y="1188720"/>
            <a:ext cx="6446520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8" name="Shape 4">
            <a:extLst xmlns:a="http://schemas.openxmlformats.org/drawingml/2006/main">
              <a:ext uri="{FF2B5EF4-FFF2-40B4-BE49-F238E27FC236}">
                <a16:creationId xmlns:a16="http://schemas.microsoft.com/office/drawing/2014/main" id="{8A923D3A-7600-4AFC-B3C8-8B091F1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9C282A66-42FE-42FE-BC9B-9EA24DBD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98448"/>
            <a:ext cx="60807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BUSINESS MODEL — FREEMIUM B2C</a:t>
            </a:r>
            <a:endParaRPr sz="1300"/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DE984BEC-C497-4C7A-ADCD-AF81195B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11" name="Shape 7">
            <a:extLst xmlns:a="http://schemas.openxmlformats.org/drawingml/2006/main">
              <a:ext uri="{FF2B5EF4-FFF2-40B4-BE49-F238E27FC236}">
                <a16:creationId xmlns:a16="http://schemas.microsoft.com/office/drawing/2014/main" id="{03228B07-82BC-4A8F-9954-88DC47B3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pic>
        <p:nvPicPr>
          <p:cNvPr id="6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3086193cc04c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D61B52FB-570D-4FC7-B87F-531EC76D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FREE</a:t>
            </a:r>
            <a:endParaRPr sz="1300"/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FC58C933-DE82-48F5-B22C-C6D821BD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forever</a:t>
            </a:r>
            <a:endParaRPr sz="850"/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A7FE3D62-7EEB-4F0E-AD83-75D410C98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One-tap, shake &amp; voice SOS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Trusted contacts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Basic live location sharing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Nearby help + emergency siren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Safety timer</a:t>
            </a:r>
            <a:endParaRPr sz="1150"/>
          </a:p>
        </p:txBody>
      </p:sp>
      <p:sp>
        <p:nvSpPr>
          <p:cNvPr id="16" name="Shape 11">
            <a:extLst xmlns:a="http://schemas.openxmlformats.org/drawingml/2006/main">
              <a:ext uri="{FF2B5EF4-FFF2-40B4-BE49-F238E27FC236}">
                <a16:creationId xmlns:a16="http://schemas.microsoft.com/office/drawing/2014/main" id="{DE8C67EF-F700-42BA-B870-8EEFA0475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2331720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sp>
        <p:nvSpPr>
          <p:cNvPr id="17" name="Shape 12">
            <a:extLst xmlns:a="http://schemas.openxmlformats.org/drawingml/2006/main">
              <a:ext uri="{FF2B5EF4-FFF2-40B4-BE49-F238E27FC236}">
                <a16:creationId xmlns:a16="http://schemas.microsoft.com/office/drawing/2014/main" id="{4B394B9E-6199-43A6-8D96-B0B936C1C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783080"/>
            <a:ext cx="2971800" cy="50292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B3122E"/>
          </a:solidFill>
          <a:ln xmlns:a="http://schemas.openxmlformats.org/drawingml/2006/main" w="12700">
            <a:solidFill>
              <a:srgbClr val="B3122E"/>
            </a:solidFill>
            <a:prstDash val="solid"/>
          </a:ln>
        </p:spPr>
      </p:sp>
      <p:pic>
        <p:nvPicPr>
          <p:cNvPr id="7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08bbbcf514bd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49040" y="189280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F9E687C2-0CAF-4694-AA7F-8E02A9B6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783080"/>
            <a:ext cx="1188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PREMIUM</a:t>
            </a:r>
            <a:endParaRPr sz="13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657A42C1-3402-4D48-AF72-AD44A7B4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1783080"/>
            <a:ext cx="1325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low-cost monthly / yearly</a:t>
            </a:r>
            <a:endParaRPr sz="85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CCE42F92-F8FE-4A8F-8FB2-2293C3E4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040" y="2423160"/>
            <a:ext cx="2743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Automated Guardian Journey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Route-deviation &amp; stop alerts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AI-assisted risk signals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Extended journey history</a:t>
            </a:r>
            <a:endParaRPr sz="1150"/>
          </a:p>
          <a:p xmlns:a="http://schemas.openxmlformats.org/drawingml/2006/main">
            <a:pPr marL="342900" indent="-342900">
              <a:spcAft>
                <a:spcPts val="700"/>
              </a:spcAft>
              <a:buSzPct val="100000"/>
              <a:buChar char="•"/>
            </a:pPr>
            <a:r>
              <a:rPr sz="1150">
                <a:solidFill>
                  <a:srgbClr val="1B1B1B"/>
                </a:solidFill>
                <a:latin typeface="Arial"/>
                <a:ea typeface="Arial"/>
                <a:cs typeface="Arial"/>
              </a:rPr>
              <a:t>More guardians &amp; custom escalation</a:t>
            </a:r>
            <a:endParaRPr sz="1150"/>
          </a:p>
        </p:txBody>
      </p:sp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60B88A53-8136-47F9-A6FF-EB923F27B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8795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B3122E"/>
                </a:solidFill>
                <a:latin typeface="Arial"/>
                <a:ea typeface="Arial"/>
                <a:cs typeface="Arial"/>
              </a:rPr>
              <a:t>Principle: </a:t>
            </a:r>
            <a:r>
              <a:rPr sz="1050" i="1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SOS is never behind a paywall.</a:t>
            </a:r>
            <a:endParaRPr sz="105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B549E81F-3EEE-4B3E-A062-29CE133C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53712"/>
            <a:ext cx="6080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ADDITIONAL REVENUE — INSTITUTIONAL PARTNERSHIPS (B2B2C)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C0E43385-03B2-4060-B8B4-75CDCB098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0D776C40-0E30-4431-9163-BE963FC6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1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e2ca167fd74a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101B2D4C-E18A-4736-8766-B7988538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Colleges &amp; Universities</a:t>
            </a:r>
            <a:endParaRPr sz="9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4E970EA6-0085-47CE-BCF7-2DF7DE94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Campus licence, hostel check-ins</a:t>
            </a:r>
            <a:endParaRPr sz="85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3084A9F8-0F08-4873-A707-EC3CC974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7EE8AA83-E711-4E13-B1E0-12ADFA4D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86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c5229dc804e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7527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0E88F380-075D-49F0-A980-5692221A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72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Corporates</a:t>
            </a:r>
            <a:endParaRPr sz="95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28EA02E2-38F1-457B-ADCD-CA7FEA8E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Night-shift &amp; cab-commute safety</a:t>
            </a:r>
            <a:endParaRPr sz="850"/>
          </a:p>
        </p:txBody>
      </p:sp>
      <p:sp>
        <p:nvSpPr>
          <p:cNvPr id="34" name="Shape 26">
            <a:extLst xmlns:a="http://schemas.openxmlformats.org/drawingml/2006/main">
              <a:ext uri="{FF2B5EF4-FFF2-40B4-BE49-F238E27FC236}">
                <a16:creationId xmlns:a16="http://schemas.microsoft.com/office/drawing/2014/main" id="{22BACD7D-037D-49B9-8E5F-D32583137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4892040"/>
            <a:ext cx="1938528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DCE9FA"/>
          </a:solidFill>
          <a:ln xmlns:a="http://schemas.openxmlformats.org/drawingml/2006/main" w="12700">
            <a:solidFill>
              <a:srgbClr val="DCE9FA"/>
            </a:solidFill>
            <a:prstDash val="solid"/>
          </a:ln>
        </p:spPr>
      </p:sp>
      <p:sp>
        <p:nvSpPr>
          <p:cNvPr id="35" name="Shape 27">
            <a:extLst xmlns:a="http://schemas.openxmlformats.org/drawingml/2006/main">
              <a:ext uri="{FF2B5EF4-FFF2-40B4-BE49-F238E27FC236}">
                <a16:creationId xmlns:a16="http://schemas.microsoft.com/office/drawing/2014/main" id="{408A980F-5B80-4DD3-8E9C-F237B2CA6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5001768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B63CE"/>
            </a:solidFill>
            <a:prstDash val="solid"/>
          </a:ln>
        </p:spPr>
      </p:sp>
      <p:pic>
        <p:nvPicPr>
          <p:cNvPr id="91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ac8a4c0b14a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10110" y="5102718"/>
            <a:ext cx="218724" cy="218724"/>
          </a:xfrm>
          <a:prstGeom xmlns:a="http://schemas.openxmlformats.org/drawingml/2006/main" prst="rect">
            <a:avLst/>
          </a:prstGeom>
        </p:spPr>
      </p:pic>
      <p:sp>
        <p:nvSpPr>
          <p:cNvPr id="37" name="Text 28">
            <a:extLst xmlns:a="http://schemas.openxmlformats.org/drawingml/2006/main">
              <a:ext uri="{FF2B5EF4-FFF2-40B4-BE49-F238E27FC236}">
                <a16:creationId xmlns:a16="http://schemas.microsoft.com/office/drawing/2014/main" id="{EF89082C-BB84-4047-AB49-3060F92F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4648" y="4956048"/>
            <a:ext cx="13258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Travel &amp; Mobility</a:t>
            </a:r>
            <a:endParaRPr sz="950"/>
          </a:p>
        </p:txBody>
      </p:sp>
      <p:sp>
        <p:nvSpPr>
          <p:cNvPr id="38" name="Text 29">
            <a:extLst xmlns:a="http://schemas.openxmlformats.org/drawingml/2006/main">
              <a:ext uri="{FF2B5EF4-FFF2-40B4-BE49-F238E27FC236}">
                <a16:creationId xmlns:a16="http://schemas.microsoft.com/office/drawing/2014/main" id="{CBEFD540-8654-4AD5-8397-B9DE3E337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448" y="5458968"/>
            <a:ext cx="1755648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5A6478"/>
                </a:solidFill>
                <a:latin typeface="Arial"/>
                <a:ea typeface="Arial"/>
                <a:cs typeface="Arial"/>
              </a:rPr>
              <a:t>Hostels, travel &amp; cab platforms</a:t>
            </a:r>
            <a:endParaRPr sz="850"/>
          </a:p>
        </p:txBody>
      </p:sp>
      <p:sp>
        <p:nvSpPr>
          <p:cNvPr id="39" name="Text 30">
            <a:extLst xmlns:a="http://schemas.openxmlformats.org/drawingml/2006/main">
              <a:ext uri="{FF2B5EF4-FFF2-40B4-BE49-F238E27FC236}">
                <a16:creationId xmlns:a16="http://schemas.microsoft.com/office/drawing/2014/main" id="{6A34519B-288B-4490-B799-2A49E9FE5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989320"/>
            <a:ext cx="608076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Sustainability: </a:t>
            </a:r>
            <a:r>
              <a:rPr sz="950">
                <a:solidFill>
                  <a:srgbClr val="1B1B1B"/>
                </a:solidFill>
                <a:latin typeface="Arial"/>
                <a:ea typeface="Arial"/>
                <a:cs typeface="Arial"/>
              </a:rPr>
              <a:t>serverless, pay-as-you-grow infra keeps costs low; institutional licences fund the free tier.</a:t>
            </a:r>
            <a:endParaRPr sz="950"/>
          </a:p>
        </p:txBody>
      </p:sp>
      <p:sp>
        <p:nvSpPr>
          <p:cNvPr id="40" name="Shape 31">
            <a:extLst xmlns:a="http://schemas.openxmlformats.org/drawingml/2006/main">
              <a:ext uri="{FF2B5EF4-FFF2-40B4-BE49-F238E27FC236}">
                <a16:creationId xmlns:a16="http://schemas.microsoft.com/office/drawing/2014/main" id="{D7824C40-F5E8-47CB-9DE3-952461C0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1188720"/>
            <a:ext cx="4919472" cy="5349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9050">
            <a:solidFill>
              <a:srgbClr val="13235B"/>
            </a:solidFill>
            <a:prstDash val="solid"/>
          </a:ln>
        </p:spPr>
      </p:sp>
      <p:sp>
        <p:nvSpPr>
          <p:cNvPr id="41" name="Shape 32">
            <a:extLst xmlns:a="http://schemas.openxmlformats.org/drawingml/2006/main">
              <a:ext uri="{FF2B5EF4-FFF2-40B4-BE49-F238E27FC236}">
                <a16:creationId xmlns:a16="http://schemas.microsoft.com/office/drawing/2014/main" id="{AAE556F3-8923-424D-95F5-F60E5A0F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oundRect">
            <a:avLst>
              <a:gd name="adj" fmla="val 26316"/>
            </a:avLst>
          </a:prstGeom>
          <a:solidFill xmlns:a="http://schemas.openxmlformats.org/drawingml/2006/main">
            <a:srgbClr val="0B63CE"/>
          </a:solidFill>
          <a:ln xmlns:a="http://schemas.openxmlformats.org/drawingml/2006/main" w="12700">
            <a:solidFill>
              <a:srgbClr val="0B63CE"/>
            </a:solidFill>
            <a:prstDash val="solid"/>
          </a:ln>
        </p:spPr>
      </p:sp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DD72E4A8-F1B3-4376-AB93-E1A3BA9C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298448"/>
            <a:ext cx="455371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REFERENCES</a:t>
            </a:r>
            <a:endParaRPr sz="1300"/>
          </a:p>
        </p:txBody>
      </p:sp>
      <p:sp>
        <p:nvSpPr>
          <p:cNvPr id="43" name="Text 34">
            <a:extLst xmlns:a="http://schemas.openxmlformats.org/drawingml/2006/main">
              <a:ext uri="{FF2B5EF4-FFF2-40B4-BE49-F238E27FC236}">
                <a16:creationId xmlns:a16="http://schemas.microsoft.com/office/drawing/2014/main" id="{140AC50A-DFE3-49C5-A8FA-19252907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175564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STATISTICS &amp; REPORTS</a:t>
            </a:r>
            <a:endParaRPr sz="950"/>
          </a:p>
        </p:txBody>
      </p:sp>
      <p:sp>
        <p:nvSpPr>
          <p:cNvPr id="44" name="Text 35">
            <a:extLst xmlns:a="http://schemas.openxmlformats.org/drawingml/2006/main">
              <a:ext uri="{FF2B5EF4-FFF2-40B4-BE49-F238E27FC236}">
                <a16:creationId xmlns:a16="http://schemas.microsoft.com/office/drawing/2014/main" id="{4C720602-F3B3-4E48-A7FA-A4FCCC5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2011680"/>
            <a:ext cx="4553712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NCRB, “Crime in India 2023” — ncrb.gov.in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[2]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NCW &amp; Pvalue Analytics, “NARI 2025: National Annual Report &amp; Index on Women’s Safety” — pvalueanalytics.com/Home/NARI2025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[3]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Emergency Response Support System (112 India) — 112.gov.in</a:t>
            </a:r>
            <a:endParaRPr sz="900"/>
          </a:p>
        </p:txBody>
      </p:sp>
      <p:sp>
        <p:nvSpPr>
          <p:cNvPr id="45" name="Text 36">
            <a:extLst xmlns:a="http://schemas.openxmlformats.org/drawingml/2006/main">
              <a:ext uri="{FF2B5EF4-FFF2-40B4-BE49-F238E27FC236}">
                <a16:creationId xmlns:a16="http://schemas.microsoft.com/office/drawing/2014/main" id="{0532499D-8505-4D51-A9B3-DA558A2B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0358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OFFICIAL DOCUMENTATION &amp; APIs</a:t>
            </a:r>
            <a:endParaRPr sz="950"/>
          </a:p>
        </p:txBody>
      </p:sp>
      <p:sp>
        <p:nvSpPr>
          <p:cNvPr id="46" name="Text 37">
            <a:extLst xmlns:a="http://schemas.openxmlformats.org/drawingml/2006/main">
              <a:ext uri="{FF2B5EF4-FFF2-40B4-BE49-F238E27FC236}">
                <a16:creationId xmlns:a16="http://schemas.microsoft.com/office/drawing/2014/main" id="{7056B520-7687-44CC-B8F3-42CF00FA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3291840"/>
            <a:ext cx="4553712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[4]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Android Developers — Location, background location &amp; sensors guides — developer.android.com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[5]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Google Maps Platform — Maps SDK for Android, Places API — developers.google.com/maps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[6]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Firebase — Auth, Firestore, Cloud Functions, FCM — firebase.google.com/docs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[7]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FastAPI — fastapi.tiangolo.com · scikit-learn — scikit-learn.org</a:t>
            </a:r>
            <a:endParaRPr sz="900"/>
          </a:p>
        </p:txBody>
      </p:sp>
      <p:sp>
        <p:nvSpPr>
          <p:cNvPr id="47" name="Text 38">
            <a:extLst xmlns:a="http://schemas.openxmlformats.org/drawingml/2006/main">
              <a:ext uri="{FF2B5EF4-FFF2-40B4-BE49-F238E27FC236}">
                <a16:creationId xmlns:a16="http://schemas.microsoft.com/office/drawing/2014/main" id="{969B76B2-30C3-4DDC-BE96-1D1EB83B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636008"/>
            <a:ext cx="4553712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0B63CE"/>
                </a:solidFill>
                <a:latin typeface="Arial"/>
                <a:ea typeface="Arial"/>
                <a:cs typeface="Arial"/>
              </a:rPr>
              <a:t>RESEARCH PAPERS</a:t>
            </a:r>
            <a:endParaRPr sz="950"/>
          </a:p>
        </p:txBody>
      </p:sp>
      <p:sp>
        <p:nvSpPr>
          <p:cNvPr id="48" name="Text 39">
            <a:extLst xmlns:a="http://schemas.openxmlformats.org/drawingml/2006/main">
              <a:ext uri="{FF2B5EF4-FFF2-40B4-BE49-F238E27FC236}">
                <a16:creationId xmlns:a16="http://schemas.microsoft.com/office/drawing/2014/main" id="{A8ECD0D2-389F-4C1F-A900-5ACF20E12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0" y="4892040"/>
            <a:ext cx="4553712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[8]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 D. et al., “A mobile application for Women’s Safety: WoSApp,” IEEE TENCON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[9]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Yarrabothu R.S., Thota B., “Abhaya: An Android App for the safety of women,” IEEE INDICON 2015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[10]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Zhang D. et al., “iBAT: Detecting anomalous taxi trajectories from GPS traces,” ACM UbiComp 2011</a:t>
            </a:r>
            <a:endParaRPr sz="900"/>
          </a:p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900" b="1">
                <a:solidFill>
                  <a:srgbClr val="13235B"/>
                </a:solidFill>
                <a:latin typeface="Arial"/>
                <a:ea typeface="Arial"/>
                <a:cs typeface="Arial"/>
              </a:rPr>
              <a:t>[11] </a:t>
            </a:r>
            <a:r>
              <a:rPr sz="900">
                <a:solidFill>
                  <a:srgbClr val="1B1B1B"/>
                </a:solidFill>
                <a:latin typeface="Arial"/>
                <a:ea typeface="Arial"/>
                <a:cs typeface="Arial"/>
              </a:rPr>
              <a:t>Chandola V., Banerjee A., Kumar V., “Anomaly Detection: A Survey,” ACM Computing Surveys, 2009</a:t>
            </a:r>
            <a:endParaRPr sz="900"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BD8137-BE41-40F5-A84D-DCC95E555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553200"/>
            <a:ext cx="137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defRPr>
            </a:pPr>
            <a:r>
              <a:rPr sz="900" b="1">
                <a:solidFill>
                  <a:srgbClr val="13235B"/>
                </a:solidFill>
                <a:latin typeface="Segoe UI Symbol"/>
                <a:ea typeface="Segoe UI Symbol"/>
                <a:cs typeface="Segoe UI Symbol"/>
              </a:rPr>
              <a:t>⛨  ⌖  ●—●</a:t>
            </a:r>
          </a:p>
        </p:txBody>
      </p:sp>
    </p:spTree>
    <p:extLst>
      <p:ext uri="{BB962C8B-B14F-4D97-AF65-F5344CB8AC3E}">
        <p14:creationId xmlns:p14="http://schemas.microsoft.com/office/powerpoint/2010/main" val="3232209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2026-09-26T22:37:44.1790000Z</dcterms:created>
  <dcterms:modified xsi:type="dcterms:W3CDTF">2026-09-26T22:37:44.1790000Z</dcterms:modified>
</coreProperties>
</file>