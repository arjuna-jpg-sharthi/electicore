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589bdfe4247ad" /><Relationship Type="http://schemas.openxmlformats.org/officeDocument/2006/relationships/extended-properties" Target="/docProps/app.xml" Id="R13a9c690a3514ec6" /><Relationship Type="http://schemas.openxmlformats.org/officeDocument/2006/relationships/officeDocument" Target="/ppt/presentation.xml" Id="R4041b2692569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a5b0e7f9e54315"/>
  </p:sldMasterIdLst>
  <p:notesMasterIdLst>
    <p:notesMasterId xmlns:r="http://schemas.openxmlformats.org/officeDocument/2006/relationships" r:id="R6fed9cfc6ec8424b"/>
  </p:notesMasterIdLst>
  <p:sldIdLst>
    <p:sldId xmlns:r="http://schemas.openxmlformats.org/officeDocument/2006/relationships" id="256" r:id="Rae9d9a240b3842dd"/>
    <p:sldId xmlns:r="http://schemas.openxmlformats.org/officeDocument/2006/relationships" id="257" r:id="R919d176d218e4f3c"/>
    <p:sldId xmlns:r="http://schemas.openxmlformats.org/officeDocument/2006/relationships" id="258" r:id="R26863cce5d6d45df"/>
    <p:sldId xmlns:r="http://schemas.openxmlformats.org/officeDocument/2006/relationships" id="259" r:id="R8adf343eccb3400d"/>
    <p:sldId xmlns:r="http://schemas.openxmlformats.org/officeDocument/2006/relationships" id="260" r:id="R78c14a013e7f4cbf"/>
    <p:sldId xmlns:r="http://schemas.openxmlformats.org/officeDocument/2006/relationships" id="261" r:id="R985345c7f45f40c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9005802d84c4b" /><Relationship Type="http://schemas.openxmlformats.org/officeDocument/2006/relationships/slideMaster" Target="/ppt/slideMasters/slideMaster1.xml" Id="R48a5b0e7f9e54315" /><Relationship Type="http://schemas.openxmlformats.org/officeDocument/2006/relationships/notesMaster" Target="/ppt/notesMasters/notesMaster1.xml" Id="R6fed9cfc6ec8424b" /><Relationship Type="http://schemas.openxmlformats.org/officeDocument/2006/relationships/presProps" Target="/ppt/presProps.xml" Id="R505550767f2548bb" /><Relationship Type="http://schemas.openxmlformats.org/officeDocument/2006/relationships/viewProps" Target="/ppt/viewProps.xml" Id="Rade3a307187f42f9" /><Relationship Type="http://schemas.openxmlformats.org/officeDocument/2006/relationships/tableStyles" Target="/ppt/tableStyles.xml" Id="R59af1823c2d64e70" /><Relationship Type="http://schemas.openxmlformats.org/officeDocument/2006/relationships/slide" Target="/ppt/slides/slide1.xml" Id="Rae9d9a240b3842dd" /><Relationship Type="http://schemas.openxmlformats.org/officeDocument/2006/relationships/slide" Target="/ppt/slides/slide2.xml" Id="R919d176d218e4f3c" /><Relationship Type="http://schemas.openxmlformats.org/officeDocument/2006/relationships/slide" Target="/ppt/slides/slide3.xml" Id="R26863cce5d6d45df" /><Relationship Type="http://schemas.openxmlformats.org/officeDocument/2006/relationships/slide" Target="/ppt/slides/slide4.xml" Id="R8adf343eccb3400d" /><Relationship Type="http://schemas.openxmlformats.org/officeDocument/2006/relationships/slide" Target="/ppt/slides/slide5.xml" Id="R78c14a013e7f4cbf" /><Relationship Type="http://schemas.openxmlformats.org/officeDocument/2006/relationships/slide" Target="/ppt/slides/slide6.xml" Id="R985345c7f45f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9d9d2a7c1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c65f110904f24" /><Relationship Type="http://schemas.openxmlformats.org/officeDocument/2006/relationships/notesMaster" Target="/ppt/notesMasters/notesMaster1.xml" Id="R2fac6b58afdc48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720ae6dbd04894" /><Relationship Type="http://schemas.openxmlformats.org/officeDocument/2006/relationships/notesMaster" Target="/ppt/notesMasters/notesMaster1.xml" Id="Rd08fdf2f42ea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d1859b4094297" /><Relationship Type="http://schemas.openxmlformats.org/officeDocument/2006/relationships/notesMaster" Target="/ppt/notesMasters/notesMaster1.xml" Id="R16d709bda19b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a370b196541b4" /><Relationship Type="http://schemas.openxmlformats.org/officeDocument/2006/relationships/notesMaster" Target="/ppt/notesMasters/notesMaster1.xml" Id="R0502ad79ff32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a604e4c84c4424" /><Relationship Type="http://schemas.openxmlformats.org/officeDocument/2006/relationships/notesMaster" Target="/ppt/notesMasters/notesMaster1.xml" Id="Rd47914952e454f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9515bb569c43aa" /><Relationship Type="http://schemas.openxmlformats.org/officeDocument/2006/relationships/notesMaster" Target="/ppt/notesMasters/notesMaster1.xml" Id="Re2dc7fbf638c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visual template: SafeSaathi_CodeSlayer2K26.pptx supplied by the user.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Statistics: NCRB, Crime in India 2023, https://www.ncrb.gov.in/ ; NCW &amp; Pvalue Analytics, NARI 2025, https://pvalueanalytics.com/Home/NARI2025 . NARI headline data reports 40% of urban women feel unsafe in their cities; public-space harassment 7% overall and 14% among women under 24; two-thirds of incidents unreported.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 statements supplied by the user. Emergency response reference: 112 India, https://112.gov.in/ . AI is an assistive risk-signal system, not an attack detector or crime predictor.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 Android Developers, https://developer.android.com/ ; Google Maps Platform, https://developers.google.com/maps ; Firebase, https://firebase.google.com/docs ; FastAPI, https://fastapi.tiangolo.com/ ; scikit-learn, https://scikit-learn.org/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Responsible-design scope supplied by the user. SafeSaathi complements, but does not replace, 112 or police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listed on slide include NCRB, NARI 2025, 112 India, Android, Google Maps, Firebase, FastAPI, scikit-learn and cited research papers.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c07558b744e0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961ab0da8748a5" /><Relationship Type="http://schemas.openxmlformats.org/officeDocument/2006/relationships/slideLayout" Target="/ppt/slideLayouts/slideLayout1.xml" Id="R0e247072600f402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47072600f402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7fcdbaf7e4c5f" /><Relationship Type="http://schemas.openxmlformats.org/officeDocument/2006/relationships/image" Target="/ppt/media/image.png" Id="Rdf40501accf24aff" /><Relationship Type="http://schemas.openxmlformats.org/officeDocument/2006/relationships/image" Target="/ppt/media/image2.png" Id="R2dbcbe70b5584f0e" /><Relationship Type="http://schemas.openxmlformats.org/officeDocument/2006/relationships/image" Target="/ppt/media/image3.png" Id="R419037cc56a0493b" /><Relationship Type="http://schemas.openxmlformats.org/officeDocument/2006/relationships/notesSlide" Target="/ppt/notesSlides/notesSlide1.xml" Id="Ref52ad5c2dd846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961897de4338" /><Relationship Type="http://schemas.openxmlformats.org/officeDocument/2006/relationships/image" Target="/ppt/media/image4.png" Id="R6b96efe4a2ec4123" /><Relationship Type="http://schemas.openxmlformats.org/officeDocument/2006/relationships/image" Target="/ppt/media/image5.png" Id="Rdb2686f5c916454d" /><Relationship Type="http://schemas.openxmlformats.org/officeDocument/2006/relationships/image" Target="/ppt/media/image6.png" Id="R66f43fe894d9463c" /><Relationship Type="http://schemas.openxmlformats.org/officeDocument/2006/relationships/image" Target="/ppt/media/image7.png" Id="R1f0a169dbeab40ad" /><Relationship Type="http://schemas.openxmlformats.org/officeDocument/2006/relationships/image" Target="/ppt/media/image8.png" Id="Rffb98f7871d44f80" /><Relationship Type="http://schemas.openxmlformats.org/officeDocument/2006/relationships/image" Target="/ppt/media/image9.png" Id="R12f18c5e023c4a4b" /><Relationship Type="http://schemas.openxmlformats.org/officeDocument/2006/relationships/image" Target="/ppt/media/image10.png" Id="R09158b65d5a343d4" /><Relationship Type="http://schemas.openxmlformats.org/officeDocument/2006/relationships/image" Target="/ppt/media/image11.png" Id="R5586a81c0aa64983" /><Relationship Type="http://schemas.openxmlformats.org/officeDocument/2006/relationships/image" Target="/ppt/media/image12.png" Id="Re554f4cfe7244b8d" /><Relationship Type="http://schemas.openxmlformats.org/officeDocument/2006/relationships/image" Target="/ppt/media/image13.png" Id="Rb748c6ccfbd04db3" /><Relationship Type="http://schemas.openxmlformats.org/officeDocument/2006/relationships/notesSlide" Target="/ppt/notesSlides/notesSlide2.xml" Id="R87437db1233b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294d6b91443ed" /><Relationship Type="http://schemas.openxmlformats.org/officeDocument/2006/relationships/image" Target="/ppt/media/image14.png" Id="Re4e8bb968a1648ea" /><Relationship Type="http://schemas.openxmlformats.org/officeDocument/2006/relationships/image" Target="/ppt/media/image15.png" Id="R8b1b246e4a5d472b" /><Relationship Type="http://schemas.openxmlformats.org/officeDocument/2006/relationships/image" Target="/ppt/media/image16.png" Id="R95d90cd86d904f19" /><Relationship Type="http://schemas.openxmlformats.org/officeDocument/2006/relationships/image" Target="/ppt/media/image17.png" Id="R514562ae410e43f2" /><Relationship Type="http://schemas.openxmlformats.org/officeDocument/2006/relationships/image" Target="/ppt/media/image18.png" Id="R0f2cf68c0b454183" /><Relationship Type="http://schemas.openxmlformats.org/officeDocument/2006/relationships/image" Target="/ppt/media/image19.png" Id="R0d862344171f48dc" /><Relationship Type="http://schemas.openxmlformats.org/officeDocument/2006/relationships/image" Target="/ppt/media/image20.png" Id="Re1f52e6f97774cf3" /><Relationship Type="http://schemas.openxmlformats.org/officeDocument/2006/relationships/image" Target="/ppt/media/image21.png" Id="R9879fc9a621d48b9" /><Relationship Type="http://schemas.openxmlformats.org/officeDocument/2006/relationships/image" Target="/ppt/media/image22.png" Id="R7bc4ca72ba754acd" /><Relationship Type="http://schemas.openxmlformats.org/officeDocument/2006/relationships/image" Target="/ppt/media/image23.png" Id="R7efbb66a93b74a75" /><Relationship Type="http://schemas.openxmlformats.org/officeDocument/2006/relationships/image" Target="/ppt/media/image24.png" Id="Rd32011476dfb4a51" /><Relationship Type="http://schemas.openxmlformats.org/officeDocument/2006/relationships/image" Target="/ppt/media/image25.png" Id="R7ad15903f1634f94" /><Relationship Type="http://schemas.openxmlformats.org/officeDocument/2006/relationships/image" Target="/ppt/media/image26.png" Id="Rf230f64ca6964eb5" /><Relationship Type="http://schemas.openxmlformats.org/officeDocument/2006/relationships/image" Target="/ppt/media/image27.png" Id="R0f8ebed0f9284ae8" /><Relationship Type="http://schemas.openxmlformats.org/officeDocument/2006/relationships/image" Target="/ppt/media/image28.png" Id="R48ad91c3ef534bdf" /><Relationship Type="http://schemas.openxmlformats.org/officeDocument/2006/relationships/image" Target="/ppt/media/image29.png" Id="R05be1107c4e1475e" /><Relationship Type="http://schemas.openxmlformats.org/officeDocument/2006/relationships/image" Target="/ppt/media/image30.png" Id="Re903d574b22b48b0" /><Relationship Type="http://schemas.openxmlformats.org/officeDocument/2006/relationships/image" Target="/ppt/media/image31.png" Id="Re3f03b6441db45e1" /><Relationship Type="http://schemas.openxmlformats.org/officeDocument/2006/relationships/image" Target="/ppt/media/image32.png" Id="Rfc1da338576449a8" /><Relationship Type="http://schemas.openxmlformats.org/officeDocument/2006/relationships/notesSlide" Target="/ppt/notesSlides/notesSlide3.xml" Id="R2e4236dca6ae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0ee23daab4e0a" /><Relationship Type="http://schemas.openxmlformats.org/officeDocument/2006/relationships/image" Target="/ppt/media/image33.png" Id="R704f36b26b704146" /><Relationship Type="http://schemas.openxmlformats.org/officeDocument/2006/relationships/image" Target="/ppt/media/image34.png" Id="Ra26aac1c3ed14ae8" /><Relationship Type="http://schemas.openxmlformats.org/officeDocument/2006/relationships/image" Target="/ppt/media/image35.png" Id="R546db616637a4a59" /><Relationship Type="http://schemas.openxmlformats.org/officeDocument/2006/relationships/image" Target="/ppt/media/image36.png" Id="Rf290872580ba4f0a" /><Relationship Type="http://schemas.openxmlformats.org/officeDocument/2006/relationships/image" Target="/ppt/media/image37.png" Id="R2caeeb2fd60349bf" /><Relationship Type="http://schemas.openxmlformats.org/officeDocument/2006/relationships/image" Target="/ppt/media/image38.png" Id="R9231edf95fec49e6" /><Relationship Type="http://schemas.openxmlformats.org/officeDocument/2006/relationships/image" Target="/ppt/media/image39.png" Id="Rc8cbb83e932b416f" /><Relationship Type="http://schemas.openxmlformats.org/officeDocument/2006/relationships/image" Target="/ppt/media/image40.png" Id="R15b5d634193d482b" /><Relationship Type="http://schemas.openxmlformats.org/officeDocument/2006/relationships/image" Target="/ppt/media/image41.png" Id="Rc95da459ece64d3d" /><Relationship Type="http://schemas.openxmlformats.org/officeDocument/2006/relationships/image" Target="/ppt/media/image42.png" Id="Ra3461ab3303d4902" /><Relationship Type="http://schemas.openxmlformats.org/officeDocument/2006/relationships/image" Target="/ppt/media/image43.png" Id="R81472a1367304cb4" /><Relationship Type="http://schemas.openxmlformats.org/officeDocument/2006/relationships/notesSlide" Target="/ppt/notesSlides/notesSlide4.xml" Id="Rdf9ab82522904d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3827374e44eff" /><Relationship Type="http://schemas.openxmlformats.org/officeDocument/2006/relationships/image" Target="/ppt/media/image44.png" Id="R1e2113f5bcf145aa" /><Relationship Type="http://schemas.openxmlformats.org/officeDocument/2006/relationships/image" Target="/ppt/media/image45.png" Id="Rd53be4d9b1634ea0" /><Relationship Type="http://schemas.openxmlformats.org/officeDocument/2006/relationships/image" Target="/ppt/media/image46.png" Id="R71363c205b2b40d5" /><Relationship Type="http://schemas.openxmlformats.org/officeDocument/2006/relationships/image" Target="/ppt/media/image47.png" Id="Ra440bf576f87433d" /><Relationship Type="http://schemas.openxmlformats.org/officeDocument/2006/relationships/image" Target="/ppt/media/image48.png" Id="Rccd120228de248b8" /><Relationship Type="http://schemas.openxmlformats.org/officeDocument/2006/relationships/image" Target="/ppt/media/image49.png" Id="Rb9aedf1193f54589" /><Relationship Type="http://schemas.openxmlformats.org/officeDocument/2006/relationships/image" Target="/ppt/media/image50.png" Id="R97de98a9b4b945ea" /><Relationship Type="http://schemas.openxmlformats.org/officeDocument/2006/relationships/image" Target="/ppt/media/image51.png" Id="R750f4caac5294851" /><Relationship Type="http://schemas.openxmlformats.org/officeDocument/2006/relationships/image" Target="/ppt/media/image52.png" Id="R7693a6bb132d4f8d" /><Relationship Type="http://schemas.openxmlformats.org/officeDocument/2006/relationships/image" Target="/ppt/media/image53.png" Id="Re82896341a8947bb" /><Relationship Type="http://schemas.openxmlformats.org/officeDocument/2006/relationships/image" Target="/ppt/media/image54.png" Id="Ra58e6ca3a8204cdb" /><Relationship Type="http://schemas.openxmlformats.org/officeDocument/2006/relationships/image" Target="/ppt/media/image55.png" Id="R2728c569f8de4609" /><Relationship Type="http://schemas.openxmlformats.org/officeDocument/2006/relationships/notesSlide" Target="/ppt/notesSlides/notesSlide5.xml" Id="Rf4fccbf9af7243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b9476b9a04607" /><Relationship Type="http://schemas.openxmlformats.org/officeDocument/2006/relationships/image" Target="/ppt/media/image56.png" Id="R9ae8fd7bb3e74e2c" /><Relationship Type="http://schemas.openxmlformats.org/officeDocument/2006/relationships/image" Target="/ppt/media/image57.png" Id="R543a4ce613764744" /><Relationship Type="http://schemas.openxmlformats.org/officeDocument/2006/relationships/image" Target="/ppt/media/image58.png" Id="Rf6a9294f363d40db" /><Relationship Type="http://schemas.openxmlformats.org/officeDocument/2006/relationships/image" Target="/ppt/media/image59.png" Id="Ra85fc2ee14204b5a" /><Relationship Type="http://schemas.openxmlformats.org/officeDocument/2006/relationships/image" Target="/ppt/media/image60.png" Id="R2b68fac4ea92478b" /><Relationship Type="http://schemas.openxmlformats.org/officeDocument/2006/relationships/image" Target="/ppt/media/image61.png" Id="Rc9a6d4f2a94d44f1" /><Relationship Type="http://schemas.openxmlformats.org/officeDocument/2006/relationships/image" Target="/ppt/media/image62.png" Id="Re6d66374f7354582" /><Relationship Type="http://schemas.openxmlformats.org/officeDocument/2006/relationships/notesSlide" Target="/ppt/notesSlides/notesSlide6.xml" Id="R101854ab29c7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0501accf2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123078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2C9A903-69DD-48E2-BBA3-22E6D89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6B38103-7F01-4A6C-934D-3ADF4853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cbe70b558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1608" y="1389888"/>
            <a:ext cx="4754880" cy="621792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6BDB689A-1258-4930-B610-3C8A303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Project Title :</a:t>
            </a:r>
            <a:endParaRPr sz="2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15791B5-C8AB-4878-A786-9D55AE0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33172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3235B"/>
                </a:solidFill>
                <a:latin typeface="Times New Roman"/>
                <a:ea typeface="Times New Roman"/>
                <a:cs typeface="Times New Roman"/>
              </a:rPr>
              <a:t>Safe</a:t>
            </a:r>
            <a:r>
              <a:rPr sz="34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Saathi</a:t>
            </a:r>
            <a:endParaRPr sz="3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2752AA9-2F39-47B7-833A-E3D4855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4436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“Safety that walks with you — and calls the neighborhood when you need help.”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A6B38E3-5A11-42F6-85F7-7FDEE30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Name :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D4C461D-EFEB-41C0-949D-38326AC8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4290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[TEAM NAME]</a:t>
            </a:r>
            <a:endParaRPr sz="18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2C2334-0D91-4B99-8B4E-EA19005F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400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Members </a:t>
            </a:r>
            <a:r>
              <a:rPr sz="130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(Names + Roles Briefly):</a:t>
            </a:r>
            <a:endParaRPr sz="2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957ACB0-9B85-42D9-AF5A-DC9D8494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FF780FB-718A-40FB-84BA-4BDBC0D8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1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Lead · Android (Kotlin/Compose)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31927F5-28CC-4E64-ABBE-311D31A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BF12F93-3A1E-4D09-9C80-3CB4DB5D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2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Backend · Firebase &amp; Cloud Functions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69BDB55-6798-427E-A3A4-19D8E37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D37BB4E-E2E7-4B2F-8147-C19FE0BF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3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AI/ML · Risk engine (Python/FastAPI)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2CD45A0-A6EF-4447-AE42-54579E9C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66190B2-B610-471B-8327-F2303E07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4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UI/UX · Maps, Testing &amp; Pitch</a:t>
            </a:r>
            <a:endParaRPr sz="105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5C46B6-76F4-4192-B513-D6B8DBB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Tracks Chosen:</a:t>
            </a:r>
            <a:endParaRPr sz="2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E76BD63-BE76-4E89-837A-017613C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29A4224-A1EA-49F3-B222-9DD28D7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AI/ML  (Primary)</a:t>
            </a:r>
            <a:endParaRPr sz="13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510D6FE-2B3C-45E7-8E23-0570F8D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8A7025F-50A5-411B-9317-5BA0E3AB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Innovation</a:t>
            </a:r>
            <a:endParaRPr sz="13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A1183A1-EE96-46E5-8CC1-1C889F1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2514600" cy="4434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A1A2E"/>
          </a:solidFill>
          <a:ln xmlns:a="http://schemas.openxmlformats.org/drawingml/2006/main" w="12700">
            <a:solidFill>
              <a:srgbClr val="1A1A2E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FFE3587-DCCE-4724-AE00-65CF45A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496312"/>
            <a:ext cx="2276856" cy="397764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F4C5BEA9-E8FC-47CD-B653-5344FDA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2331720"/>
            <a:ext cx="64008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A50"/>
          </a:solidFill>
          <a:ln xmlns:a="http://schemas.openxmlformats.org/drawingml/2006/main" w="12700">
            <a:solidFill>
              <a:srgbClr val="3A3A5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90CADFC-DB35-4173-94FF-13ED0ED3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651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7E3A1AF-2F25-413E-B7C5-944305F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775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  •  ON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FCD0C17-D68A-41BD-8E35-8041B0AE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7792"/>
            <a:ext cx="20574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7"/>
          </a:solidFill>
          <a:ln xmlns:a="http://schemas.openxmlformats.org/drawingml/2006/main" w="12700">
            <a:solidFill>
              <a:srgbClr val="C3D6EE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C3367B9D-528F-447E-A406-C330369F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78FE053E-7037-474A-ACC4-933870C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1024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5C38954C-CF9D-482C-BF34-4573150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7764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9103994-72B5-444C-8F69-036BEE73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C3B2BC7D-5C9A-4491-B3B0-154E5A9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CF562455-26EA-41D8-B1DB-A4BF175F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56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18F844FB-2ACF-4CFC-B682-906E9E90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54312" y="3776472"/>
            <a:ext cx="41148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A3534D8-91F9-4AA0-9E36-B59BB04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776472"/>
            <a:ext cx="27432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ECA6FC86-BD99-46A3-8A15-3F8972D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0112" y="3364992"/>
            <a:ext cx="41148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A660FDA0-5EB4-401A-AF29-07ACB04E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51592" y="3136392"/>
            <a:ext cx="4114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037cc56a049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3344" y="29077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B6FBDFCF-7C4A-451C-9F9B-A9B95A63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71246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A6A2F8A5-4902-4C71-B6EA-5DF31053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6552"/>
            <a:ext cx="20574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D65D86D8-1C48-4468-987A-D9DB65C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16552"/>
            <a:ext cx="19110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ETA 18 min  ·  2 guardians  ·  47 nearby users active</a:t>
            </a:r>
            <a:endParaRPr sz="850"/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E467B55B-8E32-4B9E-87A4-E5CA9813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19472"/>
            <a:ext cx="20574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04E5AD05-CBD2-42C9-BD53-3D3451C4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946904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Are you safe?</a:t>
            </a:r>
            <a:endParaRPr sz="105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3D4CF13F-CE0A-4855-B2B6-AD2847BD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4965192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Auto-alert in 0:30</a:t>
            </a:r>
            <a:endParaRPr sz="750"/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471B6153-51EE-45CB-93DD-B6A75AD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B85CB801-AFDC-4841-836F-01F9F64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I'm Safe</a:t>
            </a:r>
            <a:endParaRPr sz="900"/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79845F66-F257-4A02-A278-834F2690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29EE4755-EE82-413E-A635-2E2871F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Need Help</a:t>
            </a:r>
            <a:endParaRPr sz="900"/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E98DDB14-20DA-48DF-9A73-83E4F601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50800">
            <a:solidFill>
              <a:srgbClr val="F4C3CA"/>
            </a:solidFill>
            <a:prstDash val="solid"/>
          </a:ln>
        </p:spPr>
      </p:sp>
      <p:sp>
        <p:nvSpPr>
          <p:cNvPr id="53" name="Text 48">
            <a:extLst xmlns:a="http://schemas.openxmlformats.org/drawingml/2006/main">
              <a:ext uri="{FF2B5EF4-FFF2-40B4-BE49-F238E27FC236}">
                <a16:creationId xmlns:a16="http://schemas.microsoft.com/office/drawing/2014/main" id="{B2F41804-972D-4E1C-89D0-39548CEE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SOS</a:t>
            </a:r>
            <a:endParaRPr sz="1500"/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701435-39E0-47F5-888D-420CB63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56806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57A7F5-AF27-4238-9BE4-2A0A6E70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2C0BA4-3904-423F-853F-0D891175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DF707B-412A-4647-A5B8-2313FE0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PROBLEM STATEMENT &amp;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TARGET AUDIENCE</a:t>
            </a:r>
            <a:endParaRPr sz="2700"/>
          </a:p>
        </p:txBody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6efe4a2ec4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686f5c916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F9F24A7-A996-4691-8FC9-70997906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772668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D6158188-DE60-4930-BD6F-94261F37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B590D96-1C2F-4639-A14A-8516006C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WE'RE SOLVING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83A197A-F8D5-42E1-B8BF-D95A038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CBE4682-EBC2-46F9-B391-7E72ED1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4.48 lakh</a:t>
            </a:r>
            <a:endParaRPr sz="2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EB4F095-8F2C-4010-9561-C8D186A5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crimes against women registered in India in 2023 — about 51 every hour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ECD2D63-C211-4DBE-8891-A80D504F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NCRB, Crime in India 2023</a:t>
            </a:r>
            <a:endParaRPr sz="8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FBE0FD6-C449-4B5D-A15B-8AD5209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6763D2D-0935-4F1C-BC14-BCC6768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40%</a:t>
            </a:r>
            <a:endParaRPr sz="2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CE77AC6-BF92-41DC-B6BB-827C53B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of urban women surveyed feel unsafe in their cities.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7F1577B-60F7-4CF4-B285-4D17C410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732711C-8DD8-4E8D-8D04-827FE49B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DFBAE80-E5EA-4E0C-B484-A4EDE2A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2 in 3</a:t>
            </a:r>
            <a:endParaRPr sz="2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6766CEB-999C-416B-835A-30478B26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harassment incidents go unreported; public-space harassment was 14% for women under 24 vs 7% overall.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64D7536-03CB-4875-845A-A1C952B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1B2C31DA-9935-4275-83E1-1760230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43fe894d9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379658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0B0D965B-FF62-4283-8D56-8DC7C7AB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639312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walks &amp; late commutes feel unsafe — neighbourhood streets (38%) and public transport (29%) are top harassment hotspots.</a:t>
            </a:r>
            <a:endParaRPr sz="1200"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DABFA0AA-B6B8-435C-A6BB-13EED890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7997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a169dbeab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450067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133E259-E7AE-4783-8FF7-05C1A08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43400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Existing SOS apps are reactive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she must unlock the phone and press a button, exactly when panic or a snatched phone makes that hardest</a:t>
            </a:r>
            <a:endParaRPr sz="12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5400796B-DA4E-4F8D-980F-7D53927B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40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98f7871d44f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204765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72296F2-D162-4925-BA6B-51C1B67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47488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No one knows a journey went wrong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no check-ins, no route-deviation or unexpected-stop alerts until it is too late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1A3A120-8754-4385-97A5-C9C4E2C4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881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0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18c5e023c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90885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EBBAC942-BB73-4891-A39E-F3047D4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751576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The need: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proactive journey monitoring that notices risk signals and escalates automatically if she cannot respond</a:t>
            </a:r>
            <a:endParaRPr sz="12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DAD933E7-B373-44EA-9CDE-D382FDB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8720"/>
            <a:ext cx="363931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8AA8FD83-1EFF-4E91-8E27-02603B4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F791F4B5-3AAE-4EDB-B62B-778D929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USERS</a:t>
            </a:r>
            <a:endParaRPr sz="13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339A822F-E228-423B-9842-A1D276A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745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0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58b65d5a343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00180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55AF802C-B415-43A2-85D0-67FB7553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85623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 Students (16–24)</a:t>
            </a:r>
            <a:endParaRPr sz="1200"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F5157B7D-814B-4F66-8406-9A91A4D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396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Late classes, coaching, hostel returns</a:t>
            </a:r>
            <a:endParaRPr sz="100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5DB47F10-EA67-4521-AEAB-5DBAEED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0604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6a81c0aa6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73332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F0D543FA-C924-4506-9E9E-2EB9592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58775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Working Professionals (22–40)</a:t>
            </a:r>
            <a:endParaRPr sz="12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CFD3EB79-7902-49D0-A6EE-2D21A29B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7121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 shifts, late cabs &amp; metro rides</a:t>
            </a:r>
            <a:endParaRPr sz="1000"/>
          </a:p>
        </p:txBody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F0840887-66B6-48BC-AEFE-5F5D013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375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4f4cfe724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346484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27F15409-4AB2-42D8-BBE6-2C2E344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3192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Solo Travellers</a:t>
            </a:r>
            <a:endParaRPr sz="12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A7C3C018-15FE-40A1-8245-5DAE405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6027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New cities, unfamiliar routes, late arrivals</a:t>
            </a:r>
            <a:endParaRPr sz="10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5EC8EB03-3D46-4478-A39D-E80FD69B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8c6ccfbd0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419636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05AA706B-6795-4AC8-BD9D-B1BAA27F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05079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Commuters</a:t>
            </a:r>
            <a:endParaRPr sz="1200"/>
          </a:p>
        </p:txBody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03F14A26-7B1F-4F8E-A769-73104620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33425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Walk / auto / cab / bus after dark</a:t>
            </a:r>
            <a:endParaRPr sz="10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B22089B1-270D-4A14-B942-E7CB6D5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Secondary users: </a:t>
            </a: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family &amp; friends acting as trusted guardians</a:t>
            </a:r>
            <a:endParaRPr sz="1000"/>
          </a:p>
        </p:txBody>
      </p:sp>
      <p:sp>
        <p:nvSpPr>
          <p:cNvPr id="54" name="Shape 42">
            <a:extLst xmlns:a="http://schemas.openxmlformats.org/drawingml/2006/main">
              <a:ext uri="{FF2B5EF4-FFF2-40B4-BE49-F238E27FC236}">
                <a16:creationId xmlns:a16="http://schemas.microsoft.com/office/drawing/2014/main" id="{14A742C9-CB86-4936-8764-B119151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27355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A566B82D-1418-4E7E-A8FB-7740650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6" name="Text 44">
            <a:extLst xmlns:a="http://schemas.openxmlformats.org/drawingml/2006/main">
              <a:ext uri="{FF2B5EF4-FFF2-40B4-BE49-F238E27FC236}">
                <a16:creationId xmlns:a16="http://schemas.microsoft.com/office/drawing/2014/main" id="{16FF509F-9175-4757-A526-F1A6B1E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B2C</a:t>
            </a:r>
            <a:endParaRPr sz="1200"/>
          </a:p>
        </p:txBody>
      </p:sp>
      <p:sp>
        <p:nvSpPr>
          <p:cNvPr id="57" name="Text 45">
            <a:extLst xmlns:a="http://schemas.openxmlformats.org/drawingml/2006/main">
              <a:ext uri="{FF2B5EF4-FFF2-40B4-BE49-F238E27FC236}">
                <a16:creationId xmlns:a16="http://schemas.microsoft.com/office/drawing/2014/main" id="{3C47349A-B9CF-4483-A537-08578F4B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422392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Free app for individual women</a:t>
            </a:r>
            <a:endParaRPr sz="1050"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8A65766F-5E7A-4829-B44F-A9B2DE11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9" name="Text 47">
            <a:extLst xmlns:a="http://schemas.openxmlformats.org/drawingml/2006/main">
              <a:ext uri="{FF2B5EF4-FFF2-40B4-BE49-F238E27FC236}">
                <a16:creationId xmlns:a16="http://schemas.microsoft.com/office/drawing/2014/main" id="{695AB814-38F3-4EFE-A7BD-1C60375E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B2B2C</a:t>
            </a:r>
            <a:endParaRPr sz="1000"/>
          </a:p>
        </p:txBody>
      </p:sp>
      <p:sp>
        <p:nvSpPr>
          <p:cNvPr id="60" name="Text 48">
            <a:extLst xmlns:a="http://schemas.openxmlformats.org/drawingml/2006/main">
              <a:ext uri="{FF2B5EF4-FFF2-40B4-BE49-F238E27FC236}">
                <a16:creationId xmlns:a16="http://schemas.microsoft.com/office/drawing/2014/main" id="{FD30B504-BB4A-4B9E-BFE1-0681FBA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907024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Later: via colleges &amp; employers</a:t>
            </a:r>
            <a:endParaRPr sz="1050"/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319185-DDCE-4E35-9EF9-F545ECC1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734679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7321C7-ECB1-475B-824B-B0D33135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89935E-E3B5-4398-B2DF-F42EB21C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1F8423-C54D-4536-A502-7D1854B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OUR UNIQUE SOLUTION</a:t>
            </a:r>
            <a:endParaRPr sz="3000"/>
          </a:p>
        </p:txBody>
      </p:sp>
      <p:pic>
        <p:nvPicPr>
          <p:cNvPr id="1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8bb968a1648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b246e4a5d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BD0E793-58DA-47C4-8A0F-74BFF6E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43000"/>
            <a:ext cx="1154887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4477FDB1-FBAE-424B-8CE9-13ABCE3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CE61978-286E-41A3-948F-3BC6CD19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WORKS — JOURNEY + COMMUNITY FLOW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58090C5-08F8-4AF4-AB48-1C6367E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90cd86d904f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7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C2187704-3C00-4024-8E2B-1B8C5C9E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202DA5E-F7BA-40F5-9479-6B06396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857DDDA-D362-4685-BCAF-BE474BB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Start Journey</a:t>
            </a:r>
            <a:endParaRPr sz="11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F1A169C-7DDE-40EC-B4C9-7C3DBCD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Set destination, ETA &amp; guardians</a:t>
            </a:r>
            <a:endParaRPr sz="9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47CF24B7-38CD-47DE-B286-B187214D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C10B414-6E3E-4D8F-B15F-4B56D969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562ae410e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299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B699C70C-22C2-4811-B594-9F8101F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29256D0-973D-4A70-B26C-3CDAE19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74CCBF2-7EA8-4376-B7E9-2B40A9CC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Monitor Journey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A826F8F-A4DA-4438-B18A-350B8E71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Live GPS + motion shared securely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7261A0C1-7487-4E42-9403-37EF3B2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1E65455-67DA-4A5F-8E9A-F9FD6EEB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cf68c0b45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323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0B56CCFB-10C3-4E1A-BB22-D9C63DC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F457F86-D49B-4A38-BF31-8B8006C4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A90E434A-D6FD-4A51-B3C9-CF900BC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Detect Risk Signal</a:t>
            </a:r>
            <a:endParaRPr sz="11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84249271-16CC-4C48-A866-A0A7BE5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Deviation · long stop · late ETA</a:t>
            </a:r>
            <a:endParaRPr sz="9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5954D79F-9F2A-4BBF-B393-A46DB05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6818169-83DB-4957-9C47-FD3FBCD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62344171f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47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C060-214B-44E1-8D0A-F0A28FE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89A84795-9EA8-4638-91CE-E28224B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145E5EE1-6239-4747-BE52-CAADB779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“Are You Safe?”</a:t>
            </a:r>
            <a:endParaRPr sz="115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23F77AA-0F25-479F-902C-A2FA014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Silent prompt, 30-sec countdown</a:t>
            </a:r>
            <a:endParaRPr sz="9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83180830-C682-40F8-82CB-DE05792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40B8A3BD-C4A4-4EFD-AD6D-8915D3CE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52e6f9777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371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9382A793-547D-4B44-9DE3-645D6754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A04B2D3F-7A37-4EF3-85BD-95D956C4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5</a:t>
            </a:r>
            <a:endParaRPr sz="9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09CA5CF-CA6D-41BF-B6DD-7C412F8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No Response → Dual Escalation</a:t>
            </a:r>
            <a:endParaRPr sz="115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A8783C1D-13BD-4389-91B0-0819ED5A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Guardians + nearby users alerted in parallel</a:t>
            </a:r>
            <a:endParaRPr sz="900"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00BD927F-57A3-406E-9A44-D7D5E44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76961DB9-2277-4035-94F6-317F4E2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8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7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9fc9a621d48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339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F4F9B88F-D3F6-453C-BCE6-061768A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B3122E"/>
            </a:solidFill>
            <a:prstDash val="solid"/>
          </a:ln>
        </p:spPr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57E89861-9174-45A3-A27C-A55FC1A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6</a:t>
            </a:r>
            <a:endParaRPr sz="9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7F3B81B3-42F5-4A93-B902-21FD9365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Emergency Actions</a:t>
            </a:r>
            <a:endParaRPr sz="1150"/>
          </a:p>
        </p:txBody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E63C4703-3C0D-45B0-822D-5827601B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Siren · one-tap 112 · anonymized SOS</a:t>
            </a:r>
            <a:endParaRPr sz="900"/>
          </a:p>
        </p:txBody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52C36B94-F8AE-4BDE-9597-85D2A68E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71800"/>
            <a:ext cx="67665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DFD3A04F-5917-4E37-9635-1EE659E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3D14FD40-C18A-4F92-826E-19EB053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FEATURES</a:t>
            </a:r>
            <a:endParaRPr sz="130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92DE5F4B-8C3C-416B-BD9A-601B819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01E9A2DB-8693-49F3-90E0-C2A1AC7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4ca72ba75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F62432F2-6642-4F5A-8262-938CE07D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</a:t>
            </a:r>
            <a:endParaRPr sz="9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117BA8AA-C73E-4AC8-B6BC-C16868D4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Safe-walk mode: guardians watch live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874BED3F-AE25-4A58-B0B2-2980200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0" name="Shape 49">
            <a:extLst xmlns:a="http://schemas.openxmlformats.org/drawingml/2006/main">
              <a:ext uri="{FF2B5EF4-FFF2-40B4-BE49-F238E27FC236}">
                <a16:creationId xmlns:a16="http://schemas.microsoft.com/office/drawing/2014/main" id="{100DFF85-9EF0-43C9-B1A6-636DA4A9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bb66a93b74a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2" name="Text 50">
            <a:extLst xmlns:a="http://schemas.openxmlformats.org/drawingml/2006/main">
              <a:ext uri="{FF2B5EF4-FFF2-40B4-BE49-F238E27FC236}">
                <a16:creationId xmlns:a16="http://schemas.microsoft.com/office/drawing/2014/main" id="{93D4F387-5746-4C96-B43F-94E1E80E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Live Location Sharing</a:t>
            </a:r>
            <a:endParaRPr sz="950"/>
          </a:p>
        </p:txBody>
      </p:sp>
      <p:sp>
        <p:nvSpPr>
          <p:cNvPr id="63" name="Text 51">
            <a:extLst xmlns:a="http://schemas.openxmlformats.org/drawingml/2006/main">
              <a:ext uri="{FF2B5EF4-FFF2-40B4-BE49-F238E27FC236}">
                <a16:creationId xmlns:a16="http://schemas.microsoft.com/office/drawing/2014/main" id="{CC5C4F6F-FB50-4FBE-9896-14E694E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Secure link; auto-stops at destination</a:t>
            </a:r>
            <a:endParaRPr sz="800"/>
          </a:p>
        </p:txBody>
      </p:sp>
      <p:sp>
        <p:nvSpPr>
          <p:cNvPr id="64" name="Shape 52">
            <a:extLst xmlns:a="http://schemas.openxmlformats.org/drawingml/2006/main">
              <a:ext uri="{FF2B5EF4-FFF2-40B4-BE49-F238E27FC236}">
                <a16:creationId xmlns:a16="http://schemas.microsoft.com/office/drawing/2014/main" id="{81364D19-C7C5-472A-B0B7-157FC1E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5" name="Shape 53">
            <a:extLst xmlns:a="http://schemas.openxmlformats.org/drawingml/2006/main">
              <a:ext uri="{FF2B5EF4-FFF2-40B4-BE49-F238E27FC236}">
                <a16:creationId xmlns:a16="http://schemas.microsoft.com/office/drawing/2014/main" id="{4510F9B9-8F44-4EA1-9C87-648C1D19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011476dfb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7" name="Text 54">
            <a:extLst xmlns:a="http://schemas.openxmlformats.org/drawingml/2006/main">
              <a:ext uri="{FF2B5EF4-FFF2-40B4-BE49-F238E27FC236}">
                <a16:creationId xmlns:a16="http://schemas.microsoft.com/office/drawing/2014/main" id="{A8B7E90F-F70A-4271-95BE-67E0F32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Timer</a:t>
            </a:r>
            <a:endParaRPr sz="950"/>
          </a:p>
        </p:txBody>
      </p:sp>
      <p:sp>
        <p:nvSpPr>
          <p:cNvPr id="68" name="Text 55">
            <a:extLst xmlns:a="http://schemas.openxmlformats.org/drawingml/2006/main">
              <a:ext uri="{FF2B5EF4-FFF2-40B4-BE49-F238E27FC236}">
                <a16:creationId xmlns:a16="http://schemas.microsoft.com/office/drawing/2014/main" id="{155C9C62-9D16-44E7-AA8D-55570447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Miss the check-in → guardians alerted</a:t>
            </a:r>
            <a:endParaRPr sz="800"/>
          </a:p>
        </p:txBody>
      </p:sp>
      <p:sp>
        <p:nvSpPr>
          <p:cNvPr id="69" name="Shape 56">
            <a:extLst xmlns:a="http://schemas.openxmlformats.org/drawingml/2006/main">
              <a:ext uri="{FF2B5EF4-FFF2-40B4-BE49-F238E27FC236}">
                <a16:creationId xmlns:a16="http://schemas.microsoft.com/office/drawing/2014/main" id="{A4C871CD-A43C-4E06-96E3-1C0DEF4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0" name="Shape 57">
            <a:extLst xmlns:a="http://schemas.openxmlformats.org/drawingml/2006/main">
              <a:ext uri="{FF2B5EF4-FFF2-40B4-BE49-F238E27FC236}">
                <a16:creationId xmlns:a16="http://schemas.microsoft.com/office/drawing/2014/main" id="{1DCAA793-B7A2-4DED-A724-76662F64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15903f163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2" name="Text 58">
            <a:extLst xmlns:a="http://schemas.openxmlformats.org/drawingml/2006/main">
              <a:ext uri="{FF2B5EF4-FFF2-40B4-BE49-F238E27FC236}">
                <a16:creationId xmlns:a16="http://schemas.microsoft.com/office/drawing/2014/main" id="{D23A18E0-87EE-44A6-9CA3-A1ADCAE1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Route Deviation Alert</a:t>
            </a:r>
            <a:endParaRPr sz="950"/>
          </a:p>
        </p:txBody>
      </p:sp>
      <p:sp>
        <p:nvSpPr>
          <p:cNvPr id="73" name="Text 59">
            <a:extLst xmlns:a="http://schemas.openxmlformats.org/drawingml/2006/main">
              <a:ext uri="{FF2B5EF4-FFF2-40B4-BE49-F238E27FC236}">
                <a16:creationId xmlns:a16="http://schemas.microsoft.com/office/drawing/2014/main" id="{FF64E6A1-2D3A-47B6-9019-875792F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Flags route changes or long unexpected stops</a:t>
            </a:r>
            <a:endParaRPr sz="800"/>
          </a:p>
        </p:txBody>
      </p:sp>
      <p:sp>
        <p:nvSpPr>
          <p:cNvPr id="74" name="Shape 60">
            <a:extLst xmlns:a="http://schemas.openxmlformats.org/drawingml/2006/main">
              <a:ext uri="{FF2B5EF4-FFF2-40B4-BE49-F238E27FC236}">
                <a16:creationId xmlns:a16="http://schemas.microsoft.com/office/drawing/2014/main" id="{1286E748-58F4-40E0-A4FC-9DE928B9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5" name="Shape 61">
            <a:extLst xmlns:a="http://schemas.openxmlformats.org/drawingml/2006/main">
              <a:ext uri="{FF2B5EF4-FFF2-40B4-BE49-F238E27FC236}">
                <a16:creationId xmlns:a16="http://schemas.microsoft.com/office/drawing/2014/main" id="{18D3BE9D-6474-4D49-B11C-8C987E37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5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0f64ca696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7" name="Text 62">
            <a:extLst xmlns:a="http://schemas.openxmlformats.org/drawingml/2006/main">
              <a:ext uri="{FF2B5EF4-FFF2-40B4-BE49-F238E27FC236}">
                <a16:creationId xmlns:a16="http://schemas.microsoft.com/office/drawing/2014/main" id="{E1BB4104-B700-400F-8180-D40562B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Community SOS Broadcast</a:t>
            </a:r>
            <a:endParaRPr sz="950"/>
          </a:p>
        </p:txBody>
      </p:sp>
      <p:sp>
        <p:nvSpPr>
          <p:cNvPr id="78" name="Text 63">
            <a:extLst xmlns:a="http://schemas.openxmlformats.org/drawingml/2006/main">
              <a:ext uri="{FF2B5EF4-FFF2-40B4-BE49-F238E27FC236}">
                <a16:creationId xmlns:a16="http://schemas.microsoft.com/office/drawing/2014/main" id="{0B2BF461-ED48-4917-B364-BD7E54F2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Alert nearby users (~200 m)</a:t>
            </a:r>
            <a:endParaRPr sz="800"/>
          </a:p>
        </p:txBody>
      </p:sp>
      <p:sp>
        <p:nvSpPr>
          <p:cNvPr id="79" name="Shape 64">
            <a:extLst xmlns:a="http://schemas.openxmlformats.org/drawingml/2006/main">
              <a:ext uri="{FF2B5EF4-FFF2-40B4-BE49-F238E27FC236}">
                <a16:creationId xmlns:a16="http://schemas.microsoft.com/office/drawing/2014/main" id="{03E71915-D7DA-43BD-9BC2-36D6673C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0" name="Shape 65">
            <a:extLst xmlns:a="http://schemas.openxmlformats.org/drawingml/2006/main">
              <a:ext uri="{FF2B5EF4-FFF2-40B4-BE49-F238E27FC236}">
                <a16:creationId xmlns:a16="http://schemas.microsoft.com/office/drawing/2014/main" id="{CF1F5EC5-5F3E-40BF-8792-159B3324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ebed0f928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2" name="Text 66">
            <a:extLst xmlns:a="http://schemas.openxmlformats.org/drawingml/2006/main">
              <a:ext uri="{FF2B5EF4-FFF2-40B4-BE49-F238E27FC236}">
                <a16:creationId xmlns:a16="http://schemas.microsoft.com/office/drawing/2014/main" id="{7CEA3D3B-FAAB-49CE-910D-9B0E98AD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One-tap / Shake / Voice SOS</a:t>
            </a:r>
            <a:endParaRPr sz="950"/>
          </a:p>
        </p:txBody>
      </p:sp>
      <p:sp>
        <p:nvSpPr>
          <p:cNvPr id="83" name="Text 67">
            <a:extLst xmlns:a="http://schemas.openxmlformats.org/drawingml/2006/main">
              <a:ext uri="{FF2B5EF4-FFF2-40B4-BE49-F238E27FC236}">
                <a16:creationId xmlns:a16="http://schemas.microsoft.com/office/drawing/2014/main" id="{11BF24E1-9352-4852-B96E-4AD896A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SOS + alert to guardians</a:t>
            </a:r>
            <a:endParaRPr sz="800"/>
          </a:p>
        </p:txBody>
      </p:sp>
      <p:sp>
        <p:nvSpPr>
          <p:cNvPr id="84" name="Shape 68">
            <a:extLst xmlns:a="http://schemas.openxmlformats.org/drawingml/2006/main">
              <a:ext uri="{FF2B5EF4-FFF2-40B4-BE49-F238E27FC236}">
                <a16:creationId xmlns:a16="http://schemas.microsoft.com/office/drawing/2014/main" id="{B029B198-A795-481E-B54D-3F32365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5" name="Shape 69">
            <a:extLst xmlns:a="http://schemas.openxmlformats.org/drawingml/2006/main">
              <a:ext uri="{FF2B5EF4-FFF2-40B4-BE49-F238E27FC236}">
                <a16:creationId xmlns:a16="http://schemas.microsoft.com/office/drawing/2014/main" id="{E0766F2D-C996-44B2-8985-8D816AE3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5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d91c3ef534b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7" name="Text 70">
            <a:extLst xmlns:a="http://schemas.openxmlformats.org/drawingml/2006/main">
              <a:ext uri="{FF2B5EF4-FFF2-40B4-BE49-F238E27FC236}">
                <a16:creationId xmlns:a16="http://schemas.microsoft.com/office/drawing/2014/main" id="{4D483FB3-1A27-42B4-9DF9-1F65671E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950"/>
          </a:p>
        </p:txBody>
      </p:sp>
      <p:sp>
        <p:nvSpPr>
          <p:cNvPr id="88" name="Text 71">
            <a:extLst xmlns:a="http://schemas.openxmlformats.org/drawingml/2006/main">
              <a:ext uri="{FF2B5EF4-FFF2-40B4-BE49-F238E27FC236}">
                <a16:creationId xmlns:a16="http://schemas.microsoft.com/office/drawing/2014/main" id="{9F8954C7-C4F2-4C8D-88B4-39B76782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time + motion; assistive only</a:t>
            </a:r>
            <a:endParaRPr sz="800"/>
          </a:p>
        </p:txBody>
      </p:sp>
      <p:sp>
        <p:nvSpPr>
          <p:cNvPr id="89" name="Shape 72">
            <a:extLst xmlns:a="http://schemas.openxmlformats.org/drawingml/2006/main">
              <a:ext uri="{FF2B5EF4-FFF2-40B4-BE49-F238E27FC236}">
                <a16:creationId xmlns:a16="http://schemas.microsoft.com/office/drawing/2014/main" id="{FC2DBA2F-3F30-4A95-A430-A4B3020B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0" name="Shape 73">
            <a:extLst xmlns:a="http://schemas.openxmlformats.org/drawingml/2006/main">
              <a:ext uri="{FF2B5EF4-FFF2-40B4-BE49-F238E27FC236}">
                <a16:creationId xmlns:a16="http://schemas.microsoft.com/office/drawing/2014/main" id="{8B31AC24-A0F7-4AD0-8943-B9D930D4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0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e1107c4e147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2" name="Text 74">
            <a:extLst xmlns:a="http://schemas.openxmlformats.org/drawingml/2006/main">
              <a:ext uri="{FF2B5EF4-FFF2-40B4-BE49-F238E27FC236}">
                <a16:creationId xmlns:a16="http://schemas.microsoft.com/office/drawing/2014/main" id="{8DDE7CC0-81A6-4D04-926B-E3CCDE5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93" name="Text 75">
            <a:extLst xmlns:a="http://schemas.openxmlformats.org/drawingml/2006/main">
              <a:ext uri="{FF2B5EF4-FFF2-40B4-BE49-F238E27FC236}">
                <a16:creationId xmlns:a16="http://schemas.microsoft.com/office/drawing/2014/main" id="{1557B83B-2C5C-4541-9385-DA38EA6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Priority-ordered call &amp; alert chain</a:t>
            </a:r>
            <a:endParaRPr sz="800"/>
          </a:p>
        </p:txBody>
      </p:sp>
      <p:sp>
        <p:nvSpPr>
          <p:cNvPr id="94" name="Shape 76">
            <a:extLst xmlns:a="http://schemas.openxmlformats.org/drawingml/2006/main">
              <a:ext uri="{FF2B5EF4-FFF2-40B4-BE49-F238E27FC236}">
                <a16:creationId xmlns:a16="http://schemas.microsoft.com/office/drawing/2014/main" id="{D769FD09-61FE-4AB0-B463-D5A01C1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5" name="Shape 77">
            <a:extLst xmlns:a="http://schemas.openxmlformats.org/drawingml/2006/main">
              <a:ext uri="{FF2B5EF4-FFF2-40B4-BE49-F238E27FC236}">
                <a16:creationId xmlns:a16="http://schemas.microsoft.com/office/drawing/2014/main" id="{5F0696E0-D373-4CB9-930B-445E3E45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5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3d574b22b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7" name="Text 78">
            <a:extLst xmlns:a="http://schemas.openxmlformats.org/drawingml/2006/main">
              <a:ext uri="{FF2B5EF4-FFF2-40B4-BE49-F238E27FC236}">
                <a16:creationId xmlns:a16="http://schemas.microsoft.com/office/drawing/2014/main" id="{1CA20DA0-A8C1-46F3-BB00-3DF136A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Nearby Help</a:t>
            </a:r>
            <a:endParaRPr sz="950"/>
          </a:p>
        </p:txBody>
      </p:sp>
      <p:sp>
        <p:nvSpPr>
          <p:cNvPr id="98" name="Text 79">
            <a:extLst xmlns:a="http://schemas.openxmlformats.org/drawingml/2006/main">
              <a:ext uri="{FF2B5EF4-FFF2-40B4-BE49-F238E27FC236}">
                <a16:creationId xmlns:a16="http://schemas.microsoft.com/office/drawing/2014/main" id="{E6113F53-0142-41BB-919D-44E84B7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Police, hospitals, safe spots + 112</a:t>
            </a:r>
            <a:endParaRPr sz="800"/>
          </a:p>
        </p:txBody>
      </p:sp>
      <p:sp>
        <p:nvSpPr>
          <p:cNvPr id="99" name="Text 80">
            <a:extLst xmlns:a="http://schemas.openxmlformats.org/drawingml/2006/main">
              <a:ext uri="{FF2B5EF4-FFF2-40B4-BE49-F238E27FC236}">
                <a16:creationId xmlns:a16="http://schemas.microsoft.com/office/drawing/2014/main" id="{C2F00657-3D93-4D14-992A-A04410CE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6208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+ Siren · Encrypted opt-in evidence · Assistive AI risk signals</a:t>
            </a:r>
            <a:endParaRPr sz="950"/>
          </a:p>
        </p:txBody>
      </p:sp>
      <p:sp>
        <p:nvSpPr>
          <p:cNvPr id="100" name="Shape 81">
            <a:extLst xmlns:a="http://schemas.openxmlformats.org/drawingml/2006/main">
              <a:ext uri="{FF2B5EF4-FFF2-40B4-BE49-F238E27FC236}">
                <a16:creationId xmlns:a16="http://schemas.microsoft.com/office/drawing/2014/main" id="{9F8A7489-18DD-420A-9770-7EFB4B7C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59943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101" name="Shape 82">
            <a:extLst xmlns:a="http://schemas.openxmlformats.org/drawingml/2006/main">
              <a:ext uri="{FF2B5EF4-FFF2-40B4-BE49-F238E27FC236}">
                <a16:creationId xmlns:a16="http://schemas.microsoft.com/office/drawing/2014/main" id="{272FBD72-4690-4991-B870-BFD383B4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02" name="Text 83">
            <a:extLst xmlns:a="http://schemas.openxmlformats.org/drawingml/2006/main">
              <a:ext uri="{FF2B5EF4-FFF2-40B4-BE49-F238E27FC236}">
                <a16:creationId xmlns:a16="http://schemas.microsoft.com/office/drawing/2014/main" id="{DCAB1D14-01C3-4948-AC59-E1AF2603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IT'S DIFFERENT</a:t>
            </a:r>
            <a:endParaRPr sz="1300"/>
          </a:p>
        </p:txBody>
      </p:sp>
      <p:graphicFrame>
        <p:nvGraphicFramePr>
          <p:cNvPr id="232" name="Table 0"/>
          <p:cNvGraphicFramePr/>
          <p:nvPr/>
        </p:nvGraphicFramePr>
        <p:xfrm>
          <a:off xmlns:a="http://schemas.openxmlformats.org/drawingml/2006/main" x="7452360" y="3520440"/>
          <a:ext xmlns:a="http://schemas.openxmlformats.org/drawingml/2006/main" cx="4233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6152"/>
                <a:gridCol w="1371600"/>
                <a:gridCol w="164592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1323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Traditional SOS App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SafeSaathi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B312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Manual button only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Tap · shake · voice · auto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Proactive monitoring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Journey awareness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Limited / none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Route, stops, ETA, timer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If she can't respond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Nothing happens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Auto-escalates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Misuse resistance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Basic controls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Anonymized · rate-limited · audited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Shape 84">
            <a:extLst xmlns:a="http://schemas.openxmlformats.org/drawingml/2006/main">
              <a:ext uri="{FF2B5EF4-FFF2-40B4-BE49-F238E27FC236}">
                <a16:creationId xmlns:a16="http://schemas.microsoft.com/office/drawing/2014/main" id="{07CA1F64-E6D9-42A8-A669-0248F6C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03520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4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03b6441db45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6" name="Text 85">
            <a:extLst xmlns:a="http://schemas.openxmlformats.org/drawingml/2006/main">
              <a:ext uri="{FF2B5EF4-FFF2-40B4-BE49-F238E27FC236}">
                <a16:creationId xmlns:a16="http://schemas.microsoft.com/office/drawing/2014/main" id="{4BE36BE1-AE6B-41F7-AEFF-DAB5B258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303520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1 — Silence is a signal: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 a missed “Are you safe?” check triggers help automatically</a:t>
            </a:r>
            <a:endParaRPr sz="950"/>
          </a:p>
        </p:txBody>
      </p:sp>
      <p:sp>
        <p:nvSpPr>
          <p:cNvPr id="107" name="Shape 86">
            <a:extLst xmlns:a="http://schemas.openxmlformats.org/drawingml/2006/main">
              <a:ext uri="{FF2B5EF4-FFF2-40B4-BE49-F238E27FC236}">
                <a16:creationId xmlns:a16="http://schemas.microsoft.com/office/drawing/2014/main" id="{6B7F08BE-3755-4E58-8C83-7C1CEBB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88736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7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da338576449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6035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9" name="Text 87">
            <a:extLst xmlns:a="http://schemas.openxmlformats.org/drawingml/2006/main">
              <a:ext uri="{FF2B5EF4-FFF2-40B4-BE49-F238E27FC236}">
                <a16:creationId xmlns:a16="http://schemas.microsoft.com/office/drawing/2014/main" id="{003DC1E0-6BFD-423C-9FA7-99A6FA3A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888736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2 — Community safety network: nearby users can act as digital witnesses; anonymized alerts protect bystanders.</a:t>
            </a:r>
            <a:endParaRPr sz="950"/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189A53-8CD6-47ED-886F-FBD3F81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2082338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A0B48D-7C24-4C5B-82D2-E649DA65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5B3724-6BC6-4EA3-B267-1ADB8932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977D9C-C98C-47CA-BEAA-76A5495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TECH STACK + ARCHITECTURE</a:t>
            </a:r>
            <a:endParaRPr sz="3000"/>
          </a:p>
        </p:txBody>
      </p:sp>
      <p:pic>
        <p:nvPicPr>
          <p:cNvPr id="10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f36b26b704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aac1c3ed1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65ABACE-00ED-4435-8171-C3406A8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374904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270D0609-4006-46E9-96E2-43B9B5F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B5959F0-5EE3-4672-BDE6-53798F7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C745CA9-01DE-4C40-BA2F-FFDC0E3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db616637a4a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0409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F42D1AB-6AF3-445B-8989-328A603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847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Mobile App</a:t>
            </a:r>
            <a:endParaRPr sz="12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16C84A9-D3B9-486B-9AD4-931A94B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214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Kotlin · Jetpack Compose · Location Services · Sensors (accelerometer, gyroscope)</a:t>
            </a:r>
            <a:endParaRPr sz="9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4A8D528-B30B-4078-92FA-D52E9E5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0872580ba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8181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A6EF7E1-E366-4692-B73E-BEA4E60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62432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Backend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3111CE23-3461-4DF3-BCB5-4BFB8D1C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9864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Auth · Cloud Functions (Node.js) · REST APIs</a:t>
            </a:r>
            <a:endParaRPr sz="95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59B7E82-1453-43D9-8715-4FDD214F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eeb2fd60349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35954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E3BF9C6C-B379-4758-9F5C-976BE6B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0156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Database</a:t>
            </a:r>
            <a:endParaRPr sz="12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52ED1991-A69D-4769-91C2-6CE91CDC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67588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Firestore — journeys, guardians, alerts</a:t>
            </a:r>
            <a:endParaRPr sz="95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9F734D31-DEA2-4EEF-A21A-B79AB4E3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1edf95fec49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43726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EFF184BE-CE95-4BE5-8A83-0A2BA9A1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7880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Maps &amp; Location</a:t>
            </a:r>
            <a:endParaRPr sz="12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CF20462A-E6E0-4BBF-8D60-D5B7958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45312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SDK / MapLibre · Places API · Fused Location Provider</a:t>
            </a:r>
            <a:endParaRPr sz="95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17CC68E1-5486-4917-8338-60A9F91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b83e932b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14990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42BA4423-1960-4DE1-8D7C-21E4B220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5604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Notifications</a:t>
            </a:r>
            <a:endParaRPr sz="12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47E7AEC7-B54D-46B5-A471-A6E6008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23036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Cloud Messaging · SMS fallback</a:t>
            </a:r>
            <a:endParaRPr sz="950"/>
          </a:p>
        </p:txBody>
      </p:sp>
      <p:sp>
        <p:nvSpPr>
          <p:cNvPr id="30" name="Shape 21">
            <a:extLst xmlns:a="http://schemas.openxmlformats.org/drawingml/2006/main">
              <a:ext uri="{FF2B5EF4-FFF2-40B4-BE49-F238E27FC236}">
                <a16:creationId xmlns:a16="http://schemas.microsoft.com/office/drawing/2014/main" id="{44FE3479-87BD-4A62-B949-F7821DE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3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5d634193d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9271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731191F0-68C7-4469-917D-818A42CA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332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AI Layer</a:t>
            </a:r>
            <a:endParaRPr sz="1200"/>
          </a:p>
        </p:txBody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18A4D1D7-0B39-4BC2-91D5-AAEB61E3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0076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Python · FastAPI · scikit-learn risk scoring (rules + Isolation Forest)</a:t>
            </a:r>
            <a:endParaRPr sz="950"/>
          </a:p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993B3B06-95CD-4572-8BB3-10A619E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188720"/>
            <a:ext cx="76169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DED623C7-17D5-43C3-B507-449556A0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4029510F-A0CD-461A-8D19-DC527E9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  <a:endParaRPr sz="1300"/>
          </a:p>
        </p:txBody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A8BE6DAD-17AE-45E2-97FB-28DA8644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1323D17C-74BD-4526-B5AC-D0EAA88F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9384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User</a:t>
            </a:r>
            <a:endParaRPr sz="105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A4168AE6-8380-489D-8FA7-1885C1C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03704"/>
            <a:ext cx="121615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Starts journey or triggers SOS</a:t>
            </a:r>
            <a:endParaRPr sz="800"/>
          </a:p>
        </p:txBody>
      </p:sp>
      <p:pic>
        <p:nvPicPr>
          <p:cNvPr id="13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da459ece6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9659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2D57E3C4-3B64-473C-8665-1607B67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553477AE-36EC-48DF-9053-0053BB07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Mobile App</a:t>
            </a:r>
            <a:endParaRPr sz="1050"/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79FB2BEF-AF9D-4F3F-9AAC-F63ADA88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Kotlin + Compose · foreground service</a:t>
            </a:r>
            <a:endParaRPr sz="800"/>
          </a:p>
        </p:txBody>
      </p:sp>
      <p:sp>
        <p:nvSpPr>
          <p:cNvPr id="44" name="Shape 33">
            <a:extLst xmlns:a="http://schemas.openxmlformats.org/drawingml/2006/main">
              <a:ext uri="{FF2B5EF4-FFF2-40B4-BE49-F238E27FC236}">
                <a16:creationId xmlns:a16="http://schemas.microsoft.com/office/drawing/2014/main" id="{14BB3A3F-A67E-401B-8CCC-13DAF567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21E78258-38C1-421F-B747-CEDDAF14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Location / Sensor Data</a:t>
            </a:r>
            <a:endParaRPr sz="1050"/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26E60F34-FC31-44CA-94E1-4770A24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GPS · accelerometer · gyroscope · optional mic cue</a:t>
            </a:r>
            <a:endParaRPr sz="800"/>
          </a:p>
        </p:txBody>
      </p:sp>
      <p:sp>
        <p:nvSpPr>
          <p:cNvPr id="47" name="Shape 36">
            <a:extLst xmlns:a="http://schemas.openxmlformats.org/drawingml/2006/main">
              <a:ext uri="{FF2B5EF4-FFF2-40B4-BE49-F238E27FC236}">
                <a16:creationId xmlns:a16="http://schemas.microsoft.com/office/drawing/2014/main" id="{563FD01F-898A-4C5E-8E51-359D62B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874520"/>
            <a:ext cx="14630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987EFF07-3FCC-46C0-9832-8A5DC89C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93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Backend</a:t>
            </a:r>
            <a:endParaRPr sz="1050"/>
          </a:p>
        </p:txBody>
      </p:sp>
      <p:sp>
        <p:nvSpPr>
          <p:cNvPr id="49" name="Text 38">
            <a:extLst xmlns:a="http://schemas.openxmlformats.org/drawingml/2006/main">
              <a:ext uri="{FF2B5EF4-FFF2-40B4-BE49-F238E27FC236}">
                <a16:creationId xmlns:a16="http://schemas.microsoft.com/office/drawing/2014/main" id="{A9E50B17-989F-4E5A-A1FA-4D00809E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203704"/>
            <a:ext cx="13533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Firebase Auth · Cloud Functions · Firestore</a:t>
            </a:r>
            <a:endParaRPr sz="800"/>
          </a:p>
        </p:txBody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7069C56A-00A2-4FF9-8D41-EF78BAC6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0">
            <a:extLst xmlns:a="http://schemas.openxmlformats.org/drawingml/2006/main">
              <a:ext uri="{FF2B5EF4-FFF2-40B4-BE49-F238E27FC236}">
                <a16:creationId xmlns:a16="http://schemas.microsoft.com/office/drawing/2014/main" id="{B6D51426-FB80-4DD0-BF1A-9ED3595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2" name="Shape 41">
            <a:extLst xmlns:a="http://schemas.openxmlformats.org/drawingml/2006/main">
              <a:ext uri="{FF2B5EF4-FFF2-40B4-BE49-F238E27FC236}">
                <a16:creationId xmlns:a16="http://schemas.microsoft.com/office/drawing/2014/main" id="{17416FC5-CCAC-4FF1-8CEF-827D3A50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3" name="Shape 42">
            <a:extLst xmlns:a="http://schemas.openxmlformats.org/drawingml/2006/main">
              <a:ext uri="{FF2B5EF4-FFF2-40B4-BE49-F238E27FC236}">
                <a16:creationId xmlns:a16="http://schemas.microsoft.com/office/drawing/2014/main" id="{06E8E99C-0D3B-4817-829B-CD1464D9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246120"/>
            <a:ext cx="21488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5ECFF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4" name="Text 43">
            <a:extLst xmlns:a="http://schemas.openxmlformats.org/drawingml/2006/main">
              <a:ext uri="{FF2B5EF4-FFF2-40B4-BE49-F238E27FC236}">
                <a16:creationId xmlns:a16="http://schemas.microsoft.com/office/drawing/2014/main" id="{7FDFA42A-BC72-4F83-A33A-1465D33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0098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 Analysis (AI)</a:t>
            </a:r>
            <a:endParaRPr sz="1050"/>
          </a:p>
        </p:txBody>
      </p:sp>
      <p:sp>
        <p:nvSpPr>
          <p:cNvPr id="55" name="Text 44">
            <a:extLst xmlns:a="http://schemas.openxmlformats.org/drawingml/2006/main">
              <a:ext uri="{FF2B5EF4-FFF2-40B4-BE49-F238E27FC236}">
                <a16:creationId xmlns:a16="http://schemas.microsoft.com/office/drawing/2014/main" id="{4B540A0B-CBC6-440B-B23F-A5CE8159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575304"/>
            <a:ext cx="20391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FastAPI · risk score 0–1 from journey signals</a:t>
            </a:r>
            <a:endParaRPr sz="800"/>
          </a:p>
        </p:txBody>
      </p:sp>
      <p:sp>
        <p:nvSpPr>
          <p:cNvPr id="56" name="Shape 45">
            <a:extLst xmlns:a="http://schemas.openxmlformats.org/drawingml/2006/main">
              <a:ext uri="{FF2B5EF4-FFF2-40B4-BE49-F238E27FC236}">
                <a16:creationId xmlns:a16="http://schemas.microsoft.com/office/drawing/2014/main" id="{982678C2-DDA6-4E75-84DE-95CE3F3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5B445EC1-5756-414F-A3A8-BDF8D71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Engine</a:t>
            </a:r>
            <a:endParaRPr sz="10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3B025166-C308-4FCA-BF44-1391D72B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575304"/>
            <a:ext cx="2084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 + risk score → check-in &amp; escalation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170A6458-659C-4A00-AAB0-EF0ECF4A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0" name="Text 49">
            <a:extLst xmlns:a="http://schemas.openxmlformats.org/drawingml/2006/main">
              <a:ext uri="{FF2B5EF4-FFF2-40B4-BE49-F238E27FC236}">
                <a16:creationId xmlns:a16="http://schemas.microsoft.com/office/drawing/2014/main" id="{41168E37-AC8C-4162-9CDF-FC18AED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61" name="Shape 50">
            <a:extLst xmlns:a="http://schemas.openxmlformats.org/drawingml/2006/main">
              <a:ext uri="{FF2B5EF4-FFF2-40B4-BE49-F238E27FC236}">
                <a16:creationId xmlns:a16="http://schemas.microsoft.com/office/drawing/2014/main" id="{E7824ABD-DA3E-4C35-A4E4-CA210B94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626D7B4B-F0CA-404B-B9A4-E9E62FA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Nearby Community</a:t>
            </a:r>
            <a:endParaRPr sz="950"/>
          </a:p>
        </p:txBody>
      </p:sp>
      <p:sp>
        <p:nvSpPr>
          <p:cNvPr id="63" name="Shape 52">
            <a:extLst xmlns:a="http://schemas.openxmlformats.org/drawingml/2006/main">
              <a:ext uri="{FF2B5EF4-FFF2-40B4-BE49-F238E27FC236}">
                <a16:creationId xmlns:a16="http://schemas.microsoft.com/office/drawing/2014/main" id="{6AFB5D44-FC2D-4C5F-B7D0-85633AB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4" name="Shape 53">
            <a:extLst xmlns:a="http://schemas.openxmlformats.org/drawingml/2006/main">
              <a:ext uri="{FF2B5EF4-FFF2-40B4-BE49-F238E27FC236}">
                <a16:creationId xmlns:a16="http://schemas.microsoft.com/office/drawing/2014/main" id="{8EC7E375-17FA-48D6-AB88-E739438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3960" y="3680460"/>
            <a:ext cx="73152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5" name="Shape 54">
            <a:extLst xmlns:a="http://schemas.openxmlformats.org/drawingml/2006/main">
              <a:ext uri="{FF2B5EF4-FFF2-40B4-BE49-F238E27FC236}">
                <a16:creationId xmlns:a16="http://schemas.microsoft.com/office/drawing/2014/main" id="{34C64536-AEBB-44BF-B573-6F702552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172200" y="3447288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6" name="Shape 55">
            <a:extLst xmlns:a="http://schemas.openxmlformats.org/drawingml/2006/main">
              <a:ext uri="{FF2B5EF4-FFF2-40B4-BE49-F238E27FC236}">
                <a16:creationId xmlns:a16="http://schemas.microsoft.com/office/drawing/2014/main" id="{05C2AF8C-5A79-42FF-AC2A-1700E20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72200" y="3840480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7" name="Shape 56">
            <a:extLst xmlns:a="http://schemas.openxmlformats.org/drawingml/2006/main">
              <a:ext uri="{FF2B5EF4-FFF2-40B4-BE49-F238E27FC236}">
                <a16:creationId xmlns:a16="http://schemas.microsoft.com/office/drawing/2014/main" id="{2667B3C0-62EE-4092-8169-A38929DE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122E"/>
            </a:solidFill>
            <a:prstDash val="dash"/>
            <a:tailEnd type="triangle"/>
          </a:ln>
        </p:spPr>
      </p:sp>
      <p:sp>
        <p:nvSpPr>
          <p:cNvPr id="68" name="Text 57">
            <a:extLst xmlns:a="http://schemas.openxmlformats.org/drawingml/2006/main">
              <a:ext uri="{FF2B5EF4-FFF2-40B4-BE49-F238E27FC236}">
                <a16:creationId xmlns:a16="http://schemas.microsoft.com/office/drawing/2014/main" id="{0A1E6F15-BF96-4293-B146-1C8DC8B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6148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Direct SOS (tap / shake / voice)</a:t>
            </a:r>
            <a:endParaRPr sz="750"/>
          </a:p>
        </p:txBody>
      </p:sp>
      <p:sp>
        <p:nvSpPr>
          <p:cNvPr id="69" name="Text 58">
            <a:extLst xmlns:a="http://schemas.openxmlformats.org/drawingml/2006/main">
              <a:ext uri="{FF2B5EF4-FFF2-40B4-BE49-F238E27FC236}">
                <a16:creationId xmlns:a16="http://schemas.microsoft.com/office/drawing/2014/main" id="{3C0C09AC-0EB0-4186-9F0F-6E3DED89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42232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Coarse alert · 112 / security / witness</a:t>
            </a:r>
            <a:endParaRPr sz="750"/>
          </a:p>
        </p:txBody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9FDBADCA-226C-48E9-BCF5-8BB4F01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348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ENGINE — ESCALATION LADDER</a:t>
            </a:r>
            <a:endParaRPr sz="10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E2B33297-B673-482D-B49D-D040B5FC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36592"/>
            <a:ext cx="1828800" cy="7132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72" name="Text 61">
            <a:extLst xmlns:a="http://schemas.openxmlformats.org/drawingml/2006/main">
              <a:ext uri="{FF2B5EF4-FFF2-40B4-BE49-F238E27FC236}">
                <a16:creationId xmlns:a16="http://schemas.microsoft.com/office/drawing/2014/main" id="{F94C221F-384C-44AF-9513-1D267AB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 “Are you safe?”</a:t>
            </a:r>
            <a:endParaRPr sz="1050"/>
          </a:p>
        </p:txBody>
      </p:sp>
      <p:sp>
        <p:nvSpPr>
          <p:cNvPr id="73" name="Text 62">
            <a:extLst xmlns:a="http://schemas.openxmlformats.org/drawingml/2006/main">
              <a:ext uri="{FF2B5EF4-FFF2-40B4-BE49-F238E27FC236}">
                <a16:creationId xmlns:a16="http://schemas.microsoft.com/office/drawing/2014/main" id="{0B27C70A-AABE-4924-8948-16E0EEF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Silent prompt · 30 s · safe PIN</a:t>
            </a:r>
            <a:endParaRPr sz="850"/>
          </a:p>
        </p:txBody>
      </p:sp>
      <p:sp>
        <p:nvSpPr>
          <p:cNvPr id="74" name="Shape 63">
            <a:extLst xmlns:a="http://schemas.openxmlformats.org/drawingml/2006/main">
              <a:ext uri="{FF2B5EF4-FFF2-40B4-BE49-F238E27FC236}">
                <a16:creationId xmlns:a16="http://schemas.microsoft.com/office/drawing/2014/main" id="{DF8032DC-067C-4A8A-A863-8588294E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2700">
            <a:solidFill>
              <a:srgbClr val="E8820C"/>
            </a:solidFill>
            <a:prstDash val="solid"/>
          </a:ln>
        </p:spPr>
      </p:sp>
      <p:sp>
        <p:nvSpPr>
          <p:cNvPr id="75" name="Text 64">
            <a:extLst xmlns:a="http://schemas.openxmlformats.org/drawingml/2006/main">
              <a:ext uri="{FF2B5EF4-FFF2-40B4-BE49-F238E27FC236}">
                <a16:creationId xmlns:a16="http://schemas.microsoft.com/office/drawing/2014/main" id="{57E9320A-8DC5-485D-A666-B8AEDDC5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 Alert guardians</a:t>
            </a:r>
            <a:endParaRPr sz="1050"/>
          </a:p>
        </p:txBody>
      </p:sp>
      <p:sp>
        <p:nvSpPr>
          <p:cNvPr id="76" name="Text 65">
            <a:extLst xmlns:a="http://schemas.openxmlformats.org/drawingml/2006/main">
              <a:ext uri="{FF2B5EF4-FFF2-40B4-BE49-F238E27FC236}">
                <a16:creationId xmlns:a16="http://schemas.microsoft.com/office/drawing/2014/main" id="{9E067C7C-4488-4F6B-959A-6F8291DB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+ SMS + live location link</a:t>
            </a:r>
            <a:endParaRPr sz="850"/>
          </a:p>
        </p:txBody>
      </p:sp>
      <p:sp>
        <p:nvSpPr>
          <p:cNvPr id="77" name="Shape 66">
            <a:extLst xmlns:a="http://schemas.openxmlformats.org/drawingml/2006/main">
              <a:ext uri="{FF2B5EF4-FFF2-40B4-BE49-F238E27FC236}">
                <a16:creationId xmlns:a16="http://schemas.microsoft.com/office/drawing/2014/main" id="{3CBBBEEC-09AC-4893-8483-F3001FA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78" name="Text 67">
            <a:extLst xmlns:a="http://schemas.openxmlformats.org/drawingml/2006/main">
              <a:ext uri="{FF2B5EF4-FFF2-40B4-BE49-F238E27FC236}">
                <a16:creationId xmlns:a16="http://schemas.microsoft.com/office/drawing/2014/main" id="{8423ECF3-D9B2-416E-A53B-0703C892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  Emergency mode</a:t>
            </a:r>
            <a:endParaRPr sz="1050"/>
          </a:p>
        </p:txBody>
      </p:sp>
      <p:sp>
        <p:nvSpPr>
          <p:cNvPr id="79" name="Text 68">
            <a:extLst xmlns:a="http://schemas.openxmlformats.org/drawingml/2006/main">
              <a:ext uri="{FF2B5EF4-FFF2-40B4-BE49-F238E27FC236}">
                <a16:creationId xmlns:a16="http://schemas.microsoft.com/office/drawing/2014/main" id="{0B0C20B0-68DC-4531-8FD0-A49BE77E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Siren · call chain · one-tap 112</a:t>
            </a:r>
            <a:endParaRPr sz="850"/>
          </a:p>
        </p:txBody>
      </p:sp>
      <p:sp>
        <p:nvSpPr>
          <p:cNvPr id="80" name="Shape 69">
            <a:extLst xmlns:a="http://schemas.openxmlformats.org/drawingml/2006/main">
              <a:ext uri="{FF2B5EF4-FFF2-40B4-BE49-F238E27FC236}">
                <a16:creationId xmlns:a16="http://schemas.microsoft.com/office/drawing/2014/main" id="{87E4CCB6-FA58-4E45-AB75-76103B0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61ab3303d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0288" y="585216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82" name="Text 70">
            <a:extLst xmlns:a="http://schemas.openxmlformats.org/drawingml/2006/main">
              <a:ext uri="{FF2B5EF4-FFF2-40B4-BE49-F238E27FC236}">
                <a16:creationId xmlns:a16="http://schemas.microsoft.com/office/drawing/2014/main" id="{50C7199D-9606-4036-9FE3-F99A34D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Privacy by design: location shared only during journey/SOS · TLS · Firestore rules · auto-delete history · nearby alerts hide exact address + identity.</a:t>
            </a:r>
            <a:endParaRPr sz="850"/>
          </a:p>
        </p:txBody>
      </p:sp>
      <p:sp>
        <p:nvSpPr>
          <p:cNvPr id="83" name="Shape 71">
            <a:extLst xmlns:a="http://schemas.openxmlformats.org/drawingml/2006/main">
              <a:ext uri="{FF2B5EF4-FFF2-40B4-BE49-F238E27FC236}">
                <a16:creationId xmlns:a16="http://schemas.microsoft.com/office/drawing/2014/main" id="{A0D6BF0A-C2D6-4017-8289-D3B8926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72a1367304c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3608" y="5852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85" name="Text 72">
            <a:extLst xmlns:a="http://schemas.openxmlformats.org/drawingml/2006/main">
              <a:ext uri="{FF2B5EF4-FFF2-40B4-BE49-F238E27FC236}">
                <a16:creationId xmlns:a16="http://schemas.microsoft.com/office/drawing/2014/main" id="{EADCE12C-5C57-4AEF-9188-F5E0D53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Offline fallback: SMS with last-known location; queue and retry uploads when data returns.</a:t>
            </a:r>
            <a:endParaRPr sz="850"/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2B6DB4-4E3C-4D3E-9515-26D14A0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1023"/>
          </a:solidFill>
          <a:ln xmlns:a="http://schemas.openxmlformats.org/drawingml/2006/main" w="9525">
            <a:solidFill>
              <a:srgbClr val="6D102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FB2668-10D6-4093-A1C3-ADF6B357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773168"/>
            <a:ext cx="152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  Community SOS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F4772C-AAF5-4317-8251-C16D1C7E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5065776"/>
            <a:ext cx="15621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7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Anonymized · ~200 m · optional 10–15s audio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01E9BA6-9229-4CB1-B97C-ED2D175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2097739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3AAC3B-D083-41D1-80D2-EAC4979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CD5A6A-353E-43D5-AE26-8946BC7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9A261C-743E-4ED8-A450-7321B5DA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FEASIBILITY, SHOWSTOPPERS &amp; USP</a:t>
            </a:r>
            <a:endParaRPr sz="2800"/>
          </a:p>
        </p:txBody>
      </p:sp>
      <p:pic>
        <p:nvPicPr>
          <p:cNvPr id="10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113f5bcf145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be4d9b163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ADC2E66-5FB0-49EA-AA0D-EDC99CA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58064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5D4A8EE8-489F-4A61-843E-EEAB711F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5240285-8CDE-47E2-97B4-44F398F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4779728-EFFC-49EF-981A-4AFF491D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145151-C1F6-41B6-94F1-377661DA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</a:t>
            </a:r>
            <a:endParaRPr sz="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089D20E-8FE3-4B92-8181-DA0DE0B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Mature Android APIs: GPS, sensors, geofencing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= auth, DB &amp; push with no server setup</a:t>
            </a:r>
            <a:endParaRPr sz="9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BA12C30-BACA-47BE-B063-80C95374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39F2559-5D6C-461E-AF4F-CA39B78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45A4CFD-8A16-45A7-AAC7-598BB058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Runs on existing smartphones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No extra hardware · free-tier cloud &amp; Maps credits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94344A8-9FF8-4717-AF9E-E00B4C9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140A8FB-774A-4CE2-860C-33B5193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SCOPE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EEA3880-ECBD-4CE9-9F1A-F5026D33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Lightweight risk score: rules + Isolation Forest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Trained &amp; demoed on simulated journeys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3D64B62-5FB5-42D3-84CF-87D1CC8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0153F7B-7918-4C10-BAA7-6972EB4D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HACKATHON BUILD PLAN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55421605-0C8F-4D18-9A49-8AAB4B3D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3 modules: SOS core → Journey monitor → Risk &amp; escalation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4 members build in parallel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5D79037-F8BD-4D9E-836A-FE9B886E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83080"/>
            <a:ext cx="0" cy="2377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F49C88B-B7AA-4C54-B24E-C160BD32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5440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65732A2-AFB1-40A4-9D5B-06F39C4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34840"/>
            <a:ext cx="58064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E8F8049C-32D5-4872-A2A3-72226C51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FD38420D-FEB3-43E0-B971-B62B961A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USP (UNIQUE SELLING POINT)</a:t>
            </a:r>
            <a:endParaRPr sz="13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478107A2-1562-4E1E-B02B-442D0C7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8E8F7BC-CA46-4104-83B3-850FD672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63c205b2b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728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90E74C5F-7E4F-44E5-90B6-A3FC949D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Proactive, not only reactive</a:t>
            </a:r>
            <a:endParaRPr sz="950"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93E1FF1E-F7F4-4057-BC02-A38FE102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Watches the journey, not just waits for a button</a:t>
            </a:r>
            <a:endParaRPr sz="8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DD9DB5DB-A55F-4C86-8987-AD86CAAD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503D0F80-0E91-4B0D-80F1-87A9669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0bf576f8743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99816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F4933941-DAA7-4EF0-8BDB-A132A1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Multi-signal monitoring</a:t>
            </a:r>
            <a:endParaRPr sz="95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C626617B-FE0B-4DAF-B4D8-9B1DD3E1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ETA, timer &amp; motion combined</a:t>
            </a:r>
            <a:endParaRPr sz="800"/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F1764D79-1541-4133-9C17-5498BAE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B06E4AC5-5A89-48F5-986F-A658E65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4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120228de2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D8EEC156-285C-4472-B2E2-49802ED5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Misuse-resistant design</a:t>
            </a:r>
            <a:endParaRPr sz="95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AF881B8A-7F1A-45DC-9880-6E1CE2DB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Anonymized alerts · rate limits · audit trails</a:t>
            </a:r>
            <a:endParaRPr sz="800"/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46A22269-FF4A-46EA-8203-D84D0DF9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5595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11EE9B3E-D7FE-4785-B257-42BB633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42839C18-12BD-4FA7-BB34-DFCCBE74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SHOWSTOPPERS &amp; MITIGATION</a:t>
            </a:r>
            <a:endParaRPr sz="13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6F7D7B0C-337D-4FD7-A7F9-08348860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1907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</a:t>
            </a:r>
            <a:endParaRPr sz="1100"/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CC1F6721-0FC4-4E26-993D-2CD4B4C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19072"/>
            <a:ext cx="2679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MITIGATION</a:t>
            </a:r>
            <a:endParaRPr sz="1100"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9165B337-AD54-46A6-A2FD-929AC28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2996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edf1193f54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1488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BA884080-26AA-45C6-B054-2BEA60A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2996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 inaccuracy</a:t>
            </a:r>
            <a:endParaRPr sz="950"/>
          </a:p>
        </p:txBody>
      </p:sp>
      <p:sp>
        <p:nvSpPr>
          <p:cNvPr id="50" name="Shape 42">
            <a:extLst xmlns:a="http://schemas.openxmlformats.org/drawingml/2006/main">
              <a:ext uri="{FF2B5EF4-FFF2-40B4-BE49-F238E27FC236}">
                <a16:creationId xmlns:a16="http://schemas.microsoft.com/office/drawing/2014/main" id="{C557C7D6-906C-4013-8AAF-4BBEE15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16802739-DC94-407E-BC8D-FB5A89E9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2996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713ACF3B-DEA1-4CE0-9A23-9070E6C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02996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Accuracy filter + route buffer; confirm over several points</a:t>
            </a:r>
            <a:endParaRPr sz="850"/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B92FB891-A638-458B-BF03-6DE0841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e98a9b4b9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73405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0604B301-D00A-415E-97A2-B2E9764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1518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alarms</a:t>
            </a:r>
            <a:endParaRPr sz="950"/>
          </a:p>
        </p:txBody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9E2E1423-3929-41C0-B192-463A92A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6207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7" name="Shape 48">
            <a:extLst xmlns:a="http://schemas.openxmlformats.org/drawingml/2006/main">
              <a:ext uri="{FF2B5EF4-FFF2-40B4-BE49-F238E27FC236}">
                <a16:creationId xmlns:a16="http://schemas.microsoft.com/office/drawing/2014/main" id="{A392EBAB-5546-40B2-83E4-256F18D8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1518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A630BDF7-AD23-4C55-B527-3823CA5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61518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Check-in + cancel window + safe PIN; no public accusation feed or identity display</a:t>
            </a:r>
            <a:endParaRPr sz="850"/>
          </a:p>
        </p:txBody>
      </p:sp>
      <p:sp>
        <p:nvSpPr>
          <p:cNvPr id="59" name="Shape 50">
            <a:extLst xmlns:a="http://schemas.openxmlformats.org/drawingml/2006/main">
              <a:ext uri="{FF2B5EF4-FFF2-40B4-BE49-F238E27FC236}">
                <a16:creationId xmlns:a16="http://schemas.microsoft.com/office/drawing/2014/main" id="{BCE382C1-D713-455B-B802-5F24A2D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f4caac5294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3192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DF56452A-041C-4919-B9A9-71AC4972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04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Poor network</a:t>
            </a:r>
            <a:endParaRPr sz="9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0D432A72-B323-451F-B9F1-356925C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47288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3" name="Shape 53">
            <a:extLst xmlns:a="http://schemas.openxmlformats.org/drawingml/2006/main">
              <a:ext uri="{FF2B5EF4-FFF2-40B4-BE49-F238E27FC236}">
                <a16:creationId xmlns:a16="http://schemas.microsoft.com/office/drawing/2014/main" id="{5520291B-340B-44A2-A073-91A4730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00400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64" name="Text 54">
            <a:extLst xmlns:a="http://schemas.openxmlformats.org/drawingml/2006/main">
              <a:ext uri="{FF2B5EF4-FFF2-40B4-BE49-F238E27FC236}">
                <a16:creationId xmlns:a16="http://schemas.microsoft.com/office/drawing/2014/main" id="{CCF1634F-DD4E-4813-AAB2-DE61C260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00400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SMS fallback with last location; queue &amp; retry</a:t>
            </a:r>
            <a:endParaRPr sz="850"/>
          </a:p>
        </p:txBody>
      </p:sp>
      <p:sp>
        <p:nvSpPr>
          <p:cNvPr id="65" name="Shape 55">
            <a:extLst xmlns:a="http://schemas.openxmlformats.org/drawingml/2006/main">
              <a:ext uri="{FF2B5EF4-FFF2-40B4-BE49-F238E27FC236}">
                <a16:creationId xmlns:a16="http://schemas.microsoft.com/office/drawing/2014/main" id="{44DB3425-1180-49BB-831D-CB57A49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85616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3a6bb132d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90448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7" name="Text 56">
            <a:extLst xmlns:a="http://schemas.openxmlformats.org/drawingml/2006/main">
              <a:ext uri="{FF2B5EF4-FFF2-40B4-BE49-F238E27FC236}">
                <a16:creationId xmlns:a16="http://schemas.microsoft.com/office/drawing/2014/main" id="{B43FB8A0-998A-47C2-9F3D-A4FAF2B6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85616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Battery drain</a:t>
            </a:r>
            <a:endParaRPr sz="950"/>
          </a:p>
        </p:txBody>
      </p:sp>
      <p:sp>
        <p:nvSpPr>
          <p:cNvPr id="68" name="Shape 57">
            <a:extLst xmlns:a="http://schemas.openxmlformats.org/drawingml/2006/main">
              <a:ext uri="{FF2B5EF4-FFF2-40B4-BE49-F238E27FC236}">
                <a16:creationId xmlns:a16="http://schemas.microsoft.com/office/drawing/2014/main" id="{287839F0-BE45-4A68-8B8A-15AA7773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32504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9" name="Shape 58">
            <a:extLst xmlns:a="http://schemas.openxmlformats.org/drawingml/2006/main">
              <a:ext uri="{FF2B5EF4-FFF2-40B4-BE49-F238E27FC236}">
                <a16:creationId xmlns:a16="http://schemas.microsoft.com/office/drawing/2014/main" id="{B401DD16-6F88-47A7-876F-7B1E267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85616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AF4498F0-E121-4081-AA69-6B3EE8A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785616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Adaptive GPS sampling; monitor only during a journey</a:t>
            </a:r>
            <a:endParaRPr sz="8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FC95BE9E-DCC3-4CBB-A469-2C1DE01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896341a89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3" name="Text 61">
            <a:extLst xmlns:a="http://schemas.openxmlformats.org/drawingml/2006/main">
              <a:ext uri="{FF2B5EF4-FFF2-40B4-BE49-F238E27FC236}">
                <a16:creationId xmlns:a16="http://schemas.microsoft.com/office/drawing/2014/main" id="{E8A107BE-6F0E-41FE-AED4-37B3704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708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&amp; security</a:t>
            </a:r>
            <a:endParaRPr sz="950"/>
          </a:p>
        </p:txBody>
      </p:sp>
      <p:sp>
        <p:nvSpPr>
          <p:cNvPr id="74" name="Shape 62">
            <a:extLst xmlns:a="http://schemas.openxmlformats.org/drawingml/2006/main">
              <a:ext uri="{FF2B5EF4-FFF2-40B4-BE49-F238E27FC236}">
                <a16:creationId xmlns:a16="http://schemas.microsoft.com/office/drawing/2014/main" id="{2178767D-B33E-47C8-B842-A23E0A5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617720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75" name="Shape 63">
            <a:extLst xmlns:a="http://schemas.openxmlformats.org/drawingml/2006/main">
              <a:ext uri="{FF2B5EF4-FFF2-40B4-BE49-F238E27FC236}">
                <a16:creationId xmlns:a16="http://schemas.microsoft.com/office/drawing/2014/main" id="{FB36F2ED-C2E0-4085-A0EB-2B2CDE68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0832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6" name="Text 64">
            <a:extLst xmlns:a="http://schemas.openxmlformats.org/drawingml/2006/main">
              <a:ext uri="{FF2B5EF4-FFF2-40B4-BE49-F238E27FC236}">
                <a16:creationId xmlns:a16="http://schemas.microsoft.com/office/drawing/2014/main" id="{0670E40E-7089-42FC-A061-0798220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370832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Explicit consent, journey-only sharing, TLS, auto-delete; nearby alerts hide identity</a:t>
            </a:r>
            <a:endParaRPr sz="850"/>
          </a:p>
        </p:txBody>
      </p:sp>
      <p:sp>
        <p:nvSpPr>
          <p:cNvPr id="77" name="Shape 65">
            <a:extLst xmlns:a="http://schemas.openxmlformats.org/drawingml/2006/main">
              <a:ext uri="{FF2B5EF4-FFF2-40B4-BE49-F238E27FC236}">
                <a16:creationId xmlns:a16="http://schemas.microsoft.com/office/drawing/2014/main" id="{1DFB208F-F158-41BD-B262-BFFCD07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5604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9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e6ca3a820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07492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9" name="Text 66">
            <a:extLst xmlns:a="http://schemas.openxmlformats.org/drawingml/2006/main">
              <a:ext uri="{FF2B5EF4-FFF2-40B4-BE49-F238E27FC236}">
                <a16:creationId xmlns:a16="http://schemas.microsoft.com/office/drawing/2014/main" id="{18180276-1DA6-4731-91DA-9BC608BE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5604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Background-location limits</a:t>
            </a:r>
            <a:endParaRPr sz="950"/>
          </a:p>
        </p:txBody>
      </p:sp>
      <p:sp>
        <p:nvSpPr>
          <p:cNvPr id="80" name="Shape 67">
            <a:extLst xmlns:a="http://schemas.openxmlformats.org/drawingml/2006/main">
              <a:ext uri="{FF2B5EF4-FFF2-40B4-BE49-F238E27FC236}">
                <a16:creationId xmlns:a16="http://schemas.microsoft.com/office/drawing/2014/main" id="{3FC91301-37F6-462F-AA9F-2C643384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20293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1" name="Shape 68">
            <a:extLst xmlns:a="http://schemas.openxmlformats.org/drawingml/2006/main">
              <a:ext uri="{FF2B5EF4-FFF2-40B4-BE49-F238E27FC236}">
                <a16:creationId xmlns:a16="http://schemas.microsoft.com/office/drawing/2014/main" id="{D21B7D69-919E-4793-B525-ED2854CB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95604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2" name="Text 69">
            <a:extLst xmlns:a="http://schemas.openxmlformats.org/drawingml/2006/main">
              <a:ext uri="{FF2B5EF4-FFF2-40B4-BE49-F238E27FC236}">
                <a16:creationId xmlns:a16="http://schemas.microsoft.com/office/drawing/2014/main" id="{63A7E65B-4C9B-447C-BFAD-84E08B6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95604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Foreground service with visible notification (Android policy)</a:t>
            </a:r>
            <a:endParaRPr sz="850"/>
          </a:p>
        </p:txBody>
      </p:sp>
      <p:sp>
        <p:nvSpPr>
          <p:cNvPr id="83" name="Shape 70">
            <a:extLst xmlns:a="http://schemas.openxmlformats.org/drawingml/2006/main">
              <a:ext uri="{FF2B5EF4-FFF2-40B4-BE49-F238E27FC236}">
                <a16:creationId xmlns:a16="http://schemas.microsoft.com/office/drawing/2014/main" id="{A6CBDB55-2037-45A7-A48E-B2AECD7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4126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8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8c569f8de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66013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5" name="Text 71">
            <a:extLst xmlns:a="http://schemas.openxmlformats.org/drawingml/2006/main">
              <a:ext uri="{FF2B5EF4-FFF2-40B4-BE49-F238E27FC236}">
                <a16:creationId xmlns:a16="http://schemas.microsoft.com/office/drawing/2014/main" id="{D7CF0E78-A78D-4CE4-A56F-07604E35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5412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mis-scoring</a:t>
            </a:r>
            <a:endParaRPr sz="950"/>
          </a:p>
        </p:txBody>
      </p:sp>
      <p:sp>
        <p:nvSpPr>
          <p:cNvPr id="86" name="Shape 72">
            <a:extLst xmlns:a="http://schemas.openxmlformats.org/drawingml/2006/main">
              <a:ext uri="{FF2B5EF4-FFF2-40B4-BE49-F238E27FC236}">
                <a16:creationId xmlns:a16="http://schemas.microsoft.com/office/drawing/2014/main" id="{B51FF31F-1800-4320-8E69-CA3A76BE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78815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7" name="Shape 73">
            <a:extLst xmlns:a="http://schemas.openxmlformats.org/drawingml/2006/main">
              <a:ext uri="{FF2B5EF4-FFF2-40B4-BE49-F238E27FC236}">
                <a16:creationId xmlns:a16="http://schemas.microsoft.com/office/drawing/2014/main" id="{6FEE36B1-6196-45C7-A1A7-83235BAD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4126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8" name="Text 74">
            <a:extLst xmlns:a="http://schemas.openxmlformats.org/drawingml/2006/main">
              <a:ext uri="{FF2B5EF4-FFF2-40B4-BE49-F238E27FC236}">
                <a16:creationId xmlns:a16="http://schemas.microsoft.com/office/drawing/2014/main" id="{7EAC1CE1-245E-474B-87BF-E255432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54126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AI only raises signals; rules + user confirmation decide</a:t>
            </a:r>
            <a:endParaRPr sz="850"/>
          </a:p>
        </p:txBody>
      </p:sp>
      <p:sp>
        <p:nvSpPr>
          <p:cNvPr id="89" name="Text 75">
            <a:extLst xmlns:a="http://schemas.openxmlformats.org/drawingml/2006/main">
              <a:ext uri="{FF2B5EF4-FFF2-40B4-BE49-F238E27FC236}">
                <a16:creationId xmlns:a16="http://schemas.microsoft.com/office/drawing/2014/main" id="{9E5C183A-F2BE-4B9D-940D-3A47B623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6144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SafeSaathi is an assistive tool — it complements, never replaces, 112 and police. It does not predict or prevent crime.</a:t>
            </a:r>
            <a:endParaRPr sz="850"/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1E6D7C-3612-4BBC-9FA4-0E0DB4DE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93685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808E17-E838-46FD-B50A-6920F56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DAA884-038B-4D02-A067-1A9D86C9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A03A89-597B-49C5-825F-69B4435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BUSINESS MODEL &amp; REFERENCES</a:t>
            </a:r>
            <a:endParaRPr sz="28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8fd7bb3e74e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a4ce61376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9E97252-3566-4198-A2CC-DA8BED9B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644652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01169CC9-9F3B-4312-881E-D0B82B44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D90CA9A-2343-44E7-95A1-FA593610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MODEL — FREEMIUM B2C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F175A3E-719D-427E-8F6E-D1C151C2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4D031F8-AF67-409B-ADF0-430AD5C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9294f363d40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1EFA530-C03E-4781-9433-9B549A66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84BD246-C290-4E79-8A28-EA7F773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  <a:endParaRPr sz="8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8B0746D-4C2E-449F-9A9F-39C62651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One-tap, shake &amp; voice SOS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Trusted contacts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Basic live location sharing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Nearby help + emergency siren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Safety timer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2C49DA53-1ABA-438C-BB78-5590B48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E3B70F1E-92D7-4680-839E-13AC145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fc2ee1420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904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A93CA1FD-269B-41AC-A340-424748F2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B1ED7512-D7BE-4E6A-8BA8-FB360DA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low-cost monthly / yearly</a:t>
            </a:r>
            <a:endParaRPr sz="8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73F044E3-E50D-44C3-B009-9B97A370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Automated Guardian Journey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Route-deviation &amp; stop alerts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Extended journey history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More guardians &amp; custom escalation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0F1A86A-7021-4B67-B013-73D694F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8795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Principle: </a:t>
            </a:r>
            <a:r>
              <a:rPr sz="105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SOS is never behind a paywall.</a:t>
            </a:r>
            <a:endParaRPr sz="10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6B4188C-823E-4916-B725-B078890A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5371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ADDITIONAL REVENUE — INSTITUTIONAL PARTNERSHIPS (B2B2C)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FB6464C6-E831-4C57-AF9B-C5A7D42F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847135A6-25F1-42F2-A530-A2551DB9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8fac4ea92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33AE6D1-4996-4982-8B2A-D89DB4A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Colleges &amp; Universities</a:t>
            </a:r>
            <a:endParaRPr sz="9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4ECCA76D-DB97-48A0-B169-7CC4147C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Campus licence, hostel check-ins</a:t>
            </a:r>
            <a:endParaRPr sz="8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2D234D7F-ED1D-4069-B9FC-52CF71D5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338FA8AC-B437-4BFA-85AA-7AAEA80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d4f2a94d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7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C864B2EA-798B-41EB-91E5-9936AD6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Corporates</a:t>
            </a:r>
            <a:endParaRPr sz="9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0A11D860-7AA1-4783-9819-8476344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Night-shift &amp; cab-commute safety</a:t>
            </a:r>
            <a:endParaRPr sz="8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E9DDEB6-6A8B-43D7-B30E-12FF08D1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23F499C-A8C8-43BC-83AA-8BBA8CC3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66374f735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9D292533-187A-493D-922A-C5A57D8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Travel &amp; Mobility</a:t>
            </a:r>
            <a:endParaRPr sz="95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BEF4B0C9-2286-42E0-9E50-C21AC33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Hostels, travel &amp; cab platforms</a:t>
            </a:r>
            <a:endParaRPr sz="85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3ACD5407-E197-4C47-81B5-F128A411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6080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Sustainability: 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serverless, pay-as-you-grow infra keeps costs low; institutional licences fund the free tier.</a:t>
            </a:r>
            <a:endParaRPr sz="9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3E53D265-E7EA-4FCF-8D01-9D01B2A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88720"/>
            <a:ext cx="491947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CBA71F9C-AD5A-4FB4-88B8-BE92FA16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E01FD7E5-2F4A-40E4-9538-BAFEDBD5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  <a:endParaRPr sz="13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7A190A87-B055-494B-B124-47726D9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STATISTICS &amp; REPORTS</a:t>
            </a:r>
            <a:endParaRPr sz="95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5C0F19AC-2191-4808-ADB7-3D5C12EE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11680"/>
            <a:ext cx="45537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NCRB, “Crime in India 2023” — ncrb.gov.in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[2]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NCW &amp; Pvalue Analytics, “NARI 2025: National Annual Report &amp; Index on Women’s Safety” — pvalueanalytics.com/Home/NARI2025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[3]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Response Support System (112 India) — 112.gov.in</a:t>
            </a:r>
            <a:endParaRPr sz="9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D9231E59-0579-42CA-A41E-E49E79DA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OFFICIAL DOCUMENTATION &amp; APIs</a:t>
            </a:r>
            <a:endParaRPr sz="95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1B651097-66B8-4E0B-9F10-B6E93DD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91840"/>
            <a:ext cx="45537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[4]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Android Developers — Location, background location &amp; sensors guides — developer.android.com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[5]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Platform — Maps SDK for Android, Places API — developers.google.com/maps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[6]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— Auth, Firestore, Cloud Functions, FCM — firebase.google.com/docs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[7]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FastAPI — fastapi.tiangolo.com · scikit-learn — scikit-learn.org</a:t>
            </a:r>
            <a:endParaRPr sz="9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2C28B7F1-7105-4526-8C25-5B2873ED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6360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RESEARCH PAPERS</a:t>
            </a:r>
            <a:endParaRPr sz="950"/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55611EE0-B487-481E-85BA-A244C06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92040"/>
            <a:ext cx="455371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[8]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 D. et al., “A mobile application for Women’s Safety: WoSApp,” IEEE TENCON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[9]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Yarrabothu R.S., Thota B., “Abhaya: An Android App for the safety of women,” IEEE INDICON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[10]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Zhang D. et al., “iBAT: Detecting anomalous taxi trajectories from GPS traces,” ACM UbiComp 2011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Chandola V., Banerjee A., Kumar V., “Anomaly Detection: A Survey,” ACM Computing Surveys, 2009</a:t>
            </a:r>
            <a:endParaRPr sz="900"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229CD4-577A-4B06-AB60-AAB0C50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412705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2026-09-26T22:39:58.7460000Z</dcterms:created>
  <dcterms:modified xsi:type="dcterms:W3CDTF">2026-09-26T22:39:58.7460000Z</dcterms:modified>
</coreProperties>
</file>