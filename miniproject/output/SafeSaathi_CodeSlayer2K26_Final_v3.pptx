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2f4859e8e84155" /><Relationship Type="http://schemas.openxmlformats.org/officeDocument/2006/relationships/extended-properties" Target="/docProps/app.xml" Id="R106dae57cc7040fa" /><Relationship Type="http://schemas.openxmlformats.org/officeDocument/2006/relationships/officeDocument" Target="/ppt/presentation.xml" Id="Rbbc9e14e32954c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27d83f3c26462e"/>
  </p:sldMasterIdLst>
  <p:notesMasterIdLst>
    <p:notesMasterId xmlns:r="http://schemas.openxmlformats.org/officeDocument/2006/relationships" r:id="Rcdce8cfed5a14374"/>
  </p:notesMasterIdLst>
  <p:sldIdLst>
    <p:sldId xmlns:r="http://schemas.openxmlformats.org/officeDocument/2006/relationships" id="256" r:id="R16827ea9aae0448d"/>
    <p:sldId xmlns:r="http://schemas.openxmlformats.org/officeDocument/2006/relationships" id="257" r:id="R3472a2b711bb46df"/>
    <p:sldId xmlns:r="http://schemas.openxmlformats.org/officeDocument/2006/relationships" id="258" r:id="R0ccaa69e9bcf4ad9"/>
    <p:sldId xmlns:r="http://schemas.openxmlformats.org/officeDocument/2006/relationships" id="259" r:id="R36dc9ef765ba4743"/>
    <p:sldId xmlns:r="http://schemas.openxmlformats.org/officeDocument/2006/relationships" id="260" r:id="Rdb9c6bf90fe54f08"/>
    <p:sldId xmlns:r="http://schemas.openxmlformats.org/officeDocument/2006/relationships" id="261" r:id="R3da2e8f5ec614e44"/>
  </p:sldIdLst>
  <p:sldSz cx="12192000" cy="68580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ff978e2c0434528" /><Relationship Type="http://schemas.openxmlformats.org/officeDocument/2006/relationships/slideMaster" Target="/ppt/slideMasters/slideMaster1.xml" Id="R7c27d83f3c26462e" /><Relationship Type="http://schemas.openxmlformats.org/officeDocument/2006/relationships/notesMaster" Target="/ppt/notesMasters/notesMaster1.xml" Id="Rcdce8cfed5a14374" /><Relationship Type="http://schemas.openxmlformats.org/officeDocument/2006/relationships/presProps" Target="/ppt/presProps.xml" Id="R032f23f263de4c5e" /><Relationship Type="http://schemas.openxmlformats.org/officeDocument/2006/relationships/viewProps" Target="/ppt/viewProps.xml" Id="R6ed32e4ea0584311" /><Relationship Type="http://schemas.openxmlformats.org/officeDocument/2006/relationships/tableStyles" Target="/ppt/tableStyles.xml" Id="R391050292e3a45e5" /><Relationship Type="http://schemas.openxmlformats.org/officeDocument/2006/relationships/slide" Target="/ppt/slides/slide1.xml" Id="R16827ea9aae0448d" /><Relationship Type="http://schemas.openxmlformats.org/officeDocument/2006/relationships/slide" Target="/ppt/slides/slide2.xml" Id="R3472a2b711bb46df" /><Relationship Type="http://schemas.openxmlformats.org/officeDocument/2006/relationships/slide" Target="/ppt/slides/slide3.xml" Id="R0ccaa69e9bcf4ad9" /><Relationship Type="http://schemas.openxmlformats.org/officeDocument/2006/relationships/slide" Target="/ppt/slides/slide4.xml" Id="R36dc9ef765ba4743" /><Relationship Type="http://schemas.openxmlformats.org/officeDocument/2006/relationships/slide" Target="/ppt/slides/slide5.xml" Id="Rdb9c6bf90fe54f08" /><Relationship Type="http://schemas.openxmlformats.org/officeDocument/2006/relationships/slide" Target="/ppt/slides/slide6.xml" Id="R3da2e8f5ec614e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a9c6a16146b4d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c5ff0d5f8748bf" /><Relationship Type="http://schemas.openxmlformats.org/officeDocument/2006/relationships/notesMaster" Target="/ppt/notesMasters/notesMaster1.xml" Id="R309781925f934cb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554c5fbd0374474" /><Relationship Type="http://schemas.openxmlformats.org/officeDocument/2006/relationships/notesMaster" Target="/ppt/notesMasters/notesMaster1.xml" Id="R10086b52ec2b417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97688cb93a24a4d" /><Relationship Type="http://schemas.openxmlformats.org/officeDocument/2006/relationships/notesMaster" Target="/ppt/notesMasters/notesMaster1.xml" Id="R43039e361b7847d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515981de5949fd" /><Relationship Type="http://schemas.openxmlformats.org/officeDocument/2006/relationships/notesMaster" Target="/ppt/notesMasters/notesMaster1.xml" Id="R64a3b681251a484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212ec717d6e42f2" /><Relationship Type="http://schemas.openxmlformats.org/officeDocument/2006/relationships/notesMaster" Target="/ppt/notesMasters/notesMaster1.xml" Id="Ref4cef7ee28d4e7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19cacd009784c6e" /><Relationship Type="http://schemas.openxmlformats.org/officeDocument/2006/relationships/notesMaster" Target="/ppt/notesMasters/notesMaster1.xml" Id="Rf25ff8836cfa44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visual template: SafeSaathi_CodeSlayer2K26.pptx supplied by the user.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Statistics: NCRB, Crime in India 2023, https://www.ncrb.gov.in/ ; NCW &amp; Pvalue Analytics, NARI 2025, https://pvalueanalytics.com/Home/NARI2025 . NARI headline data reports 40% of urban women feel unsafe in their cities; public-space harassment 7% overall and 14% among women under 24; two-thirds of incidents unreported.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design statements supplied by the user. Emergency response reference: 112 India, https://112.gov.in/ . AI is an assistive risk-signal system, not an attack detector or crime predictor.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Technology references: Android Developers, https://developer.android.com/ ; Google Maps Platform, https://developers.google.com/maps ; Firebase, https://firebase.google.com/docs ; FastAPI, https://fastapi.tiangolo.com/ ; scikit-learn, https://scikit-learn.org/ 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Responsible-design scope supplied by the user. SafeSaathi complements, but does not replace, 112 or police response.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 listed on slide include NCRB, NARI 2025, 112 India, Android, Google Maps, Firebase, FastAPI, scikit-learn and cited research papers.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a6ac114fc4404b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b040d829d744b52" /><Relationship Type="http://schemas.openxmlformats.org/officeDocument/2006/relationships/slideLayout" Target="/ppt/slideLayouts/slideLayout1.xml" Id="R932f49dbc4da4c3f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2f49dbc4da4c3f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6c8eea83c4437d" /><Relationship Type="http://schemas.openxmlformats.org/officeDocument/2006/relationships/image" Target="/ppt/media/image.png" Id="R0c05d5d2f1b44e27" /><Relationship Type="http://schemas.openxmlformats.org/officeDocument/2006/relationships/image" Target="/ppt/media/image2.png" Id="R59e104b410634705" /><Relationship Type="http://schemas.openxmlformats.org/officeDocument/2006/relationships/image" Target="/ppt/media/image3.png" Id="R6ee19389483c4690" /><Relationship Type="http://schemas.openxmlformats.org/officeDocument/2006/relationships/notesSlide" Target="/ppt/notesSlides/notesSlide1.xml" Id="R587638a94e77495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476f459702465a" /><Relationship Type="http://schemas.openxmlformats.org/officeDocument/2006/relationships/image" Target="/ppt/media/image4.png" Id="R1264a15643b54183" /><Relationship Type="http://schemas.openxmlformats.org/officeDocument/2006/relationships/image" Target="/ppt/media/image5.png" Id="R70ebfbe1d1e14e59" /><Relationship Type="http://schemas.openxmlformats.org/officeDocument/2006/relationships/image" Target="/ppt/media/image6.png" Id="R0740daaa39064bbd" /><Relationship Type="http://schemas.openxmlformats.org/officeDocument/2006/relationships/image" Target="/ppt/media/image7.png" Id="Rf6e13193b7a7462b" /><Relationship Type="http://schemas.openxmlformats.org/officeDocument/2006/relationships/image" Target="/ppt/media/image8.png" Id="R739e870458674b63" /><Relationship Type="http://schemas.openxmlformats.org/officeDocument/2006/relationships/image" Target="/ppt/media/image9.png" Id="R3bda1b92d6a04136" /><Relationship Type="http://schemas.openxmlformats.org/officeDocument/2006/relationships/image" Target="/ppt/media/image10.png" Id="R3d9b80776e6341d8" /><Relationship Type="http://schemas.openxmlformats.org/officeDocument/2006/relationships/image" Target="/ppt/media/image11.png" Id="Rb4995e0719e9407a" /><Relationship Type="http://schemas.openxmlformats.org/officeDocument/2006/relationships/image" Target="/ppt/media/image12.png" Id="Rf8a470a43c104cd1" /><Relationship Type="http://schemas.openxmlformats.org/officeDocument/2006/relationships/image" Target="/ppt/media/image13.png" Id="R3349219441144c70" /><Relationship Type="http://schemas.openxmlformats.org/officeDocument/2006/relationships/notesSlide" Target="/ppt/notesSlides/notesSlide2.xml" Id="R3878ddbcc5cd4e1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525a5508004795" /><Relationship Type="http://schemas.openxmlformats.org/officeDocument/2006/relationships/image" Target="/ppt/media/image14.png" Id="R4244be5d0b464b9d" /><Relationship Type="http://schemas.openxmlformats.org/officeDocument/2006/relationships/image" Target="/ppt/media/image15.png" Id="Rbce550a9781049d6" /><Relationship Type="http://schemas.openxmlformats.org/officeDocument/2006/relationships/image" Target="/ppt/media/image16.png" Id="R5412bfb0bec74384" /><Relationship Type="http://schemas.openxmlformats.org/officeDocument/2006/relationships/image" Target="/ppt/media/image17.png" Id="Rebeeed4f22894435" /><Relationship Type="http://schemas.openxmlformats.org/officeDocument/2006/relationships/image" Target="/ppt/media/image18.png" Id="R445669b8692b4171" /><Relationship Type="http://schemas.openxmlformats.org/officeDocument/2006/relationships/image" Target="/ppt/media/image19.png" Id="R1e6d48895b964aeb" /><Relationship Type="http://schemas.openxmlformats.org/officeDocument/2006/relationships/image" Target="/ppt/media/image20.png" Id="R4f08152932a34b90" /><Relationship Type="http://schemas.openxmlformats.org/officeDocument/2006/relationships/image" Target="/ppt/media/image21.png" Id="R91c49debb59f4b65" /><Relationship Type="http://schemas.openxmlformats.org/officeDocument/2006/relationships/image" Target="/ppt/media/image22.png" Id="Rdf8ddaee293142b7" /><Relationship Type="http://schemas.openxmlformats.org/officeDocument/2006/relationships/image" Target="/ppt/media/image23.png" Id="R829288132fb84a36" /><Relationship Type="http://schemas.openxmlformats.org/officeDocument/2006/relationships/image" Target="/ppt/media/image24.png" Id="R700858f3cf394606" /><Relationship Type="http://schemas.openxmlformats.org/officeDocument/2006/relationships/image" Target="/ppt/media/image25.png" Id="R357dd4bd4f46450d" /><Relationship Type="http://schemas.openxmlformats.org/officeDocument/2006/relationships/image" Target="/ppt/media/image26.png" Id="R3ab18b51707549a1" /><Relationship Type="http://schemas.openxmlformats.org/officeDocument/2006/relationships/image" Target="/ppt/media/image27.png" Id="R78aa1bce75d94dab" /><Relationship Type="http://schemas.openxmlformats.org/officeDocument/2006/relationships/image" Target="/ppt/media/image28.png" Id="R0acf16de845b4745" /><Relationship Type="http://schemas.openxmlformats.org/officeDocument/2006/relationships/image" Target="/ppt/media/image29.png" Id="R1803c2ed2a4c41ca" /><Relationship Type="http://schemas.openxmlformats.org/officeDocument/2006/relationships/image" Target="/ppt/media/image30.png" Id="R4597decd24464052" /><Relationship Type="http://schemas.openxmlformats.org/officeDocument/2006/relationships/image" Target="/ppt/media/image31.png" Id="R90931984c9ce4a85" /><Relationship Type="http://schemas.openxmlformats.org/officeDocument/2006/relationships/image" Target="/ppt/media/image32.png" Id="R175c0af254e647e9" /><Relationship Type="http://schemas.openxmlformats.org/officeDocument/2006/relationships/notesSlide" Target="/ppt/notesSlides/notesSlide3.xml" Id="R557e939ecb66454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dd6b3c6d1f4534" /><Relationship Type="http://schemas.openxmlformats.org/officeDocument/2006/relationships/image" Target="/ppt/media/image33.png" Id="R8fe5efda9e8142ef" /><Relationship Type="http://schemas.openxmlformats.org/officeDocument/2006/relationships/image" Target="/ppt/media/image34.png" Id="R63b54f1c2bf0487c" /><Relationship Type="http://schemas.openxmlformats.org/officeDocument/2006/relationships/image" Target="/ppt/media/image35.png" Id="R8d09a070888448ee" /><Relationship Type="http://schemas.openxmlformats.org/officeDocument/2006/relationships/image" Target="/ppt/media/image36.png" Id="R23999f4c86414076" /><Relationship Type="http://schemas.openxmlformats.org/officeDocument/2006/relationships/image" Target="/ppt/media/image37.png" Id="R9a8f89129ed04aa7" /><Relationship Type="http://schemas.openxmlformats.org/officeDocument/2006/relationships/image" Target="/ppt/media/image38.png" Id="R4c47fc18f7b54480" /><Relationship Type="http://schemas.openxmlformats.org/officeDocument/2006/relationships/image" Target="/ppt/media/image39.png" Id="R885b7df41ead4b3b" /><Relationship Type="http://schemas.openxmlformats.org/officeDocument/2006/relationships/image" Target="/ppt/media/image40.png" Id="R6c478e3633964706" /><Relationship Type="http://schemas.openxmlformats.org/officeDocument/2006/relationships/image" Target="/ppt/media/image41.png" Id="R615f9c19079648db" /><Relationship Type="http://schemas.openxmlformats.org/officeDocument/2006/relationships/image" Target="/ppt/media/image42.png" Id="Rb019f86eb19145c0" /><Relationship Type="http://schemas.openxmlformats.org/officeDocument/2006/relationships/image" Target="/ppt/media/image43.png" Id="Rcafeeed8bffb4d6a" /><Relationship Type="http://schemas.openxmlformats.org/officeDocument/2006/relationships/notesSlide" Target="/ppt/notesSlides/notesSlide4.xml" Id="R8021c169506047f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dfe85517de413e" /><Relationship Type="http://schemas.openxmlformats.org/officeDocument/2006/relationships/image" Target="/ppt/media/image44.png" Id="R3914e229aa0c48cf" /><Relationship Type="http://schemas.openxmlformats.org/officeDocument/2006/relationships/image" Target="/ppt/media/image45.png" Id="R672055fed52b4eed" /><Relationship Type="http://schemas.openxmlformats.org/officeDocument/2006/relationships/image" Target="/ppt/media/image46.png" Id="Rf939fff384494305" /><Relationship Type="http://schemas.openxmlformats.org/officeDocument/2006/relationships/image" Target="/ppt/media/image47.png" Id="R6ff26f55e5884f23" /><Relationship Type="http://schemas.openxmlformats.org/officeDocument/2006/relationships/image" Target="/ppt/media/image48.png" Id="Rb8cfd9da50bc4ee3" /><Relationship Type="http://schemas.openxmlformats.org/officeDocument/2006/relationships/image" Target="/ppt/media/image49.png" Id="Rbf6b88c586b84c8f" /><Relationship Type="http://schemas.openxmlformats.org/officeDocument/2006/relationships/image" Target="/ppt/media/image50.png" Id="R89ad1b9d0b9844e9" /><Relationship Type="http://schemas.openxmlformats.org/officeDocument/2006/relationships/image" Target="/ppt/media/image51.png" Id="R771d3d0b51b2475c" /><Relationship Type="http://schemas.openxmlformats.org/officeDocument/2006/relationships/image" Target="/ppt/media/image52.png" Id="Rce4fbe6248be42be" /><Relationship Type="http://schemas.openxmlformats.org/officeDocument/2006/relationships/image" Target="/ppt/media/image53.png" Id="Rb29f21cabaee4a92" /><Relationship Type="http://schemas.openxmlformats.org/officeDocument/2006/relationships/image" Target="/ppt/media/image54.png" Id="Rd2d83ee268494de1" /><Relationship Type="http://schemas.openxmlformats.org/officeDocument/2006/relationships/image" Target="/ppt/media/image55.png" Id="R23f1f72393ed4c74" /><Relationship Type="http://schemas.openxmlformats.org/officeDocument/2006/relationships/notesSlide" Target="/ppt/notesSlides/notesSlide5.xml" Id="Rb550746da4144da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ddfcce729c4000" /><Relationship Type="http://schemas.openxmlformats.org/officeDocument/2006/relationships/image" Target="/ppt/media/image56.png" Id="R80b4376640ef46ac" /><Relationship Type="http://schemas.openxmlformats.org/officeDocument/2006/relationships/image" Target="/ppt/media/image57.png" Id="R6dcc2e9aa0fc4576" /><Relationship Type="http://schemas.openxmlformats.org/officeDocument/2006/relationships/image" Target="/ppt/media/image58.png" Id="R5fe59b85965d4b7a" /><Relationship Type="http://schemas.openxmlformats.org/officeDocument/2006/relationships/image" Target="/ppt/media/image59.png" Id="R2e2536fed2864b2d" /><Relationship Type="http://schemas.openxmlformats.org/officeDocument/2006/relationships/image" Target="/ppt/media/image60.png" Id="Rb71816a4894c4442" /><Relationship Type="http://schemas.openxmlformats.org/officeDocument/2006/relationships/image" Target="/ppt/media/image61.png" Id="R1a0f4d5c47d746b0" /><Relationship Type="http://schemas.openxmlformats.org/officeDocument/2006/relationships/image" Target="/ppt/media/image62.png" Id="R7310aa0134a14bc0" /><Relationship Type="http://schemas.openxmlformats.org/officeDocument/2006/relationships/notesSlide" Target="/ppt/notesSlides/notesSlide6.xml" Id="R068d627814284ac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05d5d2f1b44e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1230782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70CAD2CF-27CE-4AE8-8E66-E6A61DFB9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371600"/>
            <a:ext cx="219456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808080"/>
            </a:solidFill>
            <a:prstDash val="solid"/>
          </a:ln>
        </p:spPr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664DAE8F-B9A1-4E3D-84F1-42BE0CA73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371600"/>
            <a:ext cx="21945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1B1B1B"/>
                </a:solidFill>
                <a:latin typeface="Arial"/>
                <a:ea typeface="Arial"/>
                <a:cs typeface="Arial"/>
              </a:rPr>
              <a:t>[TEAM NAME]</a:t>
            </a:r>
            <a:endParaRPr sz="1400"/>
          </a:p>
        </p:txBody>
      </p:sp>
      <p:pic>
        <p:nvPicPr>
          <p:cNvPr id="6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e104b4106347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21608" y="1389888"/>
            <a:ext cx="4754880" cy="621792"/>
          </a:xfrm>
          <a:prstGeom xmlns:a="http://schemas.openxmlformats.org/drawingml/2006/main" prst="rect">
            <a:avLst/>
          </a:prstGeom>
        </p:spPr>
      </p:pic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653DDBAB-BF73-4C0A-9DA6-49F1551F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2316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B1B1B"/>
                </a:solidFill>
                <a:latin typeface="Arial"/>
                <a:ea typeface="Arial"/>
                <a:cs typeface="Arial"/>
              </a:rPr>
              <a:t>Project Title :</a:t>
            </a:r>
            <a:endParaRPr sz="2000"/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1EC96517-6EF6-42AB-8DDE-D7240CB52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2331720"/>
            <a:ext cx="45720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3235B"/>
                </a:solidFill>
                <a:latin typeface="Times New Roman"/>
                <a:ea typeface="Times New Roman"/>
                <a:cs typeface="Times New Roman"/>
              </a:rPr>
              <a:t>Safe</a:t>
            </a:r>
            <a:r>
              <a:rPr sz="3400" b="1">
                <a:solidFill>
                  <a:srgbClr val="B3122E"/>
                </a:solidFill>
                <a:latin typeface="Times New Roman"/>
                <a:ea typeface="Times New Roman"/>
                <a:cs typeface="Times New Roman"/>
              </a:rPr>
              <a:t>Saathi</a:t>
            </a:r>
            <a:endParaRPr sz="340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A3A3F82E-65B4-462E-975E-57E64211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2944368"/>
            <a:ext cx="58521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i="1">
                <a:solidFill>
                  <a:srgbClr val="5A6478"/>
                </a:solidFill>
                <a:latin typeface="Arial"/>
                <a:ea typeface="Arial"/>
                <a:cs typeface="Arial"/>
              </a:rPr>
              <a:t>“Safety that walks with you — and calls the neighborhood when you need help.”</a:t>
            </a:r>
            <a:endParaRPr sz="125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02D07D34-5903-415D-A762-8B6BB33E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29000"/>
            <a:ext cx="21945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B1B1B"/>
                </a:solidFill>
                <a:latin typeface="Arial"/>
                <a:ea typeface="Arial"/>
                <a:cs typeface="Arial"/>
              </a:rPr>
              <a:t>Team Name :</a:t>
            </a:r>
            <a:endParaRPr sz="2000"/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831C8406-71A7-4DEA-ABF3-744E0A26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3429000"/>
            <a:ext cx="45720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B63CE"/>
                </a:solidFill>
                <a:latin typeface="Arial"/>
                <a:ea typeface="Arial"/>
                <a:cs typeface="Arial"/>
              </a:rPr>
              <a:t>[TEAM NAME]</a:t>
            </a:r>
            <a:endParaRPr sz="1800"/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05CB7AB7-D5FA-4C53-B16E-5B687A99E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977640"/>
            <a:ext cx="64008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B1B1B"/>
                </a:solidFill>
                <a:latin typeface="Arial"/>
                <a:ea typeface="Arial"/>
                <a:cs typeface="Arial"/>
              </a:rPr>
              <a:t>Team Members </a:t>
            </a:r>
            <a:r>
              <a:rPr sz="1300" i="1">
                <a:solidFill>
                  <a:srgbClr val="1B1B1B"/>
                </a:solidFill>
                <a:latin typeface="Arial"/>
                <a:ea typeface="Arial"/>
                <a:cs typeface="Arial"/>
              </a:rPr>
              <a:t>(Names + Roles Briefly):</a:t>
            </a:r>
            <a:endParaRPr sz="2000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33DB0268-640E-4A16-89B8-F6603998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480560"/>
            <a:ext cx="3566160" cy="475488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CE9FA"/>
          </a:solidFill>
          <a:ln xmlns:a="http://schemas.openxmlformats.org/drawingml/2006/main" w="12700">
            <a:solidFill>
              <a:srgbClr val="B8C8E0"/>
            </a:solidFill>
            <a:prstDash val="solid"/>
          </a:ln>
        </p:spPr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68FAA475-4BEF-4CCA-BF10-F5A3E5D87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480560"/>
            <a:ext cx="34290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Member 1 — </a:t>
            </a:r>
            <a:r>
              <a:rPr sz="1050">
                <a:solidFill>
                  <a:srgbClr val="1B1B1B"/>
                </a:solidFill>
                <a:latin typeface="Arial"/>
                <a:ea typeface="Arial"/>
                <a:cs typeface="Arial"/>
              </a:rPr>
              <a:t>Team Lead · Android (Kotlin/Compose)</a:t>
            </a:r>
            <a:endParaRPr sz="1050"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D1442AD6-0A62-443D-A318-24D93E66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4480560"/>
            <a:ext cx="3566160" cy="475488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CE9FA"/>
          </a:solidFill>
          <a:ln xmlns:a="http://schemas.openxmlformats.org/drawingml/2006/main" w="12700">
            <a:solidFill>
              <a:srgbClr val="B8C8E0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C0731B71-4685-4567-9595-2FA26F959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4480560"/>
            <a:ext cx="34290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Member 2 — </a:t>
            </a:r>
            <a:r>
              <a:rPr sz="1050">
                <a:solidFill>
                  <a:srgbClr val="1B1B1B"/>
                </a:solidFill>
                <a:latin typeface="Arial"/>
                <a:ea typeface="Arial"/>
                <a:cs typeface="Arial"/>
              </a:rPr>
              <a:t>Backend · Firebase &amp; Cloud Functions</a:t>
            </a:r>
            <a:endParaRPr sz="1050"/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98DED327-97CC-40B3-B194-4A3E80F1E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47488"/>
            <a:ext cx="3566160" cy="475488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CE9FA"/>
          </a:solidFill>
          <a:ln xmlns:a="http://schemas.openxmlformats.org/drawingml/2006/main" w="12700">
            <a:solidFill>
              <a:srgbClr val="B8C8E0"/>
            </a:solidFill>
            <a:prstDash val="solid"/>
          </a:ln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A1F0245A-E364-47BB-A563-5916D17BB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5047488"/>
            <a:ext cx="34290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Member 3 — </a:t>
            </a:r>
            <a:r>
              <a:rPr sz="1050">
                <a:solidFill>
                  <a:srgbClr val="1B1B1B"/>
                </a:solidFill>
                <a:latin typeface="Arial"/>
                <a:ea typeface="Arial"/>
                <a:cs typeface="Arial"/>
              </a:rPr>
              <a:t>AI/ML · Risk engine (Python/FastAPI)</a:t>
            </a:r>
            <a:endParaRPr sz="1050"/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B85B6B23-D74D-45D0-AF94-F7AB70E7A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5047488"/>
            <a:ext cx="3566160" cy="475488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CE9FA"/>
          </a:solidFill>
          <a:ln xmlns:a="http://schemas.openxmlformats.org/drawingml/2006/main" w="12700">
            <a:solidFill>
              <a:srgbClr val="B8C8E0"/>
            </a:solidFill>
            <a:prstDash val="solid"/>
          </a:ln>
        </p:spPr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CBBF3344-77BB-4E46-9A6A-681CA7BE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5047488"/>
            <a:ext cx="34290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Member 4 — </a:t>
            </a:r>
            <a:r>
              <a:rPr sz="1050">
                <a:solidFill>
                  <a:srgbClr val="1B1B1B"/>
                </a:solidFill>
                <a:latin typeface="Arial"/>
                <a:ea typeface="Arial"/>
                <a:cs typeface="Arial"/>
              </a:rPr>
              <a:t>UI/UX · Maps, Testing &amp; Pitch</a:t>
            </a:r>
            <a:endParaRPr sz="1050"/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18202060-64D8-4F64-8552-58CF4092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80644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B1B1B"/>
                </a:solidFill>
                <a:latin typeface="Arial"/>
                <a:ea typeface="Arial"/>
                <a:cs typeface="Arial"/>
              </a:rPr>
              <a:t>Tracks Chosen:</a:t>
            </a:r>
            <a:endParaRPr sz="2000"/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46C727C3-B821-43A4-ABE1-ACA1B21A2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5843016"/>
            <a:ext cx="2103120" cy="384048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B3122E"/>
          </a:solidFill>
          <a:ln xmlns:a="http://schemas.openxmlformats.org/drawingml/2006/main" w="12700">
            <a:solidFill>
              <a:srgbClr val="B3122E"/>
            </a:solidFill>
            <a:prstDash val="solid"/>
          </a:ln>
        </p:spPr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4A389DB8-7FA3-47F5-A859-1E2A7663E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5843016"/>
            <a:ext cx="21031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AI/ML  (Primary)</a:t>
            </a:r>
            <a:endParaRPr sz="1300"/>
          </a:p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4C9F0FC6-934A-4A29-B018-A26F280C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5843016"/>
            <a:ext cx="2011680" cy="384048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13235B"/>
          </a:solidFill>
          <a:ln xmlns:a="http://schemas.openxmlformats.org/drawingml/2006/main" w="12700">
            <a:solidFill>
              <a:srgbClr val="13235B"/>
            </a:solidFill>
            <a:prstDash val="solid"/>
          </a:ln>
        </p:spPr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6534B5A9-0139-42E8-A476-2FA9C879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5843016"/>
            <a:ext cx="20116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Open Innovation</a:t>
            </a:r>
            <a:endParaRPr sz="1300"/>
          </a:p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2420A61B-196B-4677-A82C-6315B52E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40280"/>
            <a:ext cx="2514600" cy="443484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1A1A2E"/>
          </a:solidFill>
          <a:ln xmlns:a="http://schemas.openxmlformats.org/drawingml/2006/main" w="12700">
            <a:solidFill>
              <a:srgbClr val="1A1A2E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212EC011-3790-4583-A9F7-5B0A765D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496312"/>
            <a:ext cx="2276856" cy="397764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2700">
            <a:solidFill>
              <a:srgbClr val="F7F9FC"/>
            </a:solidFill>
            <a:prstDash val="solid"/>
          </a:ln>
        </p:spPr>
      </p:sp>
      <p:sp>
        <p:nvSpPr>
          <p:cNvPr id="27" name="Shape 23">
            <a:extLst xmlns:a="http://schemas.openxmlformats.org/drawingml/2006/main">
              <a:ext uri="{FF2B5EF4-FFF2-40B4-BE49-F238E27FC236}">
                <a16:creationId xmlns:a16="http://schemas.microsoft.com/office/drawing/2014/main" id="{85961D3E-3A57-415A-8F39-8E1F9946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2660" y="2331720"/>
            <a:ext cx="640080" cy="914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3A50"/>
          </a:solidFill>
          <a:ln xmlns:a="http://schemas.openxmlformats.org/drawingml/2006/main" w="12700">
            <a:solidFill>
              <a:srgbClr val="3A3A50"/>
            </a:solidFill>
            <a:prstDash val="solid"/>
          </a:ln>
        </p:spPr>
      </p:sp>
      <p:sp>
        <p:nvSpPr>
          <p:cNvPr id="28" name="Shape 24">
            <a:extLst xmlns:a="http://schemas.openxmlformats.org/drawingml/2006/main">
              <a:ext uri="{FF2B5EF4-FFF2-40B4-BE49-F238E27FC236}">
                <a16:creationId xmlns:a16="http://schemas.microsoft.com/office/drawing/2014/main" id="{424E03EA-EED2-4352-803F-13ACC377E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1432" y="2651760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9E5A"/>
          </a:solidFill>
          <a:ln xmlns:a="http://schemas.openxmlformats.org/drawingml/2006/main" w="12700">
            <a:solidFill>
              <a:srgbClr val="1E9E5A"/>
            </a:solidFill>
            <a:prstDash val="solid"/>
          </a:ln>
        </p:spPr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61DCB333-60FD-40D0-891A-672E670CC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6024" y="2587752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Guardian Journey  •  ON</a:t>
            </a:r>
            <a:endParaRPr sz="950"/>
          </a:p>
        </p:txBody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E374B13B-FB78-47DC-8B75-ED1C28EAC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07792"/>
            <a:ext cx="205740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7"/>
          </a:solidFill>
          <a:ln xmlns:a="http://schemas.openxmlformats.org/drawingml/2006/main" w="12700">
            <a:solidFill>
              <a:srgbClr val="C3D6EE"/>
            </a:solidFill>
            <a:prstDash val="solid"/>
          </a:ln>
        </p:spPr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2B804542-721B-4F77-82FE-C382B807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64408"/>
            <a:ext cx="2057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3D6EE"/>
            </a:solidFill>
            <a:prstDash val="solid"/>
          </a:ln>
        </p:spPr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C20B3771-9408-4980-8A93-5943BF435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21024"/>
            <a:ext cx="2057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3D6EE"/>
            </a:solidFill>
            <a:prstDash val="solid"/>
          </a:ln>
        </p:spPr>
      </p:sp>
      <p:sp>
        <p:nvSpPr>
          <p:cNvPr id="33" name="Shape 29">
            <a:extLst xmlns:a="http://schemas.openxmlformats.org/drawingml/2006/main">
              <a:ext uri="{FF2B5EF4-FFF2-40B4-BE49-F238E27FC236}">
                <a16:creationId xmlns:a16="http://schemas.microsoft.com/office/drawing/2014/main" id="{ECE18328-6884-4512-9733-89A4332F5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77640"/>
            <a:ext cx="2057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3D6EE"/>
            </a:solidFill>
            <a:prstDash val="solid"/>
          </a:ln>
        </p:spPr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6348E62A-117F-414B-9BE1-3B42AE08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4352" y="2907792"/>
            <a:ext cx="0" cy="14173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3D6EE"/>
            </a:solidFill>
            <a:prstDash val="solid"/>
          </a:ln>
        </p:spPr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2044D056-0CB2-48DF-B3D0-849E0EA19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704" y="2907792"/>
            <a:ext cx="0" cy="14173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3D6EE"/>
            </a:solidFill>
            <a:prstDash val="solid"/>
          </a:ln>
        </p:spPr>
      </p:sp>
      <p:sp>
        <p:nvSpPr>
          <p:cNvPr id="36" name="Shape 32">
            <a:extLst xmlns:a="http://schemas.openxmlformats.org/drawingml/2006/main">
              <a:ext uri="{FF2B5EF4-FFF2-40B4-BE49-F238E27FC236}">
                <a16:creationId xmlns:a16="http://schemas.microsoft.com/office/drawing/2014/main" id="{B05B2568-2EC6-465B-9565-36E786FCD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5056" y="2907792"/>
            <a:ext cx="0" cy="14173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3D6EE"/>
            </a:solidFill>
            <a:prstDash val="solid"/>
          </a:ln>
        </p:spPr>
      </p:sp>
      <p:sp>
        <p:nvSpPr>
          <p:cNvPr id="37" name="Shape 33">
            <a:extLst xmlns:a="http://schemas.openxmlformats.org/drawingml/2006/main">
              <a:ext uri="{FF2B5EF4-FFF2-40B4-BE49-F238E27FC236}">
                <a16:creationId xmlns:a16="http://schemas.microsoft.com/office/drawing/2014/main" id="{AEAF6E79-3DC3-4A8F-AB4B-672C18D0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354312" y="3776472"/>
            <a:ext cx="411480" cy="3657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B63CE"/>
            </a:solidFill>
            <a:prstDash val="solid"/>
          </a:ln>
        </p:spPr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ADFD8E64-E12D-4BC9-A2FD-6A8CCE16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5792" y="3776472"/>
            <a:ext cx="274320" cy="457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B63CE"/>
            </a:solidFill>
            <a:prstDash val="solid"/>
          </a:ln>
        </p:spPr>
      </p:sp>
      <p:sp>
        <p:nvSpPr>
          <p:cNvPr id="39" name="Shape 35">
            <a:extLst xmlns:a="http://schemas.openxmlformats.org/drawingml/2006/main">
              <a:ext uri="{FF2B5EF4-FFF2-40B4-BE49-F238E27FC236}">
                <a16:creationId xmlns:a16="http://schemas.microsoft.com/office/drawing/2014/main" id="{1E829C03-2200-4498-8ED0-0B9113BF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040112" y="3364992"/>
            <a:ext cx="41148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B63CE"/>
            </a:solidFill>
            <a:prstDash val="solid"/>
          </a:ln>
        </p:spPr>
      </p:sp>
      <p:sp>
        <p:nvSpPr>
          <p:cNvPr id="40" name="Shape 36">
            <a:extLst xmlns:a="http://schemas.openxmlformats.org/drawingml/2006/main">
              <a:ext uri="{FF2B5EF4-FFF2-40B4-BE49-F238E27FC236}">
                <a16:creationId xmlns:a16="http://schemas.microsoft.com/office/drawing/2014/main" id="{044382FE-76AB-4803-988B-B9F2F599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451592" y="3136392"/>
            <a:ext cx="41148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B63CE"/>
            </a:solidFill>
            <a:prstDash val="solid"/>
          </a:ln>
        </p:spPr>
      </p:sp>
      <p:pic>
        <p:nvPicPr>
          <p:cNvPr id="9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e19389483c46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53344" y="2907792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42" name="Shape 37">
            <a:extLst xmlns:a="http://schemas.openxmlformats.org/drawingml/2006/main">
              <a:ext uri="{FF2B5EF4-FFF2-40B4-BE49-F238E27FC236}">
                <a16:creationId xmlns:a16="http://schemas.microsoft.com/office/drawing/2014/main" id="{A25440B8-8B87-4D5A-8835-C9CA4C8B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8672" y="3712464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3CE"/>
          </a:solidFill>
          <a:ln xmlns:a="http://schemas.openxmlformats.org/drawingml/2006/main" w="25400">
            <a:solidFill>
              <a:srgbClr val="FFFFFF"/>
            </a:solidFill>
            <a:prstDash val="solid"/>
          </a:ln>
        </p:spPr>
      </p:sp>
      <p:sp>
        <p:nvSpPr>
          <p:cNvPr id="43" name="Shape 38">
            <a:extLst xmlns:a="http://schemas.openxmlformats.org/drawingml/2006/main">
              <a:ext uri="{FF2B5EF4-FFF2-40B4-BE49-F238E27FC236}">
                <a16:creationId xmlns:a16="http://schemas.microsoft.com/office/drawing/2014/main" id="{6CC35F52-4E46-4BCF-9F4E-7D194BD14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416552"/>
            <a:ext cx="2057400" cy="41148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8C8E0"/>
            </a:solidFill>
            <a:prstDash val="solid"/>
          </a:ln>
        </p:spPr>
      </p:sp>
      <p:sp>
        <p:nvSpPr>
          <p:cNvPr id="44" name="Text 39">
            <a:extLst xmlns:a="http://schemas.openxmlformats.org/drawingml/2006/main">
              <a:ext uri="{FF2B5EF4-FFF2-40B4-BE49-F238E27FC236}">
                <a16:creationId xmlns:a16="http://schemas.microsoft.com/office/drawing/2014/main" id="{EA9CB9CE-BADD-4BE9-969B-F74169AFE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2" y="4416552"/>
            <a:ext cx="1911096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ETA 18 min  ·  2 guardians  ·  47 nearby users active</a:t>
            </a:r>
            <a:endParaRPr sz="850"/>
          </a:p>
        </p:txBody>
      </p:sp>
      <p:sp>
        <p:nvSpPr>
          <p:cNvPr id="45" name="Shape 40">
            <a:extLst xmlns:a="http://schemas.openxmlformats.org/drawingml/2006/main">
              <a:ext uri="{FF2B5EF4-FFF2-40B4-BE49-F238E27FC236}">
                <a16:creationId xmlns:a16="http://schemas.microsoft.com/office/drawing/2014/main" id="{6090E057-0C95-4525-881C-A61A3201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19472"/>
            <a:ext cx="2057400" cy="77724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DECEE"/>
          </a:solidFill>
          <a:ln xmlns:a="http://schemas.openxmlformats.org/drawingml/2006/main" w="12700">
            <a:solidFill>
              <a:srgbClr val="F2B8C0"/>
            </a:solidFill>
            <a:prstDash val="solid"/>
          </a:ln>
        </p:spPr>
      </p:sp>
      <p:sp>
        <p:nvSpPr>
          <p:cNvPr id="46" name="Text 41">
            <a:extLst xmlns:a="http://schemas.openxmlformats.org/drawingml/2006/main">
              <a:ext uri="{FF2B5EF4-FFF2-40B4-BE49-F238E27FC236}">
                <a16:creationId xmlns:a16="http://schemas.microsoft.com/office/drawing/2014/main" id="{DC5956C9-A10A-4722-B44B-F57916504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2" y="4946904"/>
            <a:ext cx="14630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B3122E"/>
                </a:solidFill>
                <a:latin typeface="Arial"/>
                <a:ea typeface="Arial"/>
                <a:cs typeface="Arial"/>
              </a:rPr>
              <a:t>Are you safe?</a:t>
            </a:r>
            <a:endParaRPr sz="1050"/>
          </a:p>
        </p:txBody>
      </p:sp>
      <p:sp>
        <p:nvSpPr>
          <p:cNvPr id="47" name="Text 42">
            <a:extLst xmlns:a="http://schemas.openxmlformats.org/drawingml/2006/main">
              <a:ext uri="{FF2B5EF4-FFF2-40B4-BE49-F238E27FC236}">
                <a16:creationId xmlns:a16="http://schemas.microsoft.com/office/drawing/2014/main" id="{C6CC0865-736A-4CAA-9A6E-BC3DB80B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1552" y="4965192"/>
            <a:ext cx="1005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5A6478"/>
                </a:solidFill>
                <a:latin typeface="Arial"/>
                <a:ea typeface="Arial"/>
                <a:cs typeface="Arial"/>
              </a:rPr>
              <a:t>Auto-alert in 0:30</a:t>
            </a:r>
            <a:endParaRPr sz="750"/>
          </a:p>
        </p:txBody>
      </p:sp>
      <p:sp>
        <p:nvSpPr>
          <p:cNvPr id="48" name="Shape 43">
            <a:extLst xmlns:a="http://schemas.openxmlformats.org/drawingml/2006/main">
              <a:ext uri="{FF2B5EF4-FFF2-40B4-BE49-F238E27FC236}">
                <a16:creationId xmlns:a16="http://schemas.microsoft.com/office/drawing/2014/main" id="{A645DE92-A4AA-4D4D-98B3-848003F16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5266944"/>
            <a:ext cx="91440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E9E5A"/>
          </a:solidFill>
          <a:ln xmlns:a="http://schemas.openxmlformats.org/drawingml/2006/main" w="12700">
            <a:solidFill>
              <a:srgbClr val="1E9E5A"/>
            </a:solidFill>
            <a:prstDash val="solid"/>
          </a:ln>
        </p:spPr>
      </p:sp>
      <p:sp>
        <p:nvSpPr>
          <p:cNvPr id="49" name="Text 44">
            <a:extLst xmlns:a="http://schemas.openxmlformats.org/drawingml/2006/main">
              <a:ext uri="{FF2B5EF4-FFF2-40B4-BE49-F238E27FC236}">
                <a16:creationId xmlns:a16="http://schemas.microsoft.com/office/drawing/2014/main" id="{CED25083-F71C-49DE-8CD1-4B45FCDC2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5266944"/>
            <a:ext cx="914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I'm Safe</a:t>
            </a:r>
            <a:endParaRPr sz="900"/>
          </a:p>
        </p:txBody>
      </p:sp>
      <p:sp>
        <p:nvSpPr>
          <p:cNvPr id="50" name="Shape 45">
            <a:extLst xmlns:a="http://schemas.openxmlformats.org/drawingml/2006/main">
              <a:ext uri="{FF2B5EF4-FFF2-40B4-BE49-F238E27FC236}">
                <a16:creationId xmlns:a16="http://schemas.microsoft.com/office/drawing/2014/main" id="{516633CB-D66C-453A-BB27-ADA8A30C6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2992" y="5266944"/>
            <a:ext cx="86868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3122E"/>
            </a:solidFill>
            <a:prstDash val="solid"/>
          </a:ln>
        </p:spPr>
      </p:sp>
      <p:sp>
        <p:nvSpPr>
          <p:cNvPr id="51" name="Text 46">
            <a:extLst xmlns:a="http://schemas.openxmlformats.org/drawingml/2006/main">
              <a:ext uri="{FF2B5EF4-FFF2-40B4-BE49-F238E27FC236}">
                <a16:creationId xmlns:a16="http://schemas.microsoft.com/office/drawing/2014/main" id="{06FDFD81-0947-4F10-A53A-E5AF412E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2992" y="5266944"/>
            <a:ext cx="8686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B3122E"/>
                </a:solidFill>
                <a:latin typeface="Arial"/>
                <a:ea typeface="Arial"/>
                <a:cs typeface="Arial"/>
              </a:rPr>
              <a:t>Need Help</a:t>
            </a:r>
            <a:endParaRPr sz="900"/>
          </a:p>
        </p:txBody>
      </p:sp>
      <p:sp>
        <p:nvSpPr>
          <p:cNvPr id="52" name="Shape 47">
            <a:extLst xmlns:a="http://schemas.openxmlformats.org/drawingml/2006/main">
              <a:ext uri="{FF2B5EF4-FFF2-40B4-BE49-F238E27FC236}">
                <a16:creationId xmlns:a16="http://schemas.microsoft.com/office/drawing/2014/main" id="{97C5F593-8750-42EA-BA70-C2760AE1A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940" y="5769864"/>
            <a:ext cx="73152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3122E"/>
          </a:solidFill>
          <a:ln xmlns:a="http://schemas.openxmlformats.org/drawingml/2006/main" w="50800">
            <a:solidFill>
              <a:srgbClr val="F4C3CA"/>
            </a:solidFill>
            <a:prstDash val="solid"/>
          </a:ln>
        </p:spPr>
      </p:sp>
      <p:sp>
        <p:nvSpPr>
          <p:cNvPr id="53" name="Text 48">
            <a:extLst xmlns:a="http://schemas.openxmlformats.org/drawingml/2006/main">
              <a:ext uri="{FF2B5EF4-FFF2-40B4-BE49-F238E27FC236}">
                <a16:creationId xmlns:a16="http://schemas.microsoft.com/office/drawing/2014/main" id="{F9DFD176-B837-46FA-B5C2-AFB0E6255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940" y="5769864"/>
            <a:ext cx="7315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SOS</a:t>
            </a:r>
            <a:endParaRPr sz="1500"/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738FB1F-98D3-4CA7-922E-6900A010C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532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3235B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900" b="1">
                <a:solidFill>
                  <a:srgbClr val="13235B"/>
                </a:solidFill>
                <a:latin typeface="Segoe UI Symbol"/>
                <a:ea typeface="Segoe UI Symbol"/>
                <a:cs typeface="Segoe UI Symbol"/>
              </a:rPr>
              <a:t>⛨  ⌖  ●—●</a:t>
            </a:r>
          </a:p>
        </p:txBody>
      </p:sp>
    </p:spTree>
    <p:extLst>
      <p:ext uri="{BB962C8B-B14F-4D97-AF65-F5344CB8AC3E}">
        <p14:creationId xmlns:p14="http://schemas.microsoft.com/office/powerpoint/2010/main" val="12929580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A4AE078-58CE-4BD4-9D6C-3171C2B6A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01168"/>
            <a:ext cx="210312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808080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96B774E-0963-48E4-9751-EEFD2B7A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01168"/>
            <a:ext cx="21031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1B1B1B"/>
                </a:solidFill>
                <a:latin typeface="Arial"/>
                <a:ea typeface="Arial"/>
                <a:cs typeface="Arial"/>
              </a:rPr>
              <a:t>[TEAM NAME]</a:t>
            </a:r>
            <a:endParaRPr sz="1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91C29F9-9735-4D03-AA16-C1E3F192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109728"/>
            <a:ext cx="69494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700" b="1">
                <a:solidFill>
                  <a:srgbClr val="1B1B1B"/>
                </a:solidFill>
                <a:latin typeface="Times New Roman"/>
                <a:ea typeface="Times New Roman"/>
                <a:cs typeface="Times New Roman"/>
              </a:rPr>
              <a:t>PROBLEM STATEMENT &amp;</a:t>
            </a:r>
            <a:endParaRPr sz="2700"/>
          </a:p>
          <a:p xmlns:a="http://schemas.openxmlformats.org/drawingml/2006/main">
            <a:pPr marL="0" indent="0" algn="ctr">
              <a:buNone/>
            </a:pPr>
            <a:r>
              <a:rPr sz="2700" b="1">
                <a:solidFill>
                  <a:srgbClr val="1B1B1B"/>
                </a:solidFill>
                <a:latin typeface="Times New Roman"/>
                <a:ea typeface="Times New Roman"/>
                <a:cs typeface="Times New Roman"/>
              </a:rPr>
              <a:t>TARGET AUDIENCE</a:t>
            </a:r>
            <a:endParaRPr sz="2700"/>
          </a:p>
        </p:txBody>
      </p:sp>
      <p:pic>
        <p:nvPicPr>
          <p:cNvPr id="7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64a15643b541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29800" y="109728"/>
            <a:ext cx="1051560" cy="841248"/>
          </a:xfrm>
          <a:prstGeom xmlns:a="http://schemas.openxmlformats.org/drawingml/2006/main" prst="rect">
            <a:avLst/>
          </a:prstGeom>
        </p:spPr>
      </p:pic>
      <p:pic>
        <p:nvPicPr>
          <p:cNvPr id="7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ebfbe1d1e14e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72800" y="91440"/>
            <a:ext cx="923544" cy="868680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4FF5FEE6-110B-497E-B307-DEC224EE0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188720"/>
            <a:ext cx="7726680" cy="5349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D"/>
          </a:solidFill>
          <a:ln xmlns:a="http://schemas.openxmlformats.org/drawingml/2006/main" w="19050">
            <a:solidFill>
              <a:srgbClr val="13235B"/>
            </a:solidFill>
            <a:prstDash val="solid"/>
          </a:ln>
        </p:spPr>
      </p:sp>
      <p:sp>
        <p:nvSpPr>
          <p:cNvPr id="8" name="Shape 4">
            <a:extLst xmlns:a="http://schemas.openxmlformats.org/drawingml/2006/main">
              <a:ext uri="{FF2B5EF4-FFF2-40B4-BE49-F238E27FC236}">
                <a16:creationId xmlns:a16="http://schemas.microsoft.com/office/drawing/2014/main" id="{6F9A0A64-953B-4F43-AC8C-9302A45D7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25880"/>
            <a:ext cx="7269480" cy="384048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0B63CE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5990D3DF-E1A9-4026-9705-6FE8674E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25880"/>
            <a:ext cx="72694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PROBLEM WE'RE SOLVING</a:t>
            </a:r>
            <a:endParaRPr sz="13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4E34B416-937F-4AA8-81F4-A724EB7B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74520"/>
            <a:ext cx="2331720" cy="1572768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8C8E0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7E2B9910-12AA-45CE-92F0-97E8D478B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0240"/>
            <a:ext cx="2103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B3122E"/>
                </a:solidFill>
                <a:latin typeface="Times New Roman"/>
                <a:ea typeface="Times New Roman"/>
                <a:cs typeface="Times New Roman"/>
              </a:rPr>
              <a:t>4.48 lakh</a:t>
            </a:r>
            <a:endParaRPr sz="26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5779BEC7-B710-46AC-AF79-738741B22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3160"/>
            <a:ext cx="210312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B1B1B"/>
                </a:solidFill>
                <a:latin typeface="Arial"/>
                <a:ea typeface="Arial"/>
                <a:cs typeface="Arial"/>
              </a:rPr>
              <a:t>crimes against women registered in India in 2023 — about 51 every hour</a:t>
            </a:r>
            <a:endParaRPr sz="10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3C6DCAFB-2E47-428E-8BA1-99BF2E1FE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8960"/>
            <a:ext cx="2103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i="1">
                <a:solidFill>
                  <a:srgbClr val="5A6478"/>
                </a:solidFill>
                <a:latin typeface="Arial"/>
                <a:ea typeface="Arial"/>
                <a:cs typeface="Arial"/>
              </a:rPr>
              <a:t>Source: NCRB, Crime in India 2023</a:t>
            </a:r>
            <a:endParaRPr sz="800"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F1071061-2041-417F-8200-6D55DEA72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1874520"/>
            <a:ext cx="2331720" cy="1572768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8C8E0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08010ECB-C2C6-4316-B8F7-72ACA7D86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1920240"/>
            <a:ext cx="2103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B3122E"/>
                </a:solidFill>
                <a:latin typeface="Times New Roman"/>
                <a:ea typeface="Times New Roman"/>
                <a:cs typeface="Times New Roman"/>
              </a:rPr>
              <a:t>40%</a:t>
            </a:r>
            <a:endParaRPr sz="26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6368632B-CF1F-4D0E-A01D-E579659D7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2423160"/>
            <a:ext cx="210312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B1B1B"/>
                </a:solidFill>
                <a:latin typeface="Arial"/>
                <a:ea typeface="Arial"/>
                <a:cs typeface="Arial"/>
              </a:rPr>
              <a:t>of urban women surveyed feel unsafe in their cities.</a:t>
            </a:r>
            <a:endParaRPr sz="1000"/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A3F2D055-D291-45BD-B29D-04734354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3108960"/>
            <a:ext cx="2103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i="1">
                <a:solidFill>
                  <a:srgbClr val="5A6478"/>
                </a:solidFill>
                <a:latin typeface="Arial"/>
                <a:ea typeface="Arial"/>
                <a:cs typeface="Arial"/>
              </a:rPr>
              <a:t>Source: NCW &amp; Pvalue Analytics, NARI 2025</a:t>
            </a:r>
            <a:endParaRPr sz="800"/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76F3087B-E350-46BC-9EE2-3F19E4AD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874520"/>
            <a:ext cx="2331720" cy="1572768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8C8E0"/>
            </a:solidFill>
            <a:prstDash val="solid"/>
          </a:ln>
        </p:spPr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56B90D7A-9E69-415C-B03B-3C0F5652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1920240"/>
            <a:ext cx="2103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B3122E"/>
                </a:solidFill>
                <a:latin typeface="Times New Roman"/>
                <a:ea typeface="Times New Roman"/>
                <a:cs typeface="Times New Roman"/>
              </a:rPr>
              <a:t>2 in 3</a:t>
            </a:r>
            <a:endParaRPr sz="2600"/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18B6A13A-6282-4403-A1E3-A5BF242AD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2423160"/>
            <a:ext cx="210312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B1B1B"/>
                </a:solidFill>
                <a:latin typeface="Arial"/>
                <a:ea typeface="Arial"/>
                <a:cs typeface="Arial"/>
              </a:rPr>
              <a:t>harassment incidents go unreported; public-space harassment was 14% for women under 24 vs 7% overall.</a:t>
            </a:r>
            <a:endParaRPr sz="1000"/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24D2B78A-8A15-4C4C-BB6B-0F2969A2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3108960"/>
            <a:ext cx="2103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i="1">
                <a:solidFill>
                  <a:srgbClr val="5A6478"/>
                </a:solidFill>
                <a:latin typeface="Arial"/>
                <a:ea typeface="Arial"/>
                <a:cs typeface="Arial"/>
              </a:rPr>
              <a:t>Source: NCW &amp; Pvalue Analytics, NARI 2025</a:t>
            </a:r>
            <a:endParaRPr sz="800"/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A0BAE7DA-57C3-45AE-B21C-882C2D91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75888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3CE"/>
            </a:solidFill>
            <a:prstDash val="solid"/>
          </a:ln>
        </p:spPr>
      </p:sp>
      <p:pic>
        <p:nvPicPr>
          <p:cNvPr id="93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40daaa39064bb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061" y="3796589"/>
            <a:ext cx="261518" cy="261518"/>
          </a:xfrm>
          <a:prstGeom xmlns:a="http://schemas.openxmlformats.org/drawingml/2006/main" prst="rect">
            <a:avLst/>
          </a:prstGeom>
        </p:spPr>
      </p:pic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2E096569-272F-4C06-8F30-5AF329A4C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3639312"/>
            <a:ext cx="658368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Night walks &amp; late commutes feel unsafe — neighbourhood streets (38%) and public transport (29%) are top harassment hotspots.</a:t>
            </a:r>
            <a:endParaRPr sz="1200"/>
          </a:p>
        </p:txBody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1A731FBE-7969-4887-9B05-8DF0E3EE3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379976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3CE"/>
            </a:solidFill>
            <a:prstDash val="solid"/>
          </a:ln>
        </p:spPr>
      </p:sp>
      <p:pic>
        <p:nvPicPr>
          <p:cNvPr id="9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e13193b7a746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061" y="4500677"/>
            <a:ext cx="261518" cy="261518"/>
          </a:xfrm>
          <a:prstGeom xmlns:a="http://schemas.openxmlformats.org/drawingml/2006/main" prst="rect">
            <a:avLst/>
          </a:prstGeom>
        </p:spPr>
      </p:pic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1629F37C-1DF3-493D-BBDE-0F303581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4343400"/>
            <a:ext cx="658368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Existing SOS apps are reactive</a:t>
            </a:r>
            <a:r>
              <a:rPr sz="1200">
                <a:solidFill>
                  <a:srgbClr val="1B1B1B"/>
                </a:solidFill>
                <a:latin typeface="Arial"/>
                <a:ea typeface="Arial"/>
                <a:cs typeface="Arial"/>
              </a:rPr>
              <a:t> — she must unlock the phone and press a button, exactly when panic or a snatched phone makes that hardest</a:t>
            </a:r>
            <a:endParaRPr sz="1200"/>
          </a:p>
        </p:txBody>
      </p:sp>
      <p:sp>
        <p:nvSpPr>
          <p:cNvPr id="28" name="Shape 22">
            <a:extLst xmlns:a="http://schemas.openxmlformats.org/drawingml/2006/main">
              <a:ext uri="{FF2B5EF4-FFF2-40B4-BE49-F238E27FC236}">
                <a16:creationId xmlns:a16="http://schemas.microsoft.com/office/drawing/2014/main" id="{DADD83C6-6B5F-4FAC-A134-8AD62D54A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084064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3CE"/>
            </a:solidFill>
            <a:prstDash val="solid"/>
          </a:ln>
        </p:spPr>
      </p:sp>
      <p:pic>
        <p:nvPicPr>
          <p:cNvPr id="99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9e870458674b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061" y="5204765"/>
            <a:ext cx="261518" cy="261518"/>
          </a:xfrm>
          <a:prstGeom xmlns:a="http://schemas.openxmlformats.org/drawingml/2006/main" prst="rect">
            <a:avLst/>
          </a:prstGeom>
        </p:spPr>
      </p:pic>
      <p:sp>
        <p:nvSpPr>
          <p:cNvPr id="30" name="Text 23">
            <a:extLst xmlns:a="http://schemas.openxmlformats.org/drawingml/2006/main">
              <a:ext uri="{FF2B5EF4-FFF2-40B4-BE49-F238E27FC236}">
                <a16:creationId xmlns:a16="http://schemas.microsoft.com/office/drawing/2014/main" id="{F29415A3-0C9A-4747-AF33-93E098173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5047488"/>
            <a:ext cx="658368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No one knows a journey went wrong</a:t>
            </a:r>
            <a:r>
              <a:rPr sz="1200">
                <a:solidFill>
                  <a:srgbClr val="1B1B1B"/>
                </a:solidFill>
                <a:latin typeface="Arial"/>
                <a:ea typeface="Arial"/>
                <a:cs typeface="Arial"/>
              </a:rPr>
              <a:t> — no check-ins, no route-deviation or unexpected-stop alerts until it is too late</a:t>
            </a:r>
            <a:endParaRPr sz="1200"/>
          </a:p>
        </p:txBody>
      </p:sp>
      <p:sp>
        <p:nvSpPr>
          <p:cNvPr id="31" name="Shape 24">
            <a:extLst xmlns:a="http://schemas.openxmlformats.org/drawingml/2006/main">
              <a:ext uri="{FF2B5EF4-FFF2-40B4-BE49-F238E27FC236}">
                <a16:creationId xmlns:a16="http://schemas.microsoft.com/office/drawing/2014/main" id="{5B6EB8F1-77EF-4C80-B33A-ACFE4A06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788152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3122E"/>
            </a:solidFill>
            <a:prstDash val="solid"/>
          </a:ln>
        </p:spPr>
      </p:sp>
      <p:pic>
        <p:nvPicPr>
          <p:cNvPr id="102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da1b92d6a041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061" y="5908853"/>
            <a:ext cx="261518" cy="261518"/>
          </a:xfrm>
          <a:prstGeom xmlns:a="http://schemas.openxmlformats.org/drawingml/2006/main" prst="rect">
            <a:avLst/>
          </a:prstGeom>
        </p:spPr>
      </p:pic>
      <p:sp>
        <p:nvSpPr>
          <p:cNvPr id="33" name="Text 25">
            <a:extLst xmlns:a="http://schemas.openxmlformats.org/drawingml/2006/main">
              <a:ext uri="{FF2B5EF4-FFF2-40B4-BE49-F238E27FC236}">
                <a16:creationId xmlns:a16="http://schemas.microsoft.com/office/drawing/2014/main" id="{1226BC3C-042D-4545-9615-9768F373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5751576"/>
            <a:ext cx="658368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B3122E"/>
                </a:solidFill>
                <a:latin typeface="Arial"/>
                <a:ea typeface="Arial"/>
                <a:cs typeface="Arial"/>
              </a:rPr>
              <a:t>The need:</a:t>
            </a:r>
            <a:r>
              <a:rPr sz="1200">
                <a:solidFill>
                  <a:srgbClr val="1B1B1B"/>
                </a:solidFill>
                <a:latin typeface="Arial"/>
                <a:ea typeface="Arial"/>
                <a:cs typeface="Arial"/>
              </a:rPr>
              <a:t> proactive journey monitoring that notices risk signals and escalates automatically if she cannot respond</a:t>
            </a:r>
            <a:endParaRPr sz="1200"/>
          </a:p>
        </p:txBody>
      </p:sp>
      <p:sp>
        <p:nvSpPr>
          <p:cNvPr id="34" name="Shape 26">
            <a:extLst xmlns:a="http://schemas.openxmlformats.org/drawingml/2006/main">
              <a:ext uri="{FF2B5EF4-FFF2-40B4-BE49-F238E27FC236}">
                <a16:creationId xmlns:a16="http://schemas.microsoft.com/office/drawing/2014/main" id="{A172B8B6-F24A-45CF-9F66-75479FDD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188720"/>
            <a:ext cx="3639312" cy="5349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D"/>
          </a:solidFill>
          <a:ln xmlns:a="http://schemas.openxmlformats.org/drawingml/2006/main" w="19050">
            <a:solidFill>
              <a:srgbClr val="13235B"/>
            </a:solidFill>
            <a:prstDash val="solid"/>
          </a:ln>
        </p:spPr>
      </p:sp>
      <p:sp>
        <p:nvSpPr>
          <p:cNvPr id="35" name="Shape 27">
            <a:extLst xmlns:a="http://schemas.openxmlformats.org/drawingml/2006/main">
              <a:ext uri="{FF2B5EF4-FFF2-40B4-BE49-F238E27FC236}">
                <a16:creationId xmlns:a16="http://schemas.microsoft.com/office/drawing/2014/main" id="{EE0E9BA8-5856-4503-856F-C01043DB8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325880"/>
            <a:ext cx="3182112" cy="384048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0B63CE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sp>
        <p:nvSpPr>
          <p:cNvPr id="36" name="Text 28">
            <a:extLst xmlns:a="http://schemas.openxmlformats.org/drawingml/2006/main">
              <a:ext uri="{FF2B5EF4-FFF2-40B4-BE49-F238E27FC236}">
                <a16:creationId xmlns:a16="http://schemas.microsoft.com/office/drawing/2014/main" id="{F85FC901-DF13-4859-9EEC-3C65044C5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325880"/>
            <a:ext cx="318211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TARGET USERS</a:t>
            </a:r>
            <a:endParaRPr sz="1300"/>
          </a:p>
        </p:txBody>
      </p:sp>
      <p:sp>
        <p:nvSpPr>
          <p:cNvPr id="37" name="Shape 29">
            <a:extLst xmlns:a="http://schemas.openxmlformats.org/drawingml/2006/main">
              <a:ext uri="{FF2B5EF4-FFF2-40B4-BE49-F238E27FC236}">
                <a16:creationId xmlns:a16="http://schemas.microsoft.com/office/drawing/2014/main" id="{43162176-2926-4EFA-BA97-93D662F37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1874520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3CE"/>
            </a:solidFill>
            <a:prstDash val="solid"/>
          </a:ln>
        </p:spPr>
      </p:sp>
      <p:pic>
        <p:nvPicPr>
          <p:cNvPr id="108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9b80776e6341d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39764" y="2001804"/>
            <a:ext cx="275783" cy="275783"/>
          </a:xfrm>
          <a:prstGeom xmlns:a="http://schemas.openxmlformats.org/drawingml/2006/main" prst="rect">
            <a:avLst/>
          </a:prstGeom>
        </p:spPr>
      </p:pic>
      <p:sp>
        <p:nvSpPr>
          <p:cNvPr id="39" name="Text 30">
            <a:extLst xmlns:a="http://schemas.openxmlformats.org/drawingml/2006/main">
              <a:ext uri="{FF2B5EF4-FFF2-40B4-BE49-F238E27FC236}">
                <a16:creationId xmlns:a16="http://schemas.microsoft.com/office/drawing/2014/main" id="{2AF86934-0F83-4119-8C8F-62BF77E5F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48" y="1856232"/>
            <a:ext cx="2743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College Students (16–24)</a:t>
            </a:r>
            <a:endParaRPr sz="1200"/>
          </a:p>
        </p:txBody>
      </p:sp>
      <p:sp>
        <p:nvSpPr>
          <p:cNvPr id="40" name="Text 31">
            <a:extLst xmlns:a="http://schemas.openxmlformats.org/drawingml/2006/main">
              <a:ext uri="{FF2B5EF4-FFF2-40B4-BE49-F238E27FC236}">
                <a16:creationId xmlns:a16="http://schemas.microsoft.com/office/drawing/2014/main" id="{995D96BC-03EA-4CCE-95DB-5BD045F80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48" y="2139696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A6478"/>
                </a:solidFill>
                <a:latin typeface="Arial"/>
                <a:ea typeface="Arial"/>
                <a:cs typeface="Arial"/>
              </a:rPr>
              <a:t>Late classes, coaching, hostel returns</a:t>
            </a:r>
            <a:endParaRPr sz="1000"/>
          </a:p>
        </p:txBody>
      </p:sp>
      <p:sp>
        <p:nvSpPr>
          <p:cNvPr id="41" name="Shape 32">
            <a:extLst xmlns:a="http://schemas.openxmlformats.org/drawingml/2006/main">
              <a:ext uri="{FF2B5EF4-FFF2-40B4-BE49-F238E27FC236}">
                <a16:creationId xmlns:a16="http://schemas.microsoft.com/office/drawing/2014/main" id="{B1594D49-0364-416E-9405-49162936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2606040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3CE"/>
            </a:solidFill>
            <a:prstDash val="solid"/>
          </a:ln>
        </p:spPr>
      </p:sp>
      <p:pic>
        <p:nvPicPr>
          <p:cNvPr id="112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995e0719e940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39764" y="2733324"/>
            <a:ext cx="275783" cy="275783"/>
          </a:xfrm>
          <a:prstGeom xmlns:a="http://schemas.openxmlformats.org/drawingml/2006/main" prst="rect">
            <a:avLst/>
          </a:prstGeom>
        </p:spPr>
      </p:pic>
      <p:sp>
        <p:nvSpPr>
          <p:cNvPr id="43" name="Text 33">
            <a:extLst xmlns:a="http://schemas.openxmlformats.org/drawingml/2006/main">
              <a:ext uri="{FF2B5EF4-FFF2-40B4-BE49-F238E27FC236}">
                <a16:creationId xmlns:a16="http://schemas.microsoft.com/office/drawing/2014/main" id="{AC81B8CA-C87E-481F-9FB6-3EFEDAE8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48" y="2587752"/>
            <a:ext cx="2743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Working Professionals (22–40)</a:t>
            </a:r>
            <a:endParaRPr sz="1200"/>
          </a:p>
        </p:txBody>
      </p:sp>
      <p:sp>
        <p:nvSpPr>
          <p:cNvPr id="44" name="Text 34">
            <a:extLst xmlns:a="http://schemas.openxmlformats.org/drawingml/2006/main">
              <a:ext uri="{FF2B5EF4-FFF2-40B4-BE49-F238E27FC236}">
                <a16:creationId xmlns:a16="http://schemas.microsoft.com/office/drawing/2014/main" id="{8F1E566F-443D-4260-8A0B-0A5317014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48" y="2871216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A6478"/>
                </a:solidFill>
                <a:latin typeface="Arial"/>
                <a:ea typeface="Arial"/>
                <a:cs typeface="Arial"/>
              </a:rPr>
              <a:t>Night shifts, late cabs &amp; metro rides</a:t>
            </a:r>
            <a:endParaRPr sz="1000"/>
          </a:p>
        </p:txBody>
      </p:sp>
      <p:sp>
        <p:nvSpPr>
          <p:cNvPr id="45" name="Shape 35">
            <a:extLst xmlns:a="http://schemas.openxmlformats.org/drawingml/2006/main">
              <a:ext uri="{FF2B5EF4-FFF2-40B4-BE49-F238E27FC236}">
                <a16:creationId xmlns:a16="http://schemas.microsoft.com/office/drawing/2014/main" id="{009983C1-2ABF-4634-AFE8-19F94D1F0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3337560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3CE"/>
            </a:solidFill>
            <a:prstDash val="solid"/>
          </a:ln>
        </p:spPr>
      </p:sp>
      <p:pic>
        <p:nvPicPr>
          <p:cNvPr id="116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a470a43c104c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39764" y="3464844"/>
            <a:ext cx="275783" cy="275783"/>
          </a:xfrm>
          <a:prstGeom xmlns:a="http://schemas.openxmlformats.org/drawingml/2006/main" prst="rect">
            <a:avLst/>
          </a:prstGeom>
        </p:spPr>
      </p:pic>
      <p:sp>
        <p:nvSpPr>
          <p:cNvPr id="47" name="Text 36">
            <a:extLst xmlns:a="http://schemas.openxmlformats.org/drawingml/2006/main">
              <a:ext uri="{FF2B5EF4-FFF2-40B4-BE49-F238E27FC236}">
                <a16:creationId xmlns:a16="http://schemas.microsoft.com/office/drawing/2014/main" id="{2AC0D7A7-1DE3-401C-AFEC-59C79577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48" y="3319272"/>
            <a:ext cx="2743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Solo Travellers</a:t>
            </a:r>
            <a:endParaRPr sz="1200"/>
          </a:p>
        </p:txBody>
      </p:sp>
      <p:sp>
        <p:nvSpPr>
          <p:cNvPr id="48" name="Text 37">
            <a:extLst xmlns:a="http://schemas.openxmlformats.org/drawingml/2006/main">
              <a:ext uri="{FF2B5EF4-FFF2-40B4-BE49-F238E27FC236}">
                <a16:creationId xmlns:a16="http://schemas.microsoft.com/office/drawing/2014/main" id="{A47BC79D-EC3C-4207-ACA9-8C74FE9EA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48" y="3602736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A6478"/>
                </a:solidFill>
                <a:latin typeface="Arial"/>
                <a:ea typeface="Arial"/>
                <a:cs typeface="Arial"/>
              </a:rPr>
              <a:t>New cities, unfamiliar routes, late arrivals</a:t>
            </a:r>
            <a:endParaRPr sz="1000"/>
          </a:p>
        </p:txBody>
      </p:sp>
      <p:sp>
        <p:nvSpPr>
          <p:cNvPr id="49" name="Shape 38">
            <a:extLst xmlns:a="http://schemas.openxmlformats.org/drawingml/2006/main">
              <a:ext uri="{FF2B5EF4-FFF2-40B4-BE49-F238E27FC236}">
                <a16:creationId xmlns:a16="http://schemas.microsoft.com/office/drawing/2014/main" id="{5FFCCE51-8EE4-4269-AF62-8CFFC89B8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069080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3CE"/>
            </a:solidFill>
            <a:prstDash val="solid"/>
          </a:ln>
        </p:spPr>
      </p:sp>
      <p:pic>
        <p:nvPicPr>
          <p:cNvPr id="120" name="Imag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49219441144c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39764" y="4196364"/>
            <a:ext cx="275783" cy="275783"/>
          </a:xfrm>
          <a:prstGeom xmlns:a="http://schemas.openxmlformats.org/drawingml/2006/main" prst="rect">
            <a:avLst/>
          </a:prstGeom>
        </p:spPr>
      </p:pic>
      <p:sp>
        <p:nvSpPr>
          <p:cNvPr id="51" name="Text 39">
            <a:extLst xmlns:a="http://schemas.openxmlformats.org/drawingml/2006/main">
              <a:ext uri="{FF2B5EF4-FFF2-40B4-BE49-F238E27FC236}">
                <a16:creationId xmlns:a16="http://schemas.microsoft.com/office/drawing/2014/main" id="{DBFC6452-B5C4-41EB-8DEA-A2EEE4CF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48" y="4050792"/>
            <a:ext cx="2743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Night Commuters</a:t>
            </a:r>
            <a:endParaRPr sz="1200"/>
          </a:p>
        </p:txBody>
      </p:sp>
      <p:sp>
        <p:nvSpPr>
          <p:cNvPr id="52" name="Text 40">
            <a:extLst xmlns:a="http://schemas.openxmlformats.org/drawingml/2006/main">
              <a:ext uri="{FF2B5EF4-FFF2-40B4-BE49-F238E27FC236}">
                <a16:creationId xmlns:a16="http://schemas.microsoft.com/office/drawing/2014/main" id="{26AEA285-E07E-49DA-ABFD-9AD76887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48" y="4334256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A6478"/>
                </a:solidFill>
                <a:latin typeface="Arial"/>
                <a:ea typeface="Arial"/>
                <a:cs typeface="Arial"/>
              </a:rPr>
              <a:t>Walk / auto / cab / bus after dark</a:t>
            </a:r>
            <a:endParaRPr sz="1000"/>
          </a:p>
        </p:txBody>
      </p:sp>
      <p:sp>
        <p:nvSpPr>
          <p:cNvPr id="53" name="Text 41">
            <a:extLst xmlns:a="http://schemas.openxmlformats.org/drawingml/2006/main">
              <a:ext uri="{FF2B5EF4-FFF2-40B4-BE49-F238E27FC236}">
                <a16:creationId xmlns:a16="http://schemas.microsoft.com/office/drawing/2014/main" id="{5D334EFD-37DA-4186-A323-5234F07B9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800600"/>
            <a:ext cx="32918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Secondary users: </a:t>
            </a:r>
            <a:r>
              <a:rPr sz="1000">
                <a:solidFill>
                  <a:srgbClr val="1B1B1B"/>
                </a:solidFill>
                <a:latin typeface="Arial"/>
                <a:ea typeface="Arial"/>
                <a:cs typeface="Arial"/>
              </a:rPr>
              <a:t>family &amp; friends acting as trusted guardians</a:t>
            </a:r>
            <a:endParaRPr sz="1000"/>
          </a:p>
        </p:txBody>
      </p:sp>
      <p:sp>
        <p:nvSpPr>
          <p:cNvPr id="54" name="Shape 42">
            <a:extLst xmlns:a="http://schemas.openxmlformats.org/drawingml/2006/main">
              <a:ext uri="{FF2B5EF4-FFF2-40B4-BE49-F238E27FC236}">
                <a16:creationId xmlns:a16="http://schemas.microsoft.com/office/drawing/2014/main" id="{C63C5FDB-8EE6-4DD0-A597-14028F49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5303520"/>
            <a:ext cx="3273552" cy="1078992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3122E"/>
            </a:solidFill>
            <a:prstDash val="solid"/>
          </a:ln>
        </p:spPr>
      </p:sp>
      <p:sp>
        <p:nvSpPr>
          <p:cNvPr id="55" name="Shape 43">
            <a:extLst xmlns:a="http://schemas.openxmlformats.org/drawingml/2006/main">
              <a:ext uri="{FF2B5EF4-FFF2-40B4-BE49-F238E27FC236}">
                <a16:creationId xmlns:a16="http://schemas.microsoft.com/office/drawing/2014/main" id="{0D5F1CBE-1DA0-48F4-A000-5B0C586F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5422392"/>
            <a:ext cx="731520" cy="329184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B3122E"/>
          </a:solidFill>
          <a:ln xmlns:a="http://schemas.openxmlformats.org/drawingml/2006/main" w="12700">
            <a:solidFill>
              <a:srgbClr val="B3122E"/>
            </a:solidFill>
            <a:prstDash val="solid"/>
          </a:ln>
        </p:spPr>
      </p:sp>
      <p:sp>
        <p:nvSpPr>
          <p:cNvPr id="56" name="Text 44">
            <a:extLst xmlns:a="http://schemas.openxmlformats.org/drawingml/2006/main">
              <a:ext uri="{FF2B5EF4-FFF2-40B4-BE49-F238E27FC236}">
                <a16:creationId xmlns:a16="http://schemas.microsoft.com/office/drawing/2014/main" id="{439A673A-B852-441E-9B54-587F222E0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5422392"/>
            <a:ext cx="7315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B2C</a:t>
            </a:r>
            <a:endParaRPr sz="1200"/>
          </a:p>
        </p:txBody>
      </p:sp>
      <p:sp>
        <p:nvSpPr>
          <p:cNvPr id="57" name="Text 45">
            <a:extLst xmlns:a="http://schemas.openxmlformats.org/drawingml/2006/main">
              <a:ext uri="{FF2B5EF4-FFF2-40B4-BE49-F238E27FC236}">
                <a16:creationId xmlns:a16="http://schemas.microsoft.com/office/drawing/2014/main" id="{CEDE6626-AB70-44BF-A463-7B773AA5D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0032" y="5422392"/>
            <a:ext cx="22402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B1B1B"/>
                </a:solidFill>
                <a:latin typeface="Arial"/>
                <a:ea typeface="Arial"/>
                <a:cs typeface="Arial"/>
              </a:rPr>
              <a:t>Free app for individual women</a:t>
            </a:r>
            <a:endParaRPr sz="1050"/>
          </a:p>
        </p:txBody>
      </p:sp>
      <p:sp>
        <p:nvSpPr>
          <p:cNvPr id="58" name="Shape 46">
            <a:extLst xmlns:a="http://schemas.openxmlformats.org/drawingml/2006/main">
              <a:ext uri="{FF2B5EF4-FFF2-40B4-BE49-F238E27FC236}">
                <a16:creationId xmlns:a16="http://schemas.microsoft.com/office/drawing/2014/main" id="{8E559F41-7400-4EB3-BAE6-7F9652455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5907024"/>
            <a:ext cx="731520" cy="329184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13235B"/>
          </a:solidFill>
          <a:ln xmlns:a="http://schemas.openxmlformats.org/drawingml/2006/main" w="12700">
            <a:solidFill>
              <a:srgbClr val="13235B"/>
            </a:solidFill>
            <a:prstDash val="solid"/>
          </a:ln>
        </p:spPr>
      </p:sp>
      <p:sp>
        <p:nvSpPr>
          <p:cNvPr id="59" name="Text 47">
            <a:extLst xmlns:a="http://schemas.openxmlformats.org/drawingml/2006/main">
              <a:ext uri="{FF2B5EF4-FFF2-40B4-BE49-F238E27FC236}">
                <a16:creationId xmlns:a16="http://schemas.microsoft.com/office/drawing/2014/main" id="{990D4AF6-7D95-4ED9-8400-41FF84E9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5907024"/>
            <a:ext cx="7315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B2B2C</a:t>
            </a:r>
            <a:endParaRPr sz="1000"/>
          </a:p>
        </p:txBody>
      </p:sp>
      <p:sp>
        <p:nvSpPr>
          <p:cNvPr id="60" name="Text 48">
            <a:extLst xmlns:a="http://schemas.openxmlformats.org/drawingml/2006/main">
              <a:ext uri="{FF2B5EF4-FFF2-40B4-BE49-F238E27FC236}">
                <a16:creationId xmlns:a16="http://schemas.microsoft.com/office/drawing/2014/main" id="{3DC7CF57-8B07-4F84-A7A4-AC1F33D37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0032" y="5907024"/>
            <a:ext cx="22402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B1B1B"/>
                </a:solidFill>
                <a:latin typeface="Arial"/>
                <a:ea typeface="Arial"/>
                <a:cs typeface="Arial"/>
              </a:rPr>
              <a:t>Later: via colleges &amp; employers</a:t>
            </a:r>
            <a:endParaRPr sz="1050"/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85B85B6-945A-41CE-AE33-356A9ABF1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532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3235B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900" b="1">
                <a:solidFill>
                  <a:srgbClr val="13235B"/>
                </a:solidFill>
                <a:latin typeface="Segoe UI Symbol"/>
                <a:ea typeface="Segoe UI Symbol"/>
                <a:cs typeface="Segoe UI Symbol"/>
              </a:rPr>
              <a:t>⛨  ⌖  ●—●</a:t>
            </a:r>
          </a:p>
        </p:txBody>
      </p:sp>
    </p:spTree>
    <p:extLst>
      <p:ext uri="{BB962C8B-B14F-4D97-AF65-F5344CB8AC3E}">
        <p14:creationId xmlns:p14="http://schemas.microsoft.com/office/powerpoint/2010/main" val="1047689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75BFECE-8835-4B0E-8D37-2D41F1EA9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01168"/>
            <a:ext cx="210312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808080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3E34877-94E6-438A-B443-FC872BBAE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01168"/>
            <a:ext cx="21031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1B1B1B"/>
                </a:solidFill>
                <a:latin typeface="Arial"/>
                <a:ea typeface="Arial"/>
                <a:cs typeface="Arial"/>
              </a:rPr>
              <a:t>[TEAM NAME]</a:t>
            </a:r>
            <a:endParaRPr sz="1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D0FD23F-BE28-4B1B-B3EB-35C0C750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109728"/>
            <a:ext cx="69494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1B1B1B"/>
                </a:solidFill>
                <a:latin typeface="Times New Roman"/>
                <a:ea typeface="Times New Roman"/>
                <a:cs typeface="Times New Roman"/>
              </a:rPr>
              <a:t>OUR UNIQUE SOLUTION</a:t>
            </a:r>
            <a:endParaRPr sz="3000"/>
          </a:p>
        </p:txBody>
      </p:sp>
      <p:pic>
        <p:nvPicPr>
          <p:cNvPr id="13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44be5d0b464b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29800" y="109728"/>
            <a:ext cx="1051560" cy="841248"/>
          </a:xfrm>
          <a:prstGeom xmlns:a="http://schemas.openxmlformats.org/drawingml/2006/main" prst="rect">
            <a:avLst/>
          </a:prstGeom>
        </p:spPr>
      </p:pic>
      <p:pic>
        <p:nvPicPr>
          <p:cNvPr id="13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e550a9781049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72800" y="91440"/>
            <a:ext cx="923544" cy="868680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69C7A76E-286D-4DC3-9B84-617AEBAC7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143000"/>
            <a:ext cx="11548872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D"/>
          </a:solidFill>
          <a:ln xmlns:a="http://schemas.openxmlformats.org/drawingml/2006/main" w="19050">
            <a:solidFill>
              <a:srgbClr val="13235B"/>
            </a:solidFill>
            <a:prstDash val="solid"/>
          </a:ln>
        </p:spPr>
      </p:sp>
      <p:sp>
        <p:nvSpPr>
          <p:cNvPr id="8" name="Shape 4">
            <a:extLst xmlns:a="http://schemas.openxmlformats.org/drawingml/2006/main">
              <a:ext uri="{FF2B5EF4-FFF2-40B4-BE49-F238E27FC236}">
                <a16:creationId xmlns:a16="http://schemas.microsoft.com/office/drawing/2014/main" id="{DA8130F6-BF25-4057-BC70-E312C301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43584"/>
            <a:ext cx="4206240" cy="329184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13235B"/>
          </a:solidFill>
          <a:ln xmlns:a="http://schemas.openxmlformats.org/drawingml/2006/main" w="12700">
            <a:solidFill>
              <a:srgbClr val="13235B"/>
            </a:solidFill>
            <a:prstDash val="solid"/>
          </a:ln>
        </p:spPr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322037D5-A527-43DD-B570-490E73FC6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43584"/>
            <a:ext cx="42062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HOW IT WORKS — JOURNEY + COMMUNITY FLOW</a:t>
            </a:r>
            <a:endParaRPr sz="115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3E4F3002-B22B-4C95-A94B-8481116AB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" y="1627632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3CE"/>
          </a:solidFill>
          <a:ln xmlns:a="http://schemas.openxmlformats.org/drawingml/2006/main" w="19050">
            <a:solidFill>
              <a:srgbClr val="0B63CE"/>
            </a:solidFill>
            <a:prstDash val="solid"/>
          </a:ln>
        </p:spPr>
      </p:sp>
      <p:pic>
        <p:nvPicPr>
          <p:cNvPr id="14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12bfb0bec743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32759" y="1763695"/>
            <a:ext cx="294803" cy="294803"/>
          </a:xfrm>
          <a:prstGeom xmlns:a="http://schemas.openxmlformats.org/drawingml/2006/main" prst="rect">
            <a:avLst/>
          </a:prstGeom>
        </p:spPr>
      </p:pic>
      <p:sp>
        <p:nvSpPr>
          <p:cNvPr id="12" name="Shape 7">
            <a:extLst xmlns:a="http://schemas.openxmlformats.org/drawingml/2006/main">
              <a:ext uri="{FF2B5EF4-FFF2-40B4-BE49-F238E27FC236}">
                <a16:creationId xmlns:a16="http://schemas.microsoft.com/office/drawing/2014/main" id="{E7D696B9-AE19-449F-83ED-1B1385C2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176" y="157276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0B63CE"/>
            </a:solidFill>
            <a:prstDash val="solid"/>
          </a:ln>
        </p:spPr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AACE9844-CEC9-493A-B9F2-F72DE05A2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176" y="157276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0B63CE"/>
                </a:solidFill>
                <a:latin typeface="Arial"/>
                <a:ea typeface="Arial"/>
                <a:cs typeface="Arial"/>
              </a:rPr>
              <a:t>1</a:t>
            </a:r>
            <a:endParaRPr sz="9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7BD62169-5C1F-4D1E-A290-874284AEE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221992"/>
            <a:ext cx="1828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Start Journey</a:t>
            </a:r>
            <a:endParaRPr sz="115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4BB24AF8-3D90-4924-9BC1-CED19EC20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46888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5A6478"/>
                </a:solidFill>
                <a:latin typeface="Arial"/>
                <a:ea typeface="Arial"/>
                <a:cs typeface="Arial"/>
              </a:rPr>
              <a:t>Set destination, ETA &amp; guardians</a:t>
            </a:r>
            <a:endParaRPr sz="900"/>
          </a:p>
        </p:txBody>
      </p:sp>
      <p:sp>
        <p:nvSpPr>
          <p:cNvPr id="16" name="Shape 11">
            <a:extLst xmlns:a="http://schemas.openxmlformats.org/drawingml/2006/main">
              <a:ext uri="{FF2B5EF4-FFF2-40B4-BE49-F238E27FC236}">
                <a16:creationId xmlns:a16="http://schemas.microsoft.com/office/drawing/2014/main" id="{7D691A97-BC26-40D5-BB9A-2E91C6D1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1911096"/>
            <a:ext cx="1097280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3235B"/>
            </a:solidFill>
            <a:prstDash val="dash"/>
            <a:tailEnd type="triangle"/>
          </a:ln>
        </p:spPr>
      </p:sp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71C0A03F-6022-4ACB-9298-A300DE4A4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936" y="1627632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3CE"/>
          </a:solidFill>
          <a:ln xmlns:a="http://schemas.openxmlformats.org/drawingml/2006/main" w="19050">
            <a:solidFill>
              <a:srgbClr val="0B63CE"/>
            </a:solidFill>
            <a:prstDash val="solid"/>
          </a:ln>
        </p:spPr>
      </p:sp>
      <p:pic>
        <p:nvPicPr>
          <p:cNvPr id="147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eeed4f228944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52999" y="1763695"/>
            <a:ext cx="294803" cy="294803"/>
          </a:xfrm>
          <a:prstGeom xmlns:a="http://schemas.openxmlformats.org/drawingml/2006/main" prst="rect">
            <a:avLst/>
          </a:prstGeom>
        </p:spPr>
      </p:pic>
      <p:sp>
        <p:nvSpPr>
          <p:cNvPr id="19" name="Shape 13">
            <a:extLst xmlns:a="http://schemas.openxmlformats.org/drawingml/2006/main">
              <a:ext uri="{FF2B5EF4-FFF2-40B4-BE49-F238E27FC236}">
                <a16:creationId xmlns:a16="http://schemas.microsoft.com/office/drawing/2014/main" id="{77B62D24-48A3-4C54-89CD-15C4A9F5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416" y="157276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0B63CE"/>
            </a:solidFill>
            <a:prstDash val="solid"/>
          </a:ln>
        </p:spPr>
      </p:sp>
      <p:sp>
        <p:nvSpPr>
          <p:cNvPr id="20" name="Text 14">
            <a:extLst xmlns:a="http://schemas.openxmlformats.org/drawingml/2006/main">
              <a:ext uri="{FF2B5EF4-FFF2-40B4-BE49-F238E27FC236}">
                <a16:creationId xmlns:a16="http://schemas.microsoft.com/office/drawing/2014/main" id="{2E67F8E6-EC34-4873-AD28-F15C5FDB6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416" y="157276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0B63CE"/>
                </a:solidFill>
                <a:latin typeface="Arial"/>
                <a:ea typeface="Arial"/>
                <a:cs typeface="Arial"/>
              </a:rPr>
              <a:t>2</a:t>
            </a:r>
            <a:endParaRPr sz="900"/>
          </a:p>
        </p:txBody>
      </p:sp>
      <p:sp>
        <p:nvSpPr>
          <p:cNvPr id="21" name="Text 15">
            <a:extLst xmlns:a="http://schemas.openxmlformats.org/drawingml/2006/main">
              <a:ext uri="{FF2B5EF4-FFF2-40B4-BE49-F238E27FC236}">
                <a16:creationId xmlns:a16="http://schemas.microsoft.com/office/drawing/2014/main" id="{968ECAF9-0B6B-4222-9AC8-98FFBE9B6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221992"/>
            <a:ext cx="1828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Monitor Journey</a:t>
            </a:r>
            <a:endParaRPr sz="1150"/>
          </a:p>
        </p:txBody>
      </p:sp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D5CD5FC8-9F46-4246-8F67-70E97920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46888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5A6478"/>
                </a:solidFill>
                <a:latin typeface="Arial"/>
                <a:ea typeface="Arial"/>
                <a:cs typeface="Arial"/>
              </a:rPr>
              <a:t>Live GPS + motion shared securely</a:t>
            </a:r>
            <a:endParaRPr sz="900"/>
          </a:p>
        </p:txBody>
      </p:sp>
      <p:sp>
        <p:nvSpPr>
          <p:cNvPr id="23" name="Shape 17">
            <a:extLst xmlns:a="http://schemas.openxmlformats.org/drawingml/2006/main">
              <a:ext uri="{FF2B5EF4-FFF2-40B4-BE49-F238E27FC236}">
                <a16:creationId xmlns:a16="http://schemas.microsoft.com/office/drawing/2014/main" id="{9A0AF50A-0312-42D8-B1E5-3FBCFE318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1911096"/>
            <a:ext cx="1097280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3235B"/>
            </a:solidFill>
            <a:prstDash val="dash"/>
            <a:tailEnd type="triangle"/>
          </a:ln>
        </p:spPr>
      </p:sp>
      <p:sp>
        <p:nvSpPr>
          <p:cNvPr id="24" name="Shape 18">
            <a:extLst xmlns:a="http://schemas.openxmlformats.org/drawingml/2006/main">
              <a:ext uri="{FF2B5EF4-FFF2-40B4-BE49-F238E27FC236}">
                <a16:creationId xmlns:a16="http://schemas.microsoft.com/office/drawing/2014/main" id="{E6A8EAC5-2BF0-4F8B-965F-B083D214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1627632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3CE"/>
          </a:solidFill>
          <a:ln xmlns:a="http://schemas.openxmlformats.org/drawingml/2006/main" w="19050">
            <a:solidFill>
              <a:srgbClr val="0B63CE"/>
            </a:solidFill>
            <a:prstDash val="solid"/>
          </a:ln>
        </p:spPr>
      </p:sp>
      <p:pic>
        <p:nvPicPr>
          <p:cNvPr id="154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5669b8692b41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73239" y="1763695"/>
            <a:ext cx="294803" cy="294803"/>
          </a:xfrm>
          <a:prstGeom xmlns:a="http://schemas.openxmlformats.org/drawingml/2006/main" prst="rect">
            <a:avLst/>
          </a:prstGeom>
        </p:spPr>
      </p:pic>
      <p:sp>
        <p:nvSpPr>
          <p:cNvPr id="26" name="Shape 19">
            <a:extLst xmlns:a="http://schemas.openxmlformats.org/drawingml/2006/main">
              <a:ext uri="{FF2B5EF4-FFF2-40B4-BE49-F238E27FC236}">
                <a16:creationId xmlns:a16="http://schemas.microsoft.com/office/drawing/2014/main" id="{67BC03E8-3B9B-4C2A-9C45-8CB85D615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656" y="157276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0B63CE"/>
            </a:solidFill>
            <a:prstDash val="solid"/>
          </a:ln>
        </p:spPr>
      </p:sp>
      <p:sp>
        <p:nvSpPr>
          <p:cNvPr id="27" name="Text 20">
            <a:extLst xmlns:a="http://schemas.openxmlformats.org/drawingml/2006/main">
              <a:ext uri="{FF2B5EF4-FFF2-40B4-BE49-F238E27FC236}">
                <a16:creationId xmlns:a16="http://schemas.microsoft.com/office/drawing/2014/main" id="{6DCAF1DC-9D1B-4127-8148-EBD7143FB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656" y="157276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0B63CE"/>
                </a:solidFill>
                <a:latin typeface="Arial"/>
                <a:ea typeface="Arial"/>
                <a:cs typeface="Arial"/>
              </a:rPr>
              <a:t>3</a:t>
            </a:r>
            <a:endParaRPr sz="900"/>
          </a:p>
        </p:txBody>
      </p:sp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F812D6C1-5CD3-4CE7-A6D5-E7126DC4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2221992"/>
            <a:ext cx="1828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Detect Risk Signal</a:t>
            </a:r>
            <a:endParaRPr sz="1150"/>
          </a:p>
        </p:txBody>
      </p:sp>
      <p:sp>
        <p:nvSpPr>
          <p:cNvPr id="29" name="Text 22">
            <a:extLst xmlns:a="http://schemas.openxmlformats.org/drawingml/2006/main">
              <a:ext uri="{FF2B5EF4-FFF2-40B4-BE49-F238E27FC236}">
                <a16:creationId xmlns:a16="http://schemas.microsoft.com/office/drawing/2014/main" id="{1951240B-E0B2-46E3-894E-79F7887EF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246888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5A6478"/>
                </a:solidFill>
                <a:latin typeface="Arial"/>
                <a:ea typeface="Arial"/>
                <a:cs typeface="Arial"/>
              </a:rPr>
              <a:t>Deviation · long stop · late ETA</a:t>
            </a:r>
            <a:endParaRPr sz="900"/>
          </a:p>
        </p:txBody>
      </p:sp>
      <p:sp>
        <p:nvSpPr>
          <p:cNvPr id="30" name="Shape 23">
            <a:extLst xmlns:a="http://schemas.openxmlformats.org/drawingml/2006/main">
              <a:ext uri="{FF2B5EF4-FFF2-40B4-BE49-F238E27FC236}">
                <a16:creationId xmlns:a16="http://schemas.microsoft.com/office/drawing/2014/main" id="{FDC5D4BF-E587-473B-9968-8842812E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911096"/>
            <a:ext cx="1097280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3235B"/>
            </a:solidFill>
            <a:prstDash val="dash"/>
            <a:tailEnd type="triangle"/>
          </a:ln>
        </p:spPr>
      </p:sp>
      <p:sp>
        <p:nvSpPr>
          <p:cNvPr id="31" name="Shape 24">
            <a:extLst xmlns:a="http://schemas.openxmlformats.org/drawingml/2006/main">
              <a:ext uri="{FF2B5EF4-FFF2-40B4-BE49-F238E27FC236}">
                <a16:creationId xmlns:a16="http://schemas.microsoft.com/office/drawing/2014/main" id="{858C7020-591A-483F-AA4F-63EB4BB6A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1627632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820C"/>
          </a:solidFill>
          <a:ln xmlns:a="http://schemas.openxmlformats.org/drawingml/2006/main" w="19050">
            <a:solidFill>
              <a:srgbClr val="E8820C"/>
            </a:solidFill>
            <a:prstDash val="solid"/>
          </a:ln>
        </p:spPr>
      </p:sp>
      <p:pic>
        <p:nvPicPr>
          <p:cNvPr id="161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6d48895b964a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93479" y="1763695"/>
            <a:ext cx="294803" cy="294803"/>
          </a:xfrm>
          <a:prstGeom xmlns:a="http://schemas.openxmlformats.org/drawingml/2006/main" prst="rect">
            <a:avLst/>
          </a:prstGeom>
        </p:spPr>
      </p:pic>
      <p:sp>
        <p:nvSpPr>
          <p:cNvPr id="33" name="Shape 25">
            <a:extLst xmlns:a="http://schemas.openxmlformats.org/drawingml/2006/main">
              <a:ext uri="{FF2B5EF4-FFF2-40B4-BE49-F238E27FC236}">
                <a16:creationId xmlns:a16="http://schemas.microsoft.com/office/drawing/2014/main" id="{EDE66DA4-6992-406D-801E-E77B12228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8896" y="157276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8820C"/>
            </a:solidFill>
            <a:prstDash val="solid"/>
          </a:ln>
        </p:spPr>
      </p:sp>
      <p:sp>
        <p:nvSpPr>
          <p:cNvPr id="34" name="Text 26">
            <a:extLst xmlns:a="http://schemas.openxmlformats.org/drawingml/2006/main">
              <a:ext uri="{FF2B5EF4-FFF2-40B4-BE49-F238E27FC236}">
                <a16:creationId xmlns:a16="http://schemas.microsoft.com/office/drawing/2014/main" id="{CA6DAE13-8538-40CD-8963-0658D3FCD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8896" y="157276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E8820C"/>
                </a:solidFill>
                <a:latin typeface="Arial"/>
                <a:ea typeface="Arial"/>
                <a:cs typeface="Arial"/>
              </a:rPr>
              <a:t>4</a:t>
            </a:r>
            <a:endParaRPr sz="900"/>
          </a:p>
        </p:txBody>
      </p:sp>
      <p:sp>
        <p:nvSpPr>
          <p:cNvPr id="35" name="Text 27">
            <a:extLst xmlns:a="http://schemas.openxmlformats.org/drawingml/2006/main">
              <a:ext uri="{FF2B5EF4-FFF2-40B4-BE49-F238E27FC236}">
                <a16:creationId xmlns:a16="http://schemas.microsoft.com/office/drawing/2014/main" id="{526C208F-B5B3-40A3-A293-0EE887BAE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221992"/>
            <a:ext cx="1828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E8820C"/>
                </a:solidFill>
                <a:latin typeface="Arial"/>
                <a:ea typeface="Arial"/>
                <a:cs typeface="Arial"/>
              </a:rPr>
              <a:t>“Are You Safe?”</a:t>
            </a:r>
            <a:endParaRPr sz="1150"/>
          </a:p>
        </p:txBody>
      </p:sp>
      <p:sp>
        <p:nvSpPr>
          <p:cNvPr id="36" name="Text 28">
            <a:extLst xmlns:a="http://schemas.openxmlformats.org/drawingml/2006/main">
              <a:ext uri="{FF2B5EF4-FFF2-40B4-BE49-F238E27FC236}">
                <a16:creationId xmlns:a16="http://schemas.microsoft.com/office/drawing/2014/main" id="{7D138385-DB62-4D97-B7E9-92FC6899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46888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5A6478"/>
                </a:solidFill>
                <a:latin typeface="Arial"/>
                <a:ea typeface="Arial"/>
                <a:cs typeface="Arial"/>
              </a:rPr>
              <a:t>Silent prompt, 30-sec countdown</a:t>
            </a:r>
            <a:endParaRPr sz="900"/>
          </a:p>
        </p:txBody>
      </p:sp>
      <p:sp>
        <p:nvSpPr>
          <p:cNvPr id="37" name="Shape 29">
            <a:extLst xmlns:a="http://schemas.openxmlformats.org/drawingml/2006/main">
              <a:ext uri="{FF2B5EF4-FFF2-40B4-BE49-F238E27FC236}">
                <a16:creationId xmlns:a16="http://schemas.microsoft.com/office/drawing/2014/main" id="{011E4264-0F28-4072-8704-F2201DD7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1911096"/>
            <a:ext cx="1097280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3235B"/>
            </a:solidFill>
            <a:prstDash val="dash"/>
            <a:tailEnd type="triangle"/>
          </a:ln>
        </p:spPr>
      </p:sp>
      <p:sp>
        <p:nvSpPr>
          <p:cNvPr id="38" name="Shape 30">
            <a:extLst xmlns:a="http://schemas.openxmlformats.org/drawingml/2006/main">
              <a:ext uri="{FF2B5EF4-FFF2-40B4-BE49-F238E27FC236}">
                <a16:creationId xmlns:a16="http://schemas.microsoft.com/office/drawing/2014/main" id="{64DB76FF-8460-46BE-BD82-FE7569AC1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656" y="1627632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820C"/>
          </a:solidFill>
          <a:ln xmlns:a="http://schemas.openxmlformats.org/drawingml/2006/main" w="19050">
            <a:solidFill>
              <a:srgbClr val="E8820C"/>
            </a:solidFill>
            <a:prstDash val="solid"/>
          </a:ln>
        </p:spPr>
      </p:sp>
      <p:pic>
        <p:nvPicPr>
          <p:cNvPr id="168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08152932a34b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13719" y="1763695"/>
            <a:ext cx="294803" cy="294803"/>
          </a:xfrm>
          <a:prstGeom xmlns:a="http://schemas.openxmlformats.org/drawingml/2006/main" prst="rect">
            <a:avLst/>
          </a:prstGeom>
        </p:spPr>
      </p:pic>
      <p:sp>
        <p:nvSpPr>
          <p:cNvPr id="40" name="Shape 31">
            <a:extLst xmlns:a="http://schemas.openxmlformats.org/drawingml/2006/main">
              <a:ext uri="{FF2B5EF4-FFF2-40B4-BE49-F238E27FC236}">
                <a16:creationId xmlns:a16="http://schemas.microsoft.com/office/drawing/2014/main" id="{6EE245B3-27F2-4270-BDC8-18094B05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157276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8820C"/>
            </a:solidFill>
            <a:prstDash val="solid"/>
          </a:ln>
        </p:spPr>
      </p:sp>
      <p:sp>
        <p:nvSpPr>
          <p:cNvPr id="41" name="Text 32">
            <a:extLst xmlns:a="http://schemas.openxmlformats.org/drawingml/2006/main">
              <a:ext uri="{FF2B5EF4-FFF2-40B4-BE49-F238E27FC236}">
                <a16:creationId xmlns:a16="http://schemas.microsoft.com/office/drawing/2014/main" id="{CEFEAC9F-8861-441E-9BAC-4E31C30ED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157276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E8820C"/>
                </a:solidFill>
                <a:latin typeface="Arial"/>
                <a:ea typeface="Arial"/>
                <a:cs typeface="Arial"/>
              </a:rPr>
              <a:t>5</a:t>
            </a:r>
            <a:endParaRPr sz="900"/>
          </a:p>
        </p:txBody>
      </p:sp>
      <p:sp>
        <p:nvSpPr>
          <p:cNvPr id="42" name="Text 33">
            <a:extLst xmlns:a="http://schemas.openxmlformats.org/drawingml/2006/main">
              <a:ext uri="{FF2B5EF4-FFF2-40B4-BE49-F238E27FC236}">
                <a16:creationId xmlns:a16="http://schemas.microsoft.com/office/drawing/2014/main" id="{FB6AD1D8-4BDF-4339-A864-201C5630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2221992"/>
            <a:ext cx="1828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E8820C"/>
                </a:solidFill>
                <a:latin typeface="Arial"/>
                <a:ea typeface="Arial"/>
                <a:cs typeface="Arial"/>
              </a:rPr>
              <a:t>No Response → Dual Escalation</a:t>
            </a:r>
            <a:endParaRPr sz="1150"/>
          </a:p>
        </p:txBody>
      </p:sp>
      <p:sp>
        <p:nvSpPr>
          <p:cNvPr id="43" name="Text 34">
            <a:extLst xmlns:a="http://schemas.openxmlformats.org/drawingml/2006/main">
              <a:ext uri="{FF2B5EF4-FFF2-40B4-BE49-F238E27FC236}">
                <a16:creationId xmlns:a16="http://schemas.microsoft.com/office/drawing/2014/main" id="{308D5720-C752-4328-8A0F-0A226E31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246888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5A6478"/>
                </a:solidFill>
                <a:latin typeface="Arial"/>
                <a:ea typeface="Arial"/>
                <a:cs typeface="Arial"/>
              </a:rPr>
              <a:t>Guardians + nearby users alerted in parallel</a:t>
            </a:r>
            <a:endParaRPr sz="900"/>
          </a:p>
        </p:txBody>
      </p:sp>
      <p:sp>
        <p:nvSpPr>
          <p:cNvPr id="44" name="Shape 35">
            <a:extLst xmlns:a="http://schemas.openxmlformats.org/drawingml/2006/main">
              <a:ext uri="{FF2B5EF4-FFF2-40B4-BE49-F238E27FC236}">
                <a16:creationId xmlns:a16="http://schemas.microsoft.com/office/drawing/2014/main" id="{FF5A925A-AFE8-4987-AF43-071BE9A1D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911096"/>
            <a:ext cx="1097280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3235B"/>
            </a:solidFill>
            <a:prstDash val="dash"/>
            <a:tailEnd type="triangle"/>
          </a:ln>
        </p:spPr>
      </p:sp>
      <p:sp>
        <p:nvSpPr>
          <p:cNvPr id="45" name="Shape 36">
            <a:extLst xmlns:a="http://schemas.openxmlformats.org/drawingml/2006/main">
              <a:ext uri="{FF2B5EF4-FFF2-40B4-BE49-F238E27FC236}">
                <a16:creationId xmlns:a16="http://schemas.microsoft.com/office/drawing/2014/main" id="{6A0B56F4-9E2C-4B8E-BB03-288507B0E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7896" y="1627632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3122E"/>
          </a:solidFill>
          <a:ln xmlns:a="http://schemas.openxmlformats.org/drawingml/2006/main" w="19050">
            <a:solidFill>
              <a:srgbClr val="B3122E"/>
            </a:solidFill>
            <a:prstDash val="solid"/>
          </a:ln>
        </p:spPr>
      </p:sp>
      <p:pic>
        <p:nvPicPr>
          <p:cNvPr id="175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c49debb59f4b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33959" y="1763695"/>
            <a:ext cx="294803" cy="294803"/>
          </a:xfrm>
          <a:prstGeom xmlns:a="http://schemas.openxmlformats.org/drawingml/2006/main" prst="rect">
            <a:avLst/>
          </a:prstGeom>
        </p:spPr>
      </p:pic>
      <p:sp>
        <p:nvSpPr>
          <p:cNvPr id="47" name="Shape 37">
            <a:extLst xmlns:a="http://schemas.openxmlformats.org/drawingml/2006/main">
              <a:ext uri="{FF2B5EF4-FFF2-40B4-BE49-F238E27FC236}">
                <a16:creationId xmlns:a16="http://schemas.microsoft.com/office/drawing/2014/main" id="{08301139-29AE-4FDC-A2D8-7A38F180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9376" y="157276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B3122E"/>
            </a:solidFill>
            <a:prstDash val="solid"/>
          </a:ln>
        </p:spPr>
      </p:sp>
      <p:sp>
        <p:nvSpPr>
          <p:cNvPr id="48" name="Text 38">
            <a:extLst xmlns:a="http://schemas.openxmlformats.org/drawingml/2006/main">
              <a:ext uri="{FF2B5EF4-FFF2-40B4-BE49-F238E27FC236}">
                <a16:creationId xmlns:a16="http://schemas.microsoft.com/office/drawing/2014/main" id="{BDB9AC12-F26A-4E43-9C79-D12FC79E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9376" y="157276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B3122E"/>
                </a:solidFill>
                <a:latin typeface="Arial"/>
                <a:ea typeface="Arial"/>
                <a:cs typeface="Arial"/>
              </a:rPr>
              <a:t>6</a:t>
            </a:r>
            <a:endParaRPr sz="900"/>
          </a:p>
        </p:txBody>
      </p:sp>
      <p:sp>
        <p:nvSpPr>
          <p:cNvPr id="49" name="Text 39">
            <a:extLst xmlns:a="http://schemas.openxmlformats.org/drawingml/2006/main">
              <a:ext uri="{FF2B5EF4-FFF2-40B4-BE49-F238E27FC236}">
                <a16:creationId xmlns:a16="http://schemas.microsoft.com/office/drawing/2014/main" id="{B1871EA7-C86B-4B8F-9650-2775C432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2221992"/>
            <a:ext cx="1828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B3122E"/>
                </a:solidFill>
                <a:latin typeface="Arial"/>
                <a:ea typeface="Arial"/>
                <a:cs typeface="Arial"/>
              </a:rPr>
              <a:t>Emergency Actions</a:t>
            </a:r>
            <a:endParaRPr sz="1150"/>
          </a:p>
        </p:txBody>
      </p:sp>
      <p:sp>
        <p:nvSpPr>
          <p:cNvPr id="50" name="Text 40">
            <a:extLst xmlns:a="http://schemas.openxmlformats.org/drawingml/2006/main">
              <a:ext uri="{FF2B5EF4-FFF2-40B4-BE49-F238E27FC236}">
                <a16:creationId xmlns:a16="http://schemas.microsoft.com/office/drawing/2014/main" id="{8010A776-9476-493E-A0AA-4B813CC10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246888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5A6478"/>
                </a:solidFill>
                <a:latin typeface="Arial"/>
                <a:ea typeface="Arial"/>
                <a:cs typeface="Arial"/>
              </a:rPr>
              <a:t>Siren · one-tap 112 · anonymized SOS</a:t>
            </a:r>
            <a:endParaRPr sz="900"/>
          </a:p>
        </p:txBody>
      </p:sp>
      <p:sp>
        <p:nvSpPr>
          <p:cNvPr id="51" name="Shape 41">
            <a:extLst xmlns:a="http://schemas.openxmlformats.org/drawingml/2006/main">
              <a:ext uri="{FF2B5EF4-FFF2-40B4-BE49-F238E27FC236}">
                <a16:creationId xmlns:a16="http://schemas.microsoft.com/office/drawing/2014/main" id="{266E636A-D3C2-40A2-87F6-6239ABC0D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971800"/>
            <a:ext cx="6766560" cy="3566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D"/>
          </a:solidFill>
          <a:ln xmlns:a="http://schemas.openxmlformats.org/drawingml/2006/main" w="19050">
            <a:solidFill>
              <a:srgbClr val="13235B"/>
            </a:solidFill>
            <a:prstDash val="solid"/>
          </a:ln>
        </p:spPr>
      </p:sp>
      <p:sp>
        <p:nvSpPr>
          <p:cNvPr id="52" name="Shape 42">
            <a:extLst xmlns:a="http://schemas.openxmlformats.org/drawingml/2006/main">
              <a:ext uri="{FF2B5EF4-FFF2-40B4-BE49-F238E27FC236}">
                <a16:creationId xmlns:a16="http://schemas.microsoft.com/office/drawing/2014/main" id="{674F6052-C869-4F1C-B972-50B6CC1A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81528"/>
            <a:ext cx="6400800" cy="347472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0B63CE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sp>
        <p:nvSpPr>
          <p:cNvPr id="53" name="Text 43">
            <a:extLst xmlns:a="http://schemas.openxmlformats.org/drawingml/2006/main">
              <a:ext uri="{FF2B5EF4-FFF2-40B4-BE49-F238E27FC236}">
                <a16:creationId xmlns:a16="http://schemas.microsoft.com/office/drawing/2014/main" id="{C3995D10-B863-49E0-9151-198AE0238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81528"/>
            <a:ext cx="64008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KEY FEATURES</a:t>
            </a:r>
            <a:endParaRPr sz="1300"/>
          </a:p>
        </p:txBody>
      </p:sp>
      <p:sp>
        <p:nvSpPr>
          <p:cNvPr id="54" name="Shape 44">
            <a:extLst xmlns:a="http://schemas.openxmlformats.org/drawingml/2006/main">
              <a:ext uri="{FF2B5EF4-FFF2-40B4-BE49-F238E27FC236}">
                <a16:creationId xmlns:a16="http://schemas.microsoft.com/office/drawing/2014/main" id="{24E57E7C-182E-42CD-BF67-62DFAAC46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47872"/>
            <a:ext cx="2057400" cy="804672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8C8E0"/>
            </a:solidFill>
            <a:prstDash val="solid"/>
          </a:ln>
        </p:spPr>
      </p:sp>
      <p:sp>
        <p:nvSpPr>
          <p:cNvPr id="55" name="Shape 45">
            <a:extLst xmlns:a="http://schemas.openxmlformats.org/drawingml/2006/main">
              <a:ext uri="{FF2B5EF4-FFF2-40B4-BE49-F238E27FC236}">
                <a16:creationId xmlns:a16="http://schemas.microsoft.com/office/drawing/2014/main" id="{17D418E1-7E9C-49A0-8181-FB38E969E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30752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9FA"/>
          </a:solidFill>
          <a:ln xmlns:a="http://schemas.openxmlformats.org/drawingml/2006/main" w="19050">
            <a:solidFill>
              <a:srgbClr val="DCE9FA"/>
            </a:solidFill>
            <a:prstDash val="solid"/>
          </a:ln>
        </p:spPr>
      </p:sp>
      <p:pic>
        <p:nvPicPr>
          <p:cNvPr id="185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8ddaee293142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9699" y="3836091"/>
            <a:ext cx="228234" cy="228234"/>
          </a:xfrm>
          <a:prstGeom xmlns:a="http://schemas.openxmlformats.org/drawingml/2006/main" prst="rect">
            <a:avLst/>
          </a:prstGeom>
        </p:spPr>
      </p:pic>
      <p:sp>
        <p:nvSpPr>
          <p:cNvPr id="57" name="Text 46">
            <a:extLst xmlns:a="http://schemas.openxmlformats.org/drawingml/2006/main">
              <a:ext uri="{FF2B5EF4-FFF2-40B4-BE49-F238E27FC236}">
                <a16:creationId xmlns:a16="http://schemas.microsoft.com/office/drawing/2014/main" id="{365953A4-C15B-4E49-9ECB-BBEDBC0B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3621024"/>
            <a:ext cx="1417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Guardian Journey</a:t>
            </a:r>
            <a:endParaRPr sz="950"/>
          </a:p>
        </p:txBody>
      </p:sp>
      <p:sp>
        <p:nvSpPr>
          <p:cNvPr id="58" name="Text 47">
            <a:extLst xmlns:a="http://schemas.openxmlformats.org/drawingml/2006/main">
              <a:ext uri="{FF2B5EF4-FFF2-40B4-BE49-F238E27FC236}">
                <a16:creationId xmlns:a16="http://schemas.microsoft.com/office/drawing/2014/main" id="{A30B8E09-41D1-4141-848B-28578D74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3977640"/>
            <a:ext cx="1417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5A6478"/>
                </a:solidFill>
                <a:latin typeface="Arial"/>
                <a:ea typeface="Arial"/>
                <a:cs typeface="Arial"/>
              </a:rPr>
              <a:t>Safe-walk mode: guardians watch live</a:t>
            </a:r>
            <a:endParaRPr sz="800"/>
          </a:p>
        </p:txBody>
      </p:sp>
      <p:sp>
        <p:nvSpPr>
          <p:cNvPr id="59" name="Shape 48">
            <a:extLst xmlns:a="http://schemas.openxmlformats.org/drawingml/2006/main">
              <a:ext uri="{FF2B5EF4-FFF2-40B4-BE49-F238E27FC236}">
                <a16:creationId xmlns:a16="http://schemas.microsoft.com/office/drawing/2014/main" id="{A9BA44A5-2E01-474D-AEE5-CB714486F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048" y="3547872"/>
            <a:ext cx="2057400" cy="804672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8C8E0"/>
            </a:solidFill>
            <a:prstDash val="solid"/>
          </a:ln>
        </p:spPr>
      </p:sp>
      <p:sp>
        <p:nvSpPr>
          <p:cNvPr id="60" name="Shape 49">
            <a:extLst xmlns:a="http://schemas.openxmlformats.org/drawingml/2006/main">
              <a:ext uri="{FF2B5EF4-FFF2-40B4-BE49-F238E27FC236}">
                <a16:creationId xmlns:a16="http://schemas.microsoft.com/office/drawing/2014/main" id="{6A582191-7861-44D6-AFEB-D4F3C164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1488" y="3730752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9FA"/>
          </a:solidFill>
          <a:ln xmlns:a="http://schemas.openxmlformats.org/drawingml/2006/main" w="19050">
            <a:solidFill>
              <a:srgbClr val="DCE9FA"/>
            </a:solidFill>
            <a:prstDash val="solid"/>
          </a:ln>
        </p:spPr>
      </p:sp>
      <p:pic>
        <p:nvPicPr>
          <p:cNvPr id="190" name="Imag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9288132fb84a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66827" y="3836091"/>
            <a:ext cx="228234" cy="228234"/>
          </a:xfrm>
          <a:prstGeom xmlns:a="http://schemas.openxmlformats.org/drawingml/2006/main" prst="rect">
            <a:avLst/>
          </a:prstGeom>
        </p:spPr>
      </p:pic>
      <p:sp>
        <p:nvSpPr>
          <p:cNvPr id="62" name="Text 50">
            <a:extLst xmlns:a="http://schemas.openxmlformats.org/drawingml/2006/main">
              <a:ext uri="{FF2B5EF4-FFF2-40B4-BE49-F238E27FC236}">
                <a16:creationId xmlns:a16="http://schemas.microsoft.com/office/drawing/2014/main" id="{A861EFAA-B19E-4621-9E44-F35D11AC6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3621024"/>
            <a:ext cx="1417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Live Location Sharing</a:t>
            </a:r>
            <a:endParaRPr sz="950"/>
          </a:p>
        </p:txBody>
      </p:sp>
      <p:sp>
        <p:nvSpPr>
          <p:cNvPr id="63" name="Text 51">
            <a:extLst xmlns:a="http://schemas.openxmlformats.org/drawingml/2006/main">
              <a:ext uri="{FF2B5EF4-FFF2-40B4-BE49-F238E27FC236}">
                <a16:creationId xmlns:a16="http://schemas.microsoft.com/office/drawing/2014/main" id="{520D9559-8DEC-49E6-B8BB-EE81E1FE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3977640"/>
            <a:ext cx="1417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5A6478"/>
                </a:solidFill>
                <a:latin typeface="Arial"/>
                <a:ea typeface="Arial"/>
                <a:cs typeface="Arial"/>
              </a:rPr>
              <a:t>Secure link; auto-stops at destination</a:t>
            </a:r>
            <a:endParaRPr sz="800"/>
          </a:p>
        </p:txBody>
      </p:sp>
      <p:sp>
        <p:nvSpPr>
          <p:cNvPr id="64" name="Shape 52">
            <a:extLst xmlns:a="http://schemas.openxmlformats.org/drawingml/2006/main">
              <a:ext uri="{FF2B5EF4-FFF2-40B4-BE49-F238E27FC236}">
                <a16:creationId xmlns:a16="http://schemas.microsoft.com/office/drawing/2014/main" id="{210DBE02-D642-4CB4-A326-B055DA368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3547872"/>
            <a:ext cx="2057400" cy="804672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8C8E0"/>
            </a:solidFill>
            <a:prstDash val="solid"/>
          </a:ln>
        </p:spPr>
      </p:sp>
      <p:sp>
        <p:nvSpPr>
          <p:cNvPr id="65" name="Shape 53">
            <a:extLst xmlns:a="http://schemas.openxmlformats.org/drawingml/2006/main">
              <a:ext uri="{FF2B5EF4-FFF2-40B4-BE49-F238E27FC236}">
                <a16:creationId xmlns:a16="http://schemas.microsoft.com/office/drawing/2014/main" id="{B5E40F22-2F5D-43DB-B15C-339BC8400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8616" y="3730752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9FA"/>
          </a:solidFill>
          <a:ln xmlns:a="http://schemas.openxmlformats.org/drawingml/2006/main" w="19050">
            <a:solidFill>
              <a:srgbClr val="DCE9FA"/>
            </a:solidFill>
            <a:prstDash val="solid"/>
          </a:ln>
        </p:spPr>
      </p:sp>
      <p:pic>
        <p:nvPicPr>
          <p:cNvPr id="195" name="Imag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0858f3cf3946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33955" y="3836091"/>
            <a:ext cx="228234" cy="228234"/>
          </a:xfrm>
          <a:prstGeom xmlns:a="http://schemas.openxmlformats.org/drawingml/2006/main" prst="rect">
            <a:avLst/>
          </a:prstGeom>
        </p:spPr>
      </p:pic>
      <p:sp>
        <p:nvSpPr>
          <p:cNvPr id="67" name="Text 54">
            <a:extLst xmlns:a="http://schemas.openxmlformats.org/drawingml/2006/main">
              <a:ext uri="{FF2B5EF4-FFF2-40B4-BE49-F238E27FC236}">
                <a16:creationId xmlns:a16="http://schemas.microsoft.com/office/drawing/2014/main" id="{7C36CCB4-38DD-4522-BD88-6F867C264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3621024"/>
            <a:ext cx="1417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Safety Timer</a:t>
            </a:r>
            <a:endParaRPr sz="950"/>
          </a:p>
        </p:txBody>
      </p:sp>
      <p:sp>
        <p:nvSpPr>
          <p:cNvPr id="68" name="Text 55">
            <a:extLst xmlns:a="http://schemas.openxmlformats.org/drawingml/2006/main">
              <a:ext uri="{FF2B5EF4-FFF2-40B4-BE49-F238E27FC236}">
                <a16:creationId xmlns:a16="http://schemas.microsoft.com/office/drawing/2014/main" id="{D0FBD38E-3954-4C67-BC61-471E0339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3977640"/>
            <a:ext cx="1417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5A6478"/>
                </a:solidFill>
                <a:latin typeface="Arial"/>
                <a:ea typeface="Arial"/>
                <a:cs typeface="Arial"/>
              </a:rPr>
              <a:t>Miss the check-in → guardians alerted</a:t>
            </a:r>
            <a:endParaRPr sz="800"/>
          </a:p>
        </p:txBody>
      </p:sp>
      <p:sp>
        <p:nvSpPr>
          <p:cNvPr id="69" name="Shape 56">
            <a:extLst xmlns:a="http://schemas.openxmlformats.org/drawingml/2006/main">
              <a:ext uri="{FF2B5EF4-FFF2-40B4-BE49-F238E27FC236}">
                <a16:creationId xmlns:a16="http://schemas.microsoft.com/office/drawing/2014/main" id="{98B51E6D-D799-461A-AE8F-CA2B3D11B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443984"/>
            <a:ext cx="2057400" cy="804672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8C8E0"/>
            </a:solidFill>
            <a:prstDash val="solid"/>
          </a:ln>
        </p:spPr>
      </p:sp>
      <p:sp>
        <p:nvSpPr>
          <p:cNvPr id="70" name="Shape 57">
            <a:extLst xmlns:a="http://schemas.openxmlformats.org/drawingml/2006/main">
              <a:ext uri="{FF2B5EF4-FFF2-40B4-BE49-F238E27FC236}">
                <a16:creationId xmlns:a16="http://schemas.microsoft.com/office/drawing/2014/main" id="{CD1C1EE4-AC19-43D3-9F36-DF2B444E6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626864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9FA"/>
          </a:solidFill>
          <a:ln xmlns:a="http://schemas.openxmlformats.org/drawingml/2006/main" w="19050">
            <a:solidFill>
              <a:srgbClr val="DCE9FA"/>
            </a:solidFill>
            <a:prstDash val="solid"/>
          </a:ln>
        </p:spPr>
      </p:sp>
      <p:pic>
        <p:nvPicPr>
          <p:cNvPr id="200" name="Imag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7dd4bd4f4645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9699" y="4732203"/>
            <a:ext cx="228234" cy="228234"/>
          </a:xfrm>
          <a:prstGeom xmlns:a="http://schemas.openxmlformats.org/drawingml/2006/main" prst="rect">
            <a:avLst/>
          </a:prstGeom>
        </p:spPr>
      </p:pic>
      <p:sp>
        <p:nvSpPr>
          <p:cNvPr id="72" name="Text 58">
            <a:extLst xmlns:a="http://schemas.openxmlformats.org/drawingml/2006/main">
              <a:ext uri="{FF2B5EF4-FFF2-40B4-BE49-F238E27FC236}">
                <a16:creationId xmlns:a16="http://schemas.microsoft.com/office/drawing/2014/main" id="{CE4EDB2C-9C76-42FE-9ED4-601A8503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4517136"/>
            <a:ext cx="1417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Route Deviation Alert</a:t>
            </a:r>
            <a:endParaRPr sz="950"/>
          </a:p>
        </p:txBody>
      </p:sp>
      <p:sp>
        <p:nvSpPr>
          <p:cNvPr id="73" name="Text 59">
            <a:extLst xmlns:a="http://schemas.openxmlformats.org/drawingml/2006/main">
              <a:ext uri="{FF2B5EF4-FFF2-40B4-BE49-F238E27FC236}">
                <a16:creationId xmlns:a16="http://schemas.microsoft.com/office/drawing/2014/main" id="{D7CF133D-9A78-4445-8E16-11C2CFC4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4873752"/>
            <a:ext cx="1417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5A6478"/>
                </a:solidFill>
                <a:latin typeface="Arial"/>
                <a:ea typeface="Arial"/>
                <a:cs typeface="Arial"/>
              </a:rPr>
              <a:t>Flags route changes or long unexpected stops</a:t>
            </a:r>
            <a:endParaRPr sz="800"/>
          </a:p>
        </p:txBody>
      </p:sp>
      <p:sp>
        <p:nvSpPr>
          <p:cNvPr id="74" name="Shape 60">
            <a:extLst xmlns:a="http://schemas.openxmlformats.org/drawingml/2006/main">
              <a:ext uri="{FF2B5EF4-FFF2-40B4-BE49-F238E27FC236}">
                <a16:creationId xmlns:a16="http://schemas.microsoft.com/office/drawing/2014/main" id="{0B4680AB-5AE0-4A89-BFAB-83CC3A13B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048" y="4443984"/>
            <a:ext cx="2057400" cy="804672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8C8E0"/>
            </a:solidFill>
            <a:prstDash val="solid"/>
          </a:ln>
        </p:spPr>
      </p:sp>
      <p:sp>
        <p:nvSpPr>
          <p:cNvPr id="75" name="Shape 61">
            <a:extLst xmlns:a="http://schemas.openxmlformats.org/drawingml/2006/main">
              <a:ext uri="{FF2B5EF4-FFF2-40B4-BE49-F238E27FC236}">
                <a16:creationId xmlns:a16="http://schemas.microsoft.com/office/drawing/2014/main" id="{00B11525-96BA-4374-8D33-FBFF9AB2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1488" y="4626864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9FA"/>
          </a:solidFill>
          <a:ln xmlns:a="http://schemas.openxmlformats.org/drawingml/2006/main" w="19050">
            <a:solidFill>
              <a:srgbClr val="DCE9FA"/>
            </a:solidFill>
            <a:prstDash val="solid"/>
          </a:ln>
        </p:spPr>
      </p:sp>
      <p:pic>
        <p:nvPicPr>
          <p:cNvPr id="205" name="Imag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b18b51707549a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66827" y="4732203"/>
            <a:ext cx="228234" cy="228234"/>
          </a:xfrm>
          <a:prstGeom xmlns:a="http://schemas.openxmlformats.org/drawingml/2006/main" prst="rect">
            <a:avLst/>
          </a:prstGeom>
        </p:spPr>
      </p:pic>
      <p:sp>
        <p:nvSpPr>
          <p:cNvPr id="77" name="Text 62">
            <a:extLst xmlns:a="http://schemas.openxmlformats.org/drawingml/2006/main">
              <a:ext uri="{FF2B5EF4-FFF2-40B4-BE49-F238E27FC236}">
                <a16:creationId xmlns:a16="http://schemas.microsoft.com/office/drawing/2014/main" id="{48135FD4-F1B1-42B2-9A67-75B23F958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4517136"/>
            <a:ext cx="1417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Community SOS Broadcast</a:t>
            </a:r>
            <a:endParaRPr sz="950"/>
          </a:p>
        </p:txBody>
      </p:sp>
      <p:sp>
        <p:nvSpPr>
          <p:cNvPr id="78" name="Text 63">
            <a:extLst xmlns:a="http://schemas.openxmlformats.org/drawingml/2006/main">
              <a:ext uri="{FF2B5EF4-FFF2-40B4-BE49-F238E27FC236}">
                <a16:creationId xmlns:a16="http://schemas.microsoft.com/office/drawing/2014/main" id="{550E8DDE-81DC-4430-9DDB-1BCF6B28A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4873752"/>
            <a:ext cx="1417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5A6478"/>
                </a:solidFill>
                <a:latin typeface="Arial"/>
                <a:ea typeface="Arial"/>
                <a:cs typeface="Arial"/>
              </a:rPr>
              <a:t>Anonymized alert within ~200 m</a:t>
            </a:r>
            <a:endParaRPr sz="800"/>
          </a:p>
        </p:txBody>
      </p:sp>
      <p:sp>
        <p:nvSpPr>
          <p:cNvPr id="79" name="Shape 64">
            <a:extLst xmlns:a="http://schemas.openxmlformats.org/drawingml/2006/main">
              <a:ext uri="{FF2B5EF4-FFF2-40B4-BE49-F238E27FC236}">
                <a16:creationId xmlns:a16="http://schemas.microsoft.com/office/drawing/2014/main" id="{20B15346-5919-441C-B5D2-CBF352800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4443984"/>
            <a:ext cx="2057400" cy="804672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8C8E0"/>
            </a:solidFill>
            <a:prstDash val="solid"/>
          </a:ln>
        </p:spPr>
      </p:sp>
      <p:sp>
        <p:nvSpPr>
          <p:cNvPr id="80" name="Shape 65">
            <a:extLst xmlns:a="http://schemas.openxmlformats.org/drawingml/2006/main">
              <a:ext uri="{FF2B5EF4-FFF2-40B4-BE49-F238E27FC236}">
                <a16:creationId xmlns:a16="http://schemas.microsoft.com/office/drawing/2014/main" id="{9B1E08A8-23B0-4E8C-BD33-BCED134C5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8616" y="4626864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9FA"/>
          </a:solidFill>
          <a:ln xmlns:a="http://schemas.openxmlformats.org/drawingml/2006/main" w="19050">
            <a:solidFill>
              <a:srgbClr val="DCE9FA"/>
            </a:solidFill>
            <a:prstDash val="solid"/>
          </a:ln>
        </p:spPr>
      </p:sp>
      <p:pic>
        <p:nvPicPr>
          <p:cNvPr id="210" name="Imag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aa1bce75d94d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33955" y="4732203"/>
            <a:ext cx="228234" cy="228234"/>
          </a:xfrm>
          <a:prstGeom xmlns:a="http://schemas.openxmlformats.org/drawingml/2006/main" prst="rect">
            <a:avLst/>
          </a:prstGeom>
        </p:spPr>
      </p:pic>
      <p:sp>
        <p:nvSpPr>
          <p:cNvPr id="82" name="Text 66">
            <a:extLst xmlns:a="http://schemas.openxmlformats.org/drawingml/2006/main">
              <a:ext uri="{FF2B5EF4-FFF2-40B4-BE49-F238E27FC236}">
                <a16:creationId xmlns:a16="http://schemas.microsoft.com/office/drawing/2014/main" id="{A7A407FF-EFFC-4B42-8729-1E99FF13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4517136"/>
            <a:ext cx="1417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One-tap / Shake / Voice SOS</a:t>
            </a:r>
            <a:endParaRPr sz="950"/>
          </a:p>
        </p:txBody>
      </p:sp>
      <p:sp>
        <p:nvSpPr>
          <p:cNvPr id="83" name="Text 67">
            <a:extLst xmlns:a="http://schemas.openxmlformats.org/drawingml/2006/main">
              <a:ext uri="{FF2B5EF4-FFF2-40B4-BE49-F238E27FC236}">
                <a16:creationId xmlns:a16="http://schemas.microsoft.com/office/drawing/2014/main" id="{30411870-B428-41C8-AFF5-0F598631D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4873752"/>
            <a:ext cx="1417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5A6478"/>
                </a:solidFill>
                <a:latin typeface="Arial"/>
                <a:ea typeface="Arial"/>
                <a:cs typeface="Arial"/>
              </a:rPr>
              <a:t>Hands-free SOS + alert to guardians</a:t>
            </a:r>
            <a:endParaRPr sz="800"/>
          </a:p>
        </p:txBody>
      </p:sp>
      <p:sp>
        <p:nvSpPr>
          <p:cNvPr id="84" name="Shape 68">
            <a:extLst xmlns:a="http://schemas.openxmlformats.org/drawingml/2006/main">
              <a:ext uri="{FF2B5EF4-FFF2-40B4-BE49-F238E27FC236}">
                <a16:creationId xmlns:a16="http://schemas.microsoft.com/office/drawing/2014/main" id="{FEEAC0AA-EB5E-4103-BA10-C992CD82D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340096"/>
            <a:ext cx="2057400" cy="804672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8C8E0"/>
            </a:solidFill>
            <a:prstDash val="solid"/>
          </a:ln>
        </p:spPr>
      </p:sp>
      <p:sp>
        <p:nvSpPr>
          <p:cNvPr id="85" name="Shape 69">
            <a:extLst xmlns:a="http://schemas.openxmlformats.org/drawingml/2006/main">
              <a:ext uri="{FF2B5EF4-FFF2-40B4-BE49-F238E27FC236}">
                <a16:creationId xmlns:a16="http://schemas.microsoft.com/office/drawing/2014/main" id="{E232D300-9692-454C-B780-65DF682C8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522976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9FA"/>
          </a:solidFill>
          <a:ln xmlns:a="http://schemas.openxmlformats.org/drawingml/2006/main" w="19050">
            <a:solidFill>
              <a:srgbClr val="DCE9FA"/>
            </a:solidFill>
            <a:prstDash val="solid"/>
          </a:ln>
        </p:spPr>
      </p:sp>
      <p:pic>
        <p:nvPicPr>
          <p:cNvPr id="215" name="Imag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cf16de845b47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9699" y="5628315"/>
            <a:ext cx="228234" cy="228234"/>
          </a:xfrm>
          <a:prstGeom xmlns:a="http://schemas.openxmlformats.org/drawingml/2006/main" prst="rect">
            <a:avLst/>
          </a:prstGeom>
        </p:spPr>
      </p:pic>
      <p:sp>
        <p:nvSpPr>
          <p:cNvPr id="87" name="Text 70">
            <a:extLst xmlns:a="http://schemas.openxmlformats.org/drawingml/2006/main">
              <a:ext uri="{FF2B5EF4-FFF2-40B4-BE49-F238E27FC236}">
                <a16:creationId xmlns:a16="http://schemas.microsoft.com/office/drawing/2014/main" id="{B2EC80C9-9BC5-43B5-B5EB-1AA5EC7EE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5413248"/>
            <a:ext cx="1417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AI-Assisted Risk Signals</a:t>
            </a:r>
            <a:endParaRPr sz="950"/>
          </a:p>
        </p:txBody>
      </p:sp>
      <p:sp>
        <p:nvSpPr>
          <p:cNvPr id="88" name="Text 71">
            <a:extLst xmlns:a="http://schemas.openxmlformats.org/drawingml/2006/main">
              <a:ext uri="{FF2B5EF4-FFF2-40B4-BE49-F238E27FC236}">
                <a16:creationId xmlns:a16="http://schemas.microsoft.com/office/drawing/2014/main" id="{82651B97-593D-4089-BCA7-ED4D9818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5769864"/>
            <a:ext cx="1417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5A6478"/>
                </a:solidFill>
                <a:latin typeface="Arial"/>
                <a:ea typeface="Arial"/>
                <a:cs typeface="Arial"/>
              </a:rPr>
              <a:t>Route, stops, time + motion; assistive only</a:t>
            </a:r>
            <a:endParaRPr sz="800"/>
          </a:p>
        </p:txBody>
      </p:sp>
      <p:sp>
        <p:nvSpPr>
          <p:cNvPr id="89" name="Shape 72">
            <a:extLst xmlns:a="http://schemas.openxmlformats.org/drawingml/2006/main">
              <a:ext uri="{FF2B5EF4-FFF2-40B4-BE49-F238E27FC236}">
                <a16:creationId xmlns:a16="http://schemas.microsoft.com/office/drawing/2014/main" id="{326F43EF-A9ED-450A-B0C4-8C195EDD1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048" y="5340096"/>
            <a:ext cx="2057400" cy="804672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8C8E0"/>
            </a:solidFill>
            <a:prstDash val="solid"/>
          </a:ln>
        </p:spPr>
      </p:sp>
      <p:sp>
        <p:nvSpPr>
          <p:cNvPr id="90" name="Shape 73">
            <a:extLst xmlns:a="http://schemas.openxmlformats.org/drawingml/2006/main">
              <a:ext uri="{FF2B5EF4-FFF2-40B4-BE49-F238E27FC236}">
                <a16:creationId xmlns:a16="http://schemas.microsoft.com/office/drawing/2014/main" id="{3420472F-77B8-4B02-950D-807077AD9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1488" y="5522976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9FA"/>
          </a:solidFill>
          <a:ln xmlns:a="http://schemas.openxmlformats.org/drawingml/2006/main" w="19050">
            <a:solidFill>
              <a:srgbClr val="DCE9FA"/>
            </a:solidFill>
            <a:prstDash val="solid"/>
          </a:ln>
        </p:spPr>
      </p:sp>
      <p:pic>
        <p:nvPicPr>
          <p:cNvPr id="220" name="Imag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03c2ed2a4c41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66827" y="5628315"/>
            <a:ext cx="228234" cy="228234"/>
          </a:xfrm>
          <a:prstGeom xmlns:a="http://schemas.openxmlformats.org/drawingml/2006/main" prst="rect">
            <a:avLst/>
          </a:prstGeom>
        </p:spPr>
      </p:pic>
      <p:sp>
        <p:nvSpPr>
          <p:cNvPr id="92" name="Text 74">
            <a:extLst xmlns:a="http://schemas.openxmlformats.org/drawingml/2006/main">
              <a:ext uri="{FF2B5EF4-FFF2-40B4-BE49-F238E27FC236}">
                <a16:creationId xmlns:a16="http://schemas.microsoft.com/office/drawing/2014/main" id="{647587F9-1088-4850-8C72-D4622FDB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5413248"/>
            <a:ext cx="1417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Trusted Contacts</a:t>
            </a:r>
            <a:endParaRPr sz="950"/>
          </a:p>
        </p:txBody>
      </p:sp>
      <p:sp>
        <p:nvSpPr>
          <p:cNvPr id="93" name="Text 75">
            <a:extLst xmlns:a="http://schemas.openxmlformats.org/drawingml/2006/main">
              <a:ext uri="{FF2B5EF4-FFF2-40B4-BE49-F238E27FC236}">
                <a16:creationId xmlns:a16="http://schemas.microsoft.com/office/drawing/2014/main" id="{493AB538-13C6-4194-BB01-89E0D121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5769864"/>
            <a:ext cx="1417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5A6478"/>
                </a:solidFill>
                <a:latin typeface="Arial"/>
                <a:ea typeface="Arial"/>
                <a:cs typeface="Arial"/>
              </a:rPr>
              <a:t>Priority-ordered call &amp; alert chain</a:t>
            </a:r>
            <a:endParaRPr sz="800"/>
          </a:p>
        </p:txBody>
      </p:sp>
      <p:sp>
        <p:nvSpPr>
          <p:cNvPr id="94" name="Shape 76">
            <a:extLst xmlns:a="http://schemas.openxmlformats.org/drawingml/2006/main">
              <a:ext uri="{FF2B5EF4-FFF2-40B4-BE49-F238E27FC236}">
                <a16:creationId xmlns:a16="http://schemas.microsoft.com/office/drawing/2014/main" id="{CAD3165C-1C2E-49A7-94C0-8C510F108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5340096"/>
            <a:ext cx="2057400" cy="804672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8C8E0"/>
            </a:solidFill>
            <a:prstDash val="solid"/>
          </a:ln>
        </p:spPr>
      </p:sp>
      <p:sp>
        <p:nvSpPr>
          <p:cNvPr id="95" name="Shape 77">
            <a:extLst xmlns:a="http://schemas.openxmlformats.org/drawingml/2006/main">
              <a:ext uri="{FF2B5EF4-FFF2-40B4-BE49-F238E27FC236}">
                <a16:creationId xmlns:a16="http://schemas.microsoft.com/office/drawing/2014/main" id="{5DCC4EF4-0D8A-43C4-89CD-6A7C18D8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8616" y="5522976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9FA"/>
          </a:solidFill>
          <a:ln xmlns:a="http://schemas.openxmlformats.org/drawingml/2006/main" w="19050">
            <a:solidFill>
              <a:srgbClr val="DCE9FA"/>
            </a:solidFill>
            <a:prstDash val="solid"/>
          </a:ln>
        </p:spPr>
      </p:sp>
      <p:pic>
        <p:nvPicPr>
          <p:cNvPr id="225" name="Imag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97decd244640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33955" y="5628315"/>
            <a:ext cx="228234" cy="228234"/>
          </a:xfrm>
          <a:prstGeom xmlns:a="http://schemas.openxmlformats.org/drawingml/2006/main" prst="rect">
            <a:avLst/>
          </a:prstGeom>
        </p:spPr>
      </p:pic>
      <p:sp>
        <p:nvSpPr>
          <p:cNvPr id="97" name="Text 78">
            <a:extLst xmlns:a="http://schemas.openxmlformats.org/drawingml/2006/main">
              <a:ext uri="{FF2B5EF4-FFF2-40B4-BE49-F238E27FC236}">
                <a16:creationId xmlns:a16="http://schemas.microsoft.com/office/drawing/2014/main" id="{CFBC082F-99F4-47CF-9DD2-5A011F1FF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5413248"/>
            <a:ext cx="1417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Nearby Help</a:t>
            </a:r>
            <a:endParaRPr sz="950"/>
          </a:p>
        </p:txBody>
      </p:sp>
      <p:sp>
        <p:nvSpPr>
          <p:cNvPr id="98" name="Text 79">
            <a:extLst xmlns:a="http://schemas.openxmlformats.org/drawingml/2006/main">
              <a:ext uri="{FF2B5EF4-FFF2-40B4-BE49-F238E27FC236}">
                <a16:creationId xmlns:a16="http://schemas.microsoft.com/office/drawing/2014/main" id="{F2D11D9A-4183-4B4B-9CBB-D8FEA2879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5769864"/>
            <a:ext cx="1417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5A6478"/>
                </a:solidFill>
                <a:latin typeface="Arial"/>
                <a:ea typeface="Arial"/>
                <a:cs typeface="Arial"/>
              </a:rPr>
              <a:t>Police, hospitals, safe spots + 112</a:t>
            </a:r>
            <a:endParaRPr sz="800"/>
          </a:p>
        </p:txBody>
      </p:sp>
      <p:sp>
        <p:nvSpPr>
          <p:cNvPr id="99" name="Text 80">
            <a:extLst xmlns:a="http://schemas.openxmlformats.org/drawingml/2006/main">
              <a:ext uri="{FF2B5EF4-FFF2-40B4-BE49-F238E27FC236}">
                <a16:creationId xmlns:a16="http://schemas.microsoft.com/office/drawing/2014/main" id="{157BA755-86E0-49F1-B12B-6F86F311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236208"/>
            <a:ext cx="640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 i="1">
                <a:solidFill>
                  <a:srgbClr val="B3122E"/>
                </a:solidFill>
                <a:latin typeface="Arial"/>
                <a:ea typeface="Arial"/>
                <a:cs typeface="Arial"/>
              </a:rPr>
              <a:t>+ Siren · Encrypted opt-in evidence · Assistive AI risk signals</a:t>
            </a:r>
            <a:endParaRPr sz="950"/>
          </a:p>
        </p:txBody>
      </p:sp>
      <p:sp>
        <p:nvSpPr>
          <p:cNvPr id="100" name="Shape 81">
            <a:extLst xmlns:a="http://schemas.openxmlformats.org/drawingml/2006/main">
              <a:ext uri="{FF2B5EF4-FFF2-40B4-BE49-F238E27FC236}">
                <a16:creationId xmlns:a16="http://schemas.microsoft.com/office/drawing/2014/main" id="{75FFE78C-FD95-45F3-84F9-47CEA7B0B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971800"/>
            <a:ext cx="4599432" cy="3566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D"/>
          </a:solidFill>
          <a:ln xmlns:a="http://schemas.openxmlformats.org/drawingml/2006/main" w="19050">
            <a:solidFill>
              <a:srgbClr val="13235B"/>
            </a:solidFill>
            <a:prstDash val="solid"/>
          </a:ln>
        </p:spPr>
      </p:sp>
      <p:sp>
        <p:nvSpPr>
          <p:cNvPr id="101" name="Shape 82">
            <a:extLst xmlns:a="http://schemas.openxmlformats.org/drawingml/2006/main">
              <a:ext uri="{FF2B5EF4-FFF2-40B4-BE49-F238E27FC236}">
                <a16:creationId xmlns:a16="http://schemas.microsoft.com/office/drawing/2014/main" id="{EFBF9776-050B-4E3E-B827-C1E77430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3081528"/>
            <a:ext cx="4233672" cy="347472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0B63CE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sp>
        <p:nvSpPr>
          <p:cNvPr id="102" name="Text 83">
            <a:extLst xmlns:a="http://schemas.openxmlformats.org/drawingml/2006/main">
              <a:ext uri="{FF2B5EF4-FFF2-40B4-BE49-F238E27FC236}">
                <a16:creationId xmlns:a16="http://schemas.microsoft.com/office/drawing/2014/main" id="{0E57150B-D7DA-4CB9-8B3D-EFB333F52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3081528"/>
            <a:ext cx="42336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WHY IT'S DIFFERENT</a:t>
            </a:r>
            <a:endParaRPr sz="1300"/>
          </a:p>
        </p:txBody>
      </p:sp>
      <p:graphicFrame>
        <p:nvGraphicFramePr>
          <p:cNvPr id="232" name="Table 0"/>
          <p:cNvGraphicFramePr/>
          <p:nvPr/>
        </p:nvGraphicFramePr>
        <p:xfrm>
          <a:off xmlns:a="http://schemas.openxmlformats.org/drawingml/2006/main" x="7452360" y="3520440"/>
          <a:ext xmlns:a="http://schemas.openxmlformats.org/drawingml/2006/main" cx="4233672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16152"/>
                <a:gridCol w="1371600"/>
                <a:gridCol w="1645920"/>
              </a:tblGrid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864" marR="54864" marT="18288" marB="18288">
                    <a:lnL w="9525" cmpd="sng">
                      <a:solidFill>
                        <a:srgbClr val="B8C8E0"/>
                      </a:solidFill>
                      <a:prstDash val="solid"/>
                    </a:lnL>
                    <a:lnR w="9525" cmpd="sng">
                      <a:solidFill>
                        <a:srgbClr val="B8C8E0"/>
                      </a:solidFill>
                      <a:prstDash val="solid"/>
                    </a:lnR>
                    <a:lnT w="9525" cmpd="sng">
                      <a:solidFill>
                        <a:srgbClr val="B8C8E0"/>
                      </a:solidFill>
                      <a:prstDash val="solid"/>
                    </a:lnT>
                    <a:lnB w="9525" cmpd="sng">
                      <a:solidFill>
                        <a:srgbClr val="B8C8E0"/>
                      </a:solidFill>
                      <a:prstDash val="solid"/>
                    </a:lnB>
                    <a:solidFill>
                      <a:srgbClr val="1323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Traditional SOS App</a:t>
                      </a:r>
                      <a:endParaRPr sz="9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864" marR="54864" marT="18288" marB="18288" anchor="ctr">
                    <a:lnL w="9525" cmpd="sng">
                      <a:solidFill>
                        <a:srgbClr val="B8C8E0"/>
                      </a:solidFill>
                      <a:prstDash val="solid"/>
                    </a:lnL>
                    <a:lnR w="9525" cmpd="sng">
                      <a:solidFill>
                        <a:srgbClr val="B8C8E0"/>
                      </a:solidFill>
                      <a:prstDash val="solid"/>
                    </a:lnR>
                    <a:lnT w="9525" cmpd="sng">
                      <a:solidFill>
                        <a:srgbClr val="B8C8E0"/>
                      </a:solidFill>
                      <a:prstDash val="solid"/>
                    </a:lnT>
                    <a:lnB w="9525" cmpd="sng">
                      <a:solidFill>
                        <a:srgbClr val="B8C8E0"/>
                      </a:solidFill>
                      <a:prstDash val="solid"/>
                    </a:lnB>
                    <a:solidFill>
                      <a:srgbClr val="5A6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SafeSaathi</a:t>
                      </a:r>
                      <a:endParaRPr sz="9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864" marR="54864" marT="18288" marB="18288" anchor="ctr">
                    <a:lnL w="9525" cmpd="sng">
                      <a:solidFill>
                        <a:srgbClr val="B8C8E0"/>
                      </a:solidFill>
                      <a:prstDash val="solid"/>
                    </a:lnL>
                    <a:lnR w="9525" cmpd="sng">
                      <a:solidFill>
                        <a:srgbClr val="B8C8E0"/>
                      </a:solidFill>
                      <a:prstDash val="solid"/>
                    </a:lnR>
                    <a:lnT w="9525" cmpd="sng">
                      <a:solidFill>
                        <a:srgbClr val="B8C8E0"/>
                      </a:solidFill>
                      <a:prstDash val="solid"/>
                    </a:lnT>
                    <a:lnB w="9525" cmpd="sng">
                      <a:solidFill>
                        <a:srgbClr val="B8C8E0"/>
                      </a:solidFill>
                      <a:prstDash val="solid"/>
                    </a:lnB>
                    <a:solidFill>
                      <a:srgbClr val="B3122E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3235B"/>
                          </a:solidFill>
                          <a:latin typeface="Arial"/>
                          <a:ea typeface="Arial"/>
                          <a:cs typeface="Arial"/>
                        </a:rPr>
                        <a:t>Trigger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864" marR="54864" marT="18288" marB="18288" anchor="ctr">
                    <a:lnL w="9525" cmpd="sng">
                      <a:solidFill>
                        <a:srgbClr val="B8C8E0"/>
                      </a:solidFill>
                      <a:prstDash val="solid"/>
                    </a:lnL>
                    <a:lnR w="9525" cmpd="sng">
                      <a:solidFill>
                        <a:srgbClr val="B8C8E0"/>
                      </a:solidFill>
                      <a:prstDash val="solid"/>
                    </a:lnR>
                    <a:lnT w="9525" cmpd="sng">
                      <a:solidFill>
                        <a:srgbClr val="B8C8E0"/>
                      </a:solidFill>
                      <a:prstDash val="solid"/>
                    </a:lnT>
                    <a:lnB w="9525" cmpd="sng">
                      <a:solidFill>
                        <a:srgbClr val="B8C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5A6478"/>
                          </a:solidFill>
                          <a:latin typeface="Arial"/>
                          <a:ea typeface="Arial"/>
                          <a:cs typeface="Arial"/>
                        </a:rPr>
                        <a:t>Manual button only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864" marR="54864" marT="18288" marB="18288" anchor="ctr">
                    <a:lnL w="9525" cmpd="sng">
                      <a:solidFill>
                        <a:srgbClr val="B8C8E0"/>
                      </a:solidFill>
                      <a:prstDash val="solid"/>
                    </a:lnL>
                    <a:lnR w="9525" cmpd="sng">
                      <a:solidFill>
                        <a:srgbClr val="B8C8E0"/>
                      </a:solidFill>
                      <a:prstDash val="solid"/>
                    </a:lnR>
                    <a:lnT w="9525" cmpd="sng">
                      <a:solidFill>
                        <a:srgbClr val="B8C8E0"/>
                      </a:solidFill>
                      <a:prstDash val="solid"/>
                    </a:lnT>
                    <a:lnB w="9525" cmpd="sng">
                      <a:solidFill>
                        <a:srgbClr val="B8C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B3122E"/>
                          </a:solidFill>
                          <a:latin typeface="Arial"/>
                          <a:ea typeface="Arial"/>
                          <a:cs typeface="Arial"/>
                        </a:rPr>
                        <a:t>Tap · shake · voice · auto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864" marR="54864" marT="18288" marB="18288" anchor="ctr">
                    <a:lnL w="9525" cmpd="sng">
                      <a:solidFill>
                        <a:srgbClr val="B8C8E0"/>
                      </a:solidFill>
                      <a:prstDash val="solid"/>
                    </a:lnL>
                    <a:lnR w="9525" cmpd="sng">
                      <a:solidFill>
                        <a:srgbClr val="B8C8E0"/>
                      </a:solidFill>
                      <a:prstDash val="solid"/>
                    </a:lnR>
                    <a:lnT w="9525" cmpd="sng">
                      <a:solidFill>
                        <a:srgbClr val="B8C8E0"/>
                      </a:solidFill>
                      <a:prstDash val="solid"/>
                    </a:lnT>
                    <a:lnB w="9525" cmpd="sng">
                      <a:solidFill>
                        <a:srgbClr val="B8C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3235B"/>
                          </a:solidFill>
                          <a:latin typeface="Arial"/>
                          <a:ea typeface="Arial"/>
                          <a:cs typeface="Arial"/>
                        </a:rPr>
                        <a:t>Approach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864" marR="54864" marT="18288" marB="18288" anchor="ctr">
                    <a:lnL w="9525" cmpd="sng">
                      <a:solidFill>
                        <a:srgbClr val="B8C8E0"/>
                      </a:solidFill>
                      <a:prstDash val="solid"/>
                    </a:lnL>
                    <a:lnR w="9525" cmpd="sng">
                      <a:solidFill>
                        <a:srgbClr val="B8C8E0"/>
                      </a:solidFill>
                      <a:prstDash val="solid"/>
                    </a:lnR>
                    <a:lnT w="9525" cmpd="sng">
                      <a:solidFill>
                        <a:srgbClr val="B8C8E0"/>
                      </a:solidFill>
                      <a:prstDash val="solid"/>
                    </a:lnT>
                    <a:lnB w="9525" cmpd="sng">
                      <a:solidFill>
                        <a:srgbClr val="B8C8E0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5A6478"/>
                          </a:solidFill>
                          <a:latin typeface="Arial"/>
                          <a:ea typeface="Arial"/>
                          <a:cs typeface="Arial"/>
                        </a:rPr>
                        <a:t>Reactive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864" marR="54864" marT="18288" marB="18288" anchor="ctr">
                    <a:lnL w="9525" cmpd="sng">
                      <a:solidFill>
                        <a:srgbClr val="B8C8E0"/>
                      </a:solidFill>
                      <a:prstDash val="solid"/>
                    </a:lnL>
                    <a:lnR w="9525" cmpd="sng">
                      <a:solidFill>
                        <a:srgbClr val="B8C8E0"/>
                      </a:solidFill>
                      <a:prstDash val="solid"/>
                    </a:lnR>
                    <a:lnT w="9525" cmpd="sng">
                      <a:solidFill>
                        <a:srgbClr val="B8C8E0"/>
                      </a:solidFill>
                      <a:prstDash val="solid"/>
                    </a:lnT>
                    <a:lnB w="9525" cmpd="sng">
                      <a:solidFill>
                        <a:srgbClr val="B8C8E0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B3122E"/>
                          </a:solidFill>
                          <a:latin typeface="Arial"/>
                          <a:ea typeface="Arial"/>
                          <a:cs typeface="Arial"/>
                        </a:rPr>
                        <a:t>Proactive monitoring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864" marR="54864" marT="18288" marB="18288" anchor="ctr">
                    <a:lnL w="9525" cmpd="sng">
                      <a:solidFill>
                        <a:srgbClr val="B8C8E0"/>
                      </a:solidFill>
                      <a:prstDash val="solid"/>
                    </a:lnL>
                    <a:lnR w="9525" cmpd="sng">
                      <a:solidFill>
                        <a:srgbClr val="B8C8E0"/>
                      </a:solidFill>
                      <a:prstDash val="solid"/>
                    </a:lnR>
                    <a:lnT w="9525" cmpd="sng">
                      <a:solidFill>
                        <a:srgbClr val="B8C8E0"/>
                      </a:solidFill>
                      <a:prstDash val="solid"/>
                    </a:lnT>
                    <a:lnB w="9525" cmpd="sng">
                      <a:solidFill>
                        <a:srgbClr val="B8C8E0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3235B"/>
                          </a:solidFill>
                          <a:latin typeface="Arial"/>
                          <a:ea typeface="Arial"/>
                          <a:cs typeface="Arial"/>
                        </a:rPr>
                        <a:t>Journey awareness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864" marR="54864" marT="18288" marB="18288" anchor="ctr">
                    <a:lnL w="9525" cmpd="sng">
                      <a:solidFill>
                        <a:srgbClr val="B8C8E0"/>
                      </a:solidFill>
                      <a:prstDash val="solid"/>
                    </a:lnL>
                    <a:lnR w="9525" cmpd="sng">
                      <a:solidFill>
                        <a:srgbClr val="B8C8E0"/>
                      </a:solidFill>
                      <a:prstDash val="solid"/>
                    </a:lnR>
                    <a:lnT w="9525" cmpd="sng">
                      <a:solidFill>
                        <a:srgbClr val="B8C8E0"/>
                      </a:solidFill>
                      <a:prstDash val="solid"/>
                    </a:lnT>
                    <a:lnB w="9525" cmpd="sng">
                      <a:solidFill>
                        <a:srgbClr val="B8C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5A6478"/>
                          </a:solidFill>
                          <a:latin typeface="Arial"/>
                          <a:ea typeface="Arial"/>
                          <a:cs typeface="Arial"/>
                        </a:rPr>
                        <a:t>Limited / none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864" marR="54864" marT="18288" marB="18288" anchor="ctr">
                    <a:lnL w="9525" cmpd="sng">
                      <a:solidFill>
                        <a:srgbClr val="B8C8E0"/>
                      </a:solidFill>
                      <a:prstDash val="solid"/>
                    </a:lnL>
                    <a:lnR w="9525" cmpd="sng">
                      <a:solidFill>
                        <a:srgbClr val="B8C8E0"/>
                      </a:solidFill>
                      <a:prstDash val="solid"/>
                    </a:lnR>
                    <a:lnT w="9525" cmpd="sng">
                      <a:solidFill>
                        <a:srgbClr val="B8C8E0"/>
                      </a:solidFill>
                      <a:prstDash val="solid"/>
                    </a:lnT>
                    <a:lnB w="9525" cmpd="sng">
                      <a:solidFill>
                        <a:srgbClr val="B8C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B3122E"/>
                          </a:solidFill>
                          <a:latin typeface="Arial"/>
                          <a:ea typeface="Arial"/>
                          <a:cs typeface="Arial"/>
                        </a:rPr>
                        <a:t>Route, stops, ETA, timer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864" marR="54864" marT="18288" marB="18288" anchor="ctr">
                    <a:lnL w="9525" cmpd="sng">
                      <a:solidFill>
                        <a:srgbClr val="B8C8E0"/>
                      </a:solidFill>
                      <a:prstDash val="solid"/>
                    </a:lnL>
                    <a:lnR w="9525" cmpd="sng">
                      <a:solidFill>
                        <a:srgbClr val="B8C8E0"/>
                      </a:solidFill>
                      <a:prstDash val="solid"/>
                    </a:lnR>
                    <a:lnT w="9525" cmpd="sng">
                      <a:solidFill>
                        <a:srgbClr val="B8C8E0"/>
                      </a:solidFill>
                      <a:prstDash val="solid"/>
                    </a:lnT>
                    <a:lnB w="9525" cmpd="sng">
                      <a:solidFill>
                        <a:srgbClr val="B8C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3235B"/>
                          </a:solidFill>
                          <a:latin typeface="Arial"/>
                          <a:ea typeface="Arial"/>
                          <a:cs typeface="Arial"/>
                        </a:rPr>
                        <a:t>If she can't respond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864" marR="54864" marT="18288" marB="18288" anchor="ctr">
                    <a:lnL w="9525" cmpd="sng">
                      <a:solidFill>
                        <a:srgbClr val="B8C8E0"/>
                      </a:solidFill>
                      <a:prstDash val="solid"/>
                    </a:lnL>
                    <a:lnR w="9525" cmpd="sng">
                      <a:solidFill>
                        <a:srgbClr val="B8C8E0"/>
                      </a:solidFill>
                      <a:prstDash val="solid"/>
                    </a:lnR>
                    <a:lnT w="9525" cmpd="sng">
                      <a:solidFill>
                        <a:srgbClr val="B8C8E0"/>
                      </a:solidFill>
                      <a:prstDash val="solid"/>
                    </a:lnT>
                    <a:lnB w="9525" cmpd="sng">
                      <a:solidFill>
                        <a:srgbClr val="B8C8E0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5A6478"/>
                          </a:solidFill>
                          <a:latin typeface="Arial"/>
                          <a:ea typeface="Arial"/>
                          <a:cs typeface="Arial"/>
                        </a:rPr>
                        <a:t>Nothing happens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864" marR="54864" marT="18288" marB="18288" anchor="ctr">
                    <a:lnL w="9525" cmpd="sng">
                      <a:solidFill>
                        <a:srgbClr val="B8C8E0"/>
                      </a:solidFill>
                      <a:prstDash val="solid"/>
                    </a:lnL>
                    <a:lnR w="9525" cmpd="sng">
                      <a:solidFill>
                        <a:srgbClr val="B8C8E0"/>
                      </a:solidFill>
                      <a:prstDash val="solid"/>
                    </a:lnR>
                    <a:lnT w="9525" cmpd="sng">
                      <a:solidFill>
                        <a:srgbClr val="B8C8E0"/>
                      </a:solidFill>
                      <a:prstDash val="solid"/>
                    </a:lnT>
                    <a:lnB w="9525" cmpd="sng">
                      <a:solidFill>
                        <a:srgbClr val="B8C8E0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B3122E"/>
                          </a:solidFill>
                          <a:latin typeface="Arial"/>
                          <a:ea typeface="Arial"/>
                          <a:cs typeface="Arial"/>
                        </a:rPr>
                        <a:t>Auto-escalates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864" marR="54864" marT="18288" marB="18288" anchor="ctr">
                    <a:lnL w="9525" cmpd="sng">
                      <a:solidFill>
                        <a:srgbClr val="B8C8E0"/>
                      </a:solidFill>
                      <a:prstDash val="solid"/>
                    </a:lnL>
                    <a:lnR w="9525" cmpd="sng">
                      <a:solidFill>
                        <a:srgbClr val="B8C8E0"/>
                      </a:solidFill>
                      <a:prstDash val="solid"/>
                    </a:lnR>
                    <a:lnT w="9525" cmpd="sng">
                      <a:solidFill>
                        <a:srgbClr val="B8C8E0"/>
                      </a:solidFill>
                      <a:prstDash val="solid"/>
                    </a:lnT>
                    <a:lnB w="9525" cmpd="sng">
                      <a:solidFill>
                        <a:srgbClr val="B8C8E0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3235B"/>
                          </a:solidFill>
                          <a:latin typeface="Arial"/>
                          <a:ea typeface="Arial"/>
                          <a:cs typeface="Arial"/>
                        </a:rPr>
                        <a:t>Misuse resistance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864" marR="54864" marT="18288" marB="18288" anchor="ctr">
                    <a:lnL w="9525" cmpd="sng">
                      <a:solidFill>
                        <a:srgbClr val="B8C8E0"/>
                      </a:solidFill>
                      <a:prstDash val="solid"/>
                    </a:lnL>
                    <a:lnR w="9525" cmpd="sng">
                      <a:solidFill>
                        <a:srgbClr val="B8C8E0"/>
                      </a:solidFill>
                      <a:prstDash val="solid"/>
                    </a:lnR>
                    <a:lnT w="9525" cmpd="sng">
                      <a:solidFill>
                        <a:srgbClr val="B8C8E0"/>
                      </a:solidFill>
                      <a:prstDash val="solid"/>
                    </a:lnT>
                    <a:lnB w="9525" cmpd="sng">
                      <a:solidFill>
                        <a:srgbClr val="B8C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5A6478"/>
                          </a:solidFill>
                          <a:latin typeface="Arial"/>
                          <a:ea typeface="Arial"/>
                          <a:cs typeface="Arial"/>
                        </a:rPr>
                        <a:t>Basic controls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864" marR="54864" marT="18288" marB="18288" anchor="ctr">
                    <a:lnL w="9525" cmpd="sng">
                      <a:solidFill>
                        <a:srgbClr val="B8C8E0"/>
                      </a:solidFill>
                      <a:prstDash val="solid"/>
                    </a:lnL>
                    <a:lnR w="9525" cmpd="sng">
                      <a:solidFill>
                        <a:srgbClr val="B8C8E0"/>
                      </a:solidFill>
                      <a:prstDash val="solid"/>
                    </a:lnR>
                    <a:lnT w="9525" cmpd="sng">
                      <a:solidFill>
                        <a:srgbClr val="B8C8E0"/>
                      </a:solidFill>
                      <a:prstDash val="solid"/>
                    </a:lnT>
                    <a:lnB w="9525" cmpd="sng">
                      <a:solidFill>
                        <a:srgbClr val="B8C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B3122E"/>
                          </a:solidFill>
                          <a:latin typeface="Arial"/>
                          <a:ea typeface="Arial"/>
                          <a:cs typeface="Arial"/>
                        </a:rPr>
                        <a:t>Anonymized · rate-limited · audited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864" marR="54864" marT="18288" marB="18288" anchor="ctr">
                    <a:lnL w="9525" cmpd="sng">
                      <a:solidFill>
                        <a:srgbClr val="B8C8E0"/>
                      </a:solidFill>
                      <a:prstDash val="solid"/>
                    </a:lnL>
                    <a:lnR w="9525" cmpd="sng">
                      <a:solidFill>
                        <a:srgbClr val="B8C8E0"/>
                      </a:solidFill>
                      <a:prstDash val="solid"/>
                    </a:lnR>
                    <a:lnT w="9525" cmpd="sng">
                      <a:solidFill>
                        <a:srgbClr val="B8C8E0"/>
                      </a:solidFill>
                      <a:prstDash val="solid"/>
                    </a:lnT>
                    <a:lnB w="9525" cmpd="sng">
                      <a:solidFill>
                        <a:srgbClr val="B8C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4" name="Shape 84">
            <a:extLst xmlns:a="http://schemas.openxmlformats.org/drawingml/2006/main">
              <a:ext uri="{FF2B5EF4-FFF2-40B4-BE49-F238E27FC236}">
                <a16:creationId xmlns:a16="http://schemas.microsoft.com/office/drawing/2014/main" id="{9BEE73F2-8216-4670-AF43-A3A81BC2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5303520"/>
            <a:ext cx="4233672" cy="512064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DECEE"/>
          </a:solidFill>
          <a:ln xmlns:a="http://schemas.openxmlformats.org/drawingml/2006/main" w="12700">
            <a:solidFill>
              <a:srgbClr val="F2B8C0"/>
            </a:solidFill>
            <a:prstDash val="solid"/>
          </a:ln>
        </p:spPr>
      </p:sp>
      <p:pic>
        <p:nvPicPr>
          <p:cNvPr id="234" name="Imag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931984c9ce4a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43800" y="5449824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06" name="Text 85">
            <a:extLst xmlns:a="http://schemas.openxmlformats.org/drawingml/2006/main">
              <a:ext uri="{FF2B5EF4-FFF2-40B4-BE49-F238E27FC236}">
                <a16:creationId xmlns:a16="http://schemas.microsoft.com/office/drawing/2014/main" id="{F473DF7E-6540-4195-B0B8-2216C4294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5303520"/>
            <a:ext cx="374904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B3122E"/>
                </a:solidFill>
                <a:latin typeface="Arial"/>
                <a:ea typeface="Arial"/>
                <a:cs typeface="Arial"/>
              </a:rPr>
              <a:t>Novelty 1 — Silence is a signal:</a:t>
            </a:r>
            <a:r>
              <a:rPr sz="950">
                <a:solidFill>
                  <a:srgbClr val="1B1B1B"/>
                </a:solidFill>
                <a:latin typeface="Arial"/>
                <a:ea typeface="Arial"/>
                <a:cs typeface="Arial"/>
              </a:rPr>
              <a:t> a missed “Are you safe?” check triggers help automatically</a:t>
            </a:r>
            <a:endParaRPr sz="950"/>
          </a:p>
        </p:txBody>
      </p:sp>
      <p:sp>
        <p:nvSpPr>
          <p:cNvPr id="107" name="Shape 86">
            <a:extLst xmlns:a="http://schemas.openxmlformats.org/drawingml/2006/main">
              <a:ext uri="{FF2B5EF4-FFF2-40B4-BE49-F238E27FC236}">
                <a16:creationId xmlns:a16="http://schemas.microsoft.com/office/drawing/2014/main" id="{E75A7B37-FDEC-4AD5-871F-E068B83F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5888736"/>
            <a:ext cx="4233672" cy="512064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DECEE"/>
          </a:solidFill>
          <a:ln xmlns:a="http://schemas.openxmlformats.org/drawingml/2006/main" w="12700">
            <a:solidFill>
              <a:srgbClr val="F2B8C0"/>
            </a:solidFill>
            <a:prstDash val="solid"/>
          </a:ln>
        </p:spPr>
      </p:sp>
      <p:pic>
        <p:nvPicPr>
          <p:cNvPr id="237" name="Imag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5c0af254e647e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43800" y="6035040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09" name="Text 87">
            <a:extLst xmlns:a="http://schemas.openxmlformats.org/drawingml/2006/main">
              <a:ext uri="{FF2B5EF4-FFF2-40B4-BE49-F238E27FC236}">
                <a16:creationId xmlns:a16="http://schemas.microsoft.com/office/drawing/2014/main" id="{7BE0A1B1-93F3-4FAB-B13B-EFBAC157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5888736"/>
            <a:ext cx="374904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B3122E"/>
                </a:solidFill>
                <a:latin typeface="Arial"/>
                <a:ea typeface="Arial"/>
                <a:cs typeface="Arial"/>
              </a:rPr>
              <a:t>Novelty 2 — Community safety network: nearby users can act as digital witnesses; anonymized alerts protect bystanders.</a:t>
            </a:r>
            <a:endParaRPr sz="950"/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FCFC0121-712E-4821-94F6-C5DB80B3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532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3235B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900" b="1">
                <a:solidFill>
                  <a:srgbClr val="13235B"/>
                </a:solidFill>
                <a:latin typeface="Segoe UI Symbol"/>
                <a:ea typeface="Segoe UI Symbol"/>
                <a:cs typeface="Segoe UI Symbol"/>
              </a:rPr>
              <a:t>⛨  ⌖  ●—●</a:t>
            </a:r>
          </a:p>
        </p:txBody>
      </p:sp>
    </p:spTree>
    <p:extLst>
      <p:ext uri="{BB962C8B-B14F-4D97-AF65-F5344CB8AC3E}">
        <p14:creationId xmlns:p14="http://schemas.microsoft.com/office/powerpoint/2010/main" val="13289011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496FED3-2966-43D7-9E5C-6A0B50AC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01168"/>
            <a:ext cx="210312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808080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238E8F2-138F-4505-84F2-04D39310B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01168"/>
            <a:ext cx="21031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1B1B1B"/>
                </a:solidFill>
                <a:latin typeface="Arial"/>
                <a:ea typeface="Arial"/>
                <a:cs typeface="Arial"/>
              </a:rPr>
              <a:t>[TEAM NAME]</a:t>
            </a:r>
            <a:endParaRPr sz="1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85F5458-1637-499B-A62D-F6E4F2B41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109728"/>
            <a:ext cx="69494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1B1B1B"/>
                </a:solidFill>
                <a:latin typeface="Times New Roman"/>
                <a:ea typeface="Times New Roman"/>
                <a:cs typeface="Times New Roman"/>
              </a:rPr>
              <a:t>TECH STACK + ARCHITECTURE</a:t>
            </a:r>
            <a:endParaRPr sz="3000"/>
          </a:p>
        </p:txBody>
      </p:sp>
      <p:pic>
        <p:nvPicPr>
          <p:cNvPr id="10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e5efda9e8142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29800" y="109728"/>
            <a:ext cx="1051560" cy="841248"/>
          </a:xfrm>
          <a:prstGeom xmlns:a="http://schemas.openxmlformats.org/drawingml/2006/main" prst="rect">
            <a:avLst/>
          </a:prstGeom>
        </p:spPr>
      </p:pic>
      <p:pic>
        <p:nvPicPr>
          <p:cNvPr id="10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b54f1c2bf0487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72800" y="91440"/>
            <a:ext cx="923544" cy="868680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F79D609F-51A7-472A-9D7D-122E3D8D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188720"/>
            <a:ext cx="3749040" cy="5349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D"/>
          </a:solidFill>
          <a:ln xmlns:a="http://schemas.openxmlformats.org/drawingml/2006/main" w="19050">
            <a:solidFill>
              <a:srgbClr val="13235B"/>
            </a:solidFill>
            <a:prstDash val="solid"/>
          </a:ln>
        </p:spPr>
      </p:sp>
      <p:sp>
        <p:nvSpPr>
          <p:cNvPr id="8" name="Shape 4">
            <a:extLst xmlns:a="http://schemas.openxmlformats.org/drawingml/2006/main">
              <a:ext uri="{FF2B5EF4-FFF2-40B4-BE49-F238E27FC236}">
                <a16:creationId xmlns:a16="http://schemas.microsoft.com/office/drawing/2014/main" id="{30FA4C3A-8237-4C61-8A59-AD1FFBC10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25880"/>
            <a:ext cx="3383280" cy="384048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0B63CE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436122AB-9630-4A17-B3D2-3D5DCE5E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25880"/>
            <a:ext cx="3383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TECH STACK</a:t>
            </a:r>
            <a:endParaRPr sz="13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6DB0346E-BC90-4188-8762-B0811400F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92024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3CE"/>
            </a:solidFill>
            <a:prstDash val="solid"/>
          </a:ln>
        </p:spPr>
      </p:sp>
      <p:pic>
        <p:nvPicPr>
          <p:cNvPr id="11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09a070888448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3621" y="2040941"/>
            <a:ext cx="261518" cy="261518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3C78A9B7-8793-4860-AF65-188BE7D6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1847088"/>
            <a:ext cx="2834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B63CE"/>
                </a:solidFill>
                <a:latin typeface="Arial"/>
                <a:ea typeface="Arial"/>
                <a:cs typeface="Arial"/>
              </a:rPr>
              <a:t>Mobile App</a:t>
            </a:r>
            <a:endParaRPr sz="1200"/>
          </a:p>
        </p:txBody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73FBC8F9-7005-4290-A765-71D9FCA82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2121408"/>
            <a:ext cx="28346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B1B1B"/>
                </a:solidFill>
                <a:latin typeface="Arial"/>
                <a:ea typeface="Arial"/>
                <a:cs typeface="Arial"/>
              </a:rPr>
              <a:t>Kotlin · Jetpack Compose · Location Services · Sensors (accelerometer, gyroscope)</a:t>
            </a:r>
            <a:endParaRPr sz="950"/>
          </a:p>
        </p:txBody>
      </p:sp>
      <p:sp>
        <p:nvSpPr>
          <p:cNvPr id="14" name="Shape 9">
            <a:extLst xmlns:a="http://schemas.openxmlformats.org/drawingml/2006/main">
              <a:ext uri="{FF2B5EF4-FFF2-40B4-BE49-F238E27FC236}">
                <a16:creationId xmlns:a16="http://schemas.microsoft.com/office/drawing/2014/main" id="{93C19878-04E2-4966-AF0C-C14CDC766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9748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3CE"/>
            </a:solidFill>
            <a:prstDash val="solid"/>
          </a:ln>
        </p:spPr>
      </p:sp>
      <p:pic>
        <p:nvPicPr>
          <p:cNvPr id="114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999f4c864140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3621" y="2818181"/>
            <a:ext cx="261518" cy="261518"/>
          </a:xfrm>
          <a:prstGeom xmlns:a="http://schemas.openxmlformats.org/drawingml/2006/main" prst="rect">
            <a:avLst/>
          </a:prstGeom>
        </p:spPr>
      </p:pic>
      <p:sp>
        <p:nvSpPr>
          <p:cNvPr id="16" name="Text 10">
            <a:extLst xmlns:a="http://schemas.openxmlformats.org/drawingml/2006/main">
              <a:ext uri="{FF2B5EF4-FFF2-40B4-BE49-F238E27FC236}">
                <a16:creationId xmlns:a16="http://schemas.microsoft.com/office/drawing/2014/main" id="{4CF4DE82-AE47-4E02-87E2-46C3BBCDD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2624328"/>
            <a:ext cx="2834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B63CE"/>
                </a:solidFill>
                <a:latin typeface="Arial"/>
                <a:ea typeface="Arial"/>
                <a:cs typeface="Arial"/>
              </a:rPr>
              <a:t>Backend</a:t>
            </a:r>
            <a:endParaRPr sz="1200"/>
          </a:p>
        </p:txBody>
      </p:sp>
      <p:sp>
        <p:nvSpPr>
          <p:cNvPr id="17" name="Text 11">
            <a:extLst xmlns:a="http://schemas.openxmlformats.org/drawingml/2006/main">
              <a:ext uri="{FF2B5EF4-FFF2-40B4-BE49-F238E27FC236}">
                <a16:creationId xmlns:a16="http://schemas.microsoft.com/office/drawing/2014/main" id="{2D115762-F45F-4B34-B10E-D6D3810F1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2898648"/>
            <a:ext cx="28346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B1B1B"/>
                </a:solidFill>
                <a:latin typeface="Arial"/>
                <a:ea typeface="Arial"/>
                <a:cs typeface="Arial"/>
              </a:rPr>
              <a:t>Firebase Auth · Cloud Functions (Node.js) · REST APIs</a:t>
            </a:r>
            <a:endParaRPr sz="950"/>
          </a:p>
        </p:txBody>
      </p:sp>
      <p:sp>
        <p:nvSpPr>
          <p:cNvPr id="18" name="Shape 12">
            <a:extLst xmlns:a="http://schemas.openxmlformats.org/drawingml/2006/main">
              <a:ext uri="{FF2B5EF4-FFF2-40B4-BE49-F238E27FC236}">
                <a16:creationId xmlns:a16="http://schemas.microsoft.com/office/drawing/2014/main" id="{E3653C6D-A28F-4550-8809-AB8180533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3CE"/>
            </a:solidFill>
            <a:prstDash val="solid"/>
          </a:ln>
        </p:spPr>
      </p:sp>
      <p:pic>
        <p:nvPicPr>
          <p:cNvPr id="118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8f89129ed04a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3621" y="3595421"/>
            <a:ext cx="261518" cy="261518"/>
          </a:xfrm>
          <a:prstGeom xmlns:a="http://schemas.openxmlformats.org/drawingml/2006/main" prst="rect">
            <a:avLst/>
          </a:prstGeom>
        </p:spPr>
      </p:pic>
      <p:sp>
        <p:nvSpPr>
          <p:cNvPr id="20" name="Text 13">
            <a:extLst xmlns:a="http://schemas.openxmlformats.org/drawingml/2006/main">
              <a:ext uri="{FF2B5EF4-FFF2-40B4-BE49-F238E27FC236}">
                <a16:creationId xmlns:a16="http://schemas.microsoft.com/office/drawing/2014/main" id="{ADA9CF59-B156-4389-89EC-B209EAC6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3401568"/>
            <a:ext cx="2834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B63CE"/>
                </a:solidFill>
                <a:latin typeface="Arial"/>
                <a:ea typeface="Arial"/>
                <a:cs typeface="Arial"/>
              </a:rPr>
              <a:t>Database</a:t>
            </a:r>
            <a:endParaRPr sz="1200"/>
          </a:p>
        </p:txBody>
      </p:sp>
      <p:sp>
        <p:nvSpPr>
          <p:cNvPr id="21" name="Text 14">
            <a:extLst xmlns:a="http://schemas.openxmlformats.org/drawingml/2006/main">
              <a:ext uri="{FF2B5EF4-FFF2-40B4-BE49-F238E27FC236}">
                <a16:creationId xmlns:a16="http://schemas.microsoft.com/office/drawing/2014/main" id="{BA1A7C59-7FDA-4FCE-86D5-83F6D2535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3675888"/>
            <a:ext cx="28346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B1B1B"/>
                </a:solidFill>
                <a:latin typeface="Arial"/>
                <a:ea typeface="Arial"/>
                <a:cs typeface="Arial"/>
              </a:rPr>
              <a:t>Firebase Firestore — journeys, guardians, alerts</a:t>
            </a:r>
            <a:endParaRPr sz="950"/>
          </a:p>
        </p:txBody>
      </p:sp>
      <p:sp>
        <p:nvSpPr>
          <p:cNvPr id="22" name="Shape 15">
            <a:extLst xmlns:a="http://schemas.openxmlformats.org/drawingml/2006/main">
              <a:ext uri="{FF2B5EF4-FFF2-40B4-BE49-F238E27FC236}">
                <a16:creationId xmlns:a16="http://schemas.microsoft.com/office/drawing/2014/main" id="{7E9607AC-3609-4A67-AF14-23825A7BD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25196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3CE"/>
            </a:solidFill>
            <a:prstDash val="solid"/>
          </a:ln>
        </p:spPr>
      </p:sp>
      <p:pic>
        <p:nvPicPr>
          <p:cNvPr id="122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47fc18f7b544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3621" y="4372661"/>
            <a:ext cx="261518" cy="261518"/>
          </a:xfrm>
          <a:prstGeom xmlns:a="http://schemas.openxmlformats.org/drawingml/2006/main" prst="rect">
            <a:avLst/>
          </a:prstGeom>
        </p:spPr>
      </p:pic>
      <p:sp>
        <p:nvSpPr>
          <p:cNvPr id="24" name="Text 16">
            <a:extLst xmlns:a="http://schemas.openxmlformats.org/drawingml/2006/main">
              <a:ext uri="{FF2B5EF4-FFF2-40B4-BE49-F238E27FC236}">
                <a16:creationId xmlns:a16="http://schemas.microsoft.com/office/drawing/2014/main" id="{FCBCF0B6-79E6-45EA-A407-B3BAB3AE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4178808"/>
            <a:ext cx="2834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B63CE"/>
                </a:solidFill>
                <a:latin typeface="Arial"/>
                <a:ea typeface="Arial"/>
                <a:cs typeface="Arial"/>
              </a:rPr>
              <a:t>Maps &amp; Location</a:t>
            </a:r>
            <a:endParaRPr sz="1200"/>
          </a:p>
        </p:txBody>
      </p:sp>
      <p:sp>
        <p:nvSpPr>
          <p:cNvPr id="25" name="Text 17">
            <a:extLst xmlns:a="http://schemas.openxmlformats.org/drawingml/2006/main">
              <a:ext uri="{FF2B5EF4-FFF2-40B4-BE49-F238E27FC236}">
                <a16:creationId xmlns:a16="http://schemas.microsoft.com/office/drawing/2014/main" id="{FCC29453-FD28-43B0-9590-FF379DE07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4453128"/>
            <a:ext cx="28346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B1B1B"/>
                </a:solidFill>
                <a:latin typeface="Arial"/>
                <a:ea typeface="Arial"/>
                <a:cs typeface="Arial"/>
              </a:rPr>
              <a:t>Google Maps SDK / MapLibre · Places API · Fused Location Provider</a:t>
            </a:r>
            <a:endParaRPr sz="950"/>
          </a:p>
        </p:txBody>
      </p:sp>
      <p:sp>
        <p:nvSpPr>
          <p:cNvPr id="26" name="Shape 18">
            <a:extLst xmlns:a="http://schemas.openxmlformats.org/drawingml/2006/main">
              <a:ext uri="{FF2B5EF4-FFF2-40B4-BE49-F238E27FC236}">
                <a16:creationId xmlns:a16="http://schemas.microsoft.com/office/drawing/2014/main" id="{F59FFD2F-91AD-4BF1-A6E7-E336864E1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2920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3CE"/>
            </a:solidFill>
            <a:prstDash val="solid"/>
          </a:ln>
        </p:spPr>
      </p:sp>
      <p:pic>
        <p:nvPicPr>
          <p:cNvPr id="126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5b7df41ead4b3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3621" y="5149901"/>
            <a:ext cx="261518" cy="261518"/>
          </a:xfrm>
          <a:prstGeom xmlns:a="http://schemas.openxmlformats.org/drawingml/2006/main" prst="rect">
            <a:avLst/>
          </a:prstGeom>
        </p:spPr>
      </p:pic>
      <p:sp>
        <p:nvSpPr>
          <p:cNvPr id="28" name="Text 19">
            <a:extLst xmlns:a="http://schemas.openxmlformats.org/drawingml/2006/main">
              <a:ext uri="{FF2B5EF4-FFF2-40B4-BE49-F238E27FC236}">
                <a16:creationId xmlns:a16="http://schemas.microsoft.com/office/drawing/2014/main" id="{EDA36C4F-438F-446D-A913-9427CFE43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4956048"/>
            <a:ext cx="2834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B63CE"/>
                </a:solidFill>
                <a:latin typeface="Arial"/>
                <a:ea typeface="Arial"/>
                <a:cs typeface="Arial"/>
              </a:rPr>
              <a:t>Notifications</a:t>
            </a:r>
            <a:endParaRPr sz="1200"/>
          </a:p>
        </p:txBody>
      </p:sp>
      <p:sp>
        <p:nvSpPr>
          <p:cNvPr id="29" name="Text 20">
            <a:extLst xmlns:a="http://schemas.openxmlformats.org/drawingml/2006/main">
              <a:ext uri="{FF2B5EF4-FFF2-40B4-BE49-F238E27FC236}">
                <a16:creationId xmlns:a16="http://schemas.microsoft.com/office/drawing/2014/main" id="{F396D73A-53D3-4631-9F2C-B34476252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5230368"/>
            <a:ext cx="28346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B1B1B"/>
                </a:solidFill>
                <a:latin typeface="Arial"/>
                <a:ea typeface="Arial"/>
                <a:cs typeface="Arial"/>
              </a:rPr>
              <a:t>Firebase Cloud Messaging · SMS fallback</a:t>
            </a:r>
            <a:endParaRPr sz="950"/>
          </a:p>
        </p:txBody>
      </p:sp>
      <p:sp>
        <p:nvSpPr>
          <p:cNvPr id="30" name="Shape 21">
            <a:extLst xmlns:a="http://schemas.openxmlformats.org/drawingml/2006/main">
              <a:ext uri="{FF2B5EF4-FFF2-40B4-BE49-F238E27FC236}">
                <a16:creationId xmlns:a16="http://schemas.microsoft.com/office/drawing/2014/main" id="{E91E4BA4-1BBF-4AF4-A9D3-C06074BB6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0644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3CE"/>
            </a:solidFill>
            <a:prstDash val="solid"/>
          </a:ln>
        </p:spPr>
      </p:sp>
      <p:pic>
        <p:nvPicPr>
          <p:cNvPr id="130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478e36339647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3621" y="5927141"/>
            <a:ext cx="261518" cy="261518"/>
          </a:xfrm>
          <a:prstGeom xmlns:a="http://schemas.openxmlformats.org/drawingml/2006/main" prst="rect">
            <a:avLst/>
          </a:prstGeom>
        </p:spPr>
      </p:pic>
      <p:sp>
        <p:nvSpPr>
          <p:cNvPr id="32" name="Text 22">
            <a:extLst xmlns:a="http://schemas.openxmlformats.org/drawingml/2006/main">
              <a:ext uri="{FF2B5EF4-FFF2-40B4-BE49-F238E27FC236}">
                <a16:creationId xmlns:a16="http://schemas.microsoft.com/office/drawing/2014/main" id="{4EC20079-C39C-416A-8253-047A9214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5733288"/>
            <a:ext cx="2834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B63CE"/>
                </a:solidFill>
                <a:latin typeface="Arial"/>
                <a:ea typeface="Arial"/>
                <a:cs typeface="Arial"/>
              </a:rPr>
              <a:t>AI Layer</a:t>
            </a:r>
            <a:endParaRPr sz="1200"/>
          </a:p>
        </p:txBody>
      </p:sp>
      <p:sp>
        <p:nvSpPr>
          <p:cNvPr id="33" name="Text 23">
            <a:extLst xmlns:a="http://schemas.openxmlformats.org/drawingml/2006/main">
              <a:ext uri="{FF2B5EF4-FFF2-40B4-BE49-F238E27FC236}">
                <a16:creationId xmlns:a16="http://schemas.microsoft.com/office/drawing/2014/main" id="{B7B235C2-91F4-4A04-AD80-0960EF967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6007608"/>
            <a:ext cx="28346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B1B1B"/>
                </a:solidFill>
                <a:latin typeface="Arial"/>
                <a:ea typeface="Arial"/>
                <a:cs typeface="Arial"/>
              </a:rPr>
              <a:t>Python · FastAPI · scikit-learn risk scoring (rules + Isolation Forest)</a:t>
            </a:r>
            <a:endParaRPr sz="950"/>
          </a:p>
        </p:txBody>
      </p:sp>
      <p:sp>
        <p:nvSpPr>
          <p:cNvPr id="34" name="Shape 24">
            <a:extLst xmlns:a="http://schemas.openxmlformats.org/drawingml/2006/main">
              <a:ext uri="{FF2B5EF4-FFF2-40B4-BE49-F238E27FC236}">
                <a16:creationId xmlns:a16="http://schemas.microsoft.com/office/drawing/2014/main" id="{6A297551-BE75-4A4A-915D-41BFC94C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60" y="1188720"/>
            <a:ext cx="7616952" cy="5349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D"/>
          </a:solidFill>
          <a:ln xmlns:a="http://schemas.openxmlformats.org/drawingml/2006/main" w="19050">
            <a:solidFill>
              <a:srgbClr val="13235B"/>
            </a:solidFill>
            <a:prstDash val="solid"/>
          </a:ln>
        </p:spPr>
      </p:sp>
      <p:sp>
        <p:nvSpPr>
          <p:cNvPr id="35" name="Shape 25">
            <a:extLst xmlns:a="http://schemas.openxmlformats.org/drawingml/2006/main">
              <a:ext uri="{FF2B5EF4-FFF2-40B4-BE49-F238E27FC236}">
                <a16:creationId xmlns:a16="http://schemas.microsoft.com/office/drawing/2014/main" id="{BD3F19A7-8BD8-49A8-9E70-D41FAB1C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325880"/>
            <a:ext cx="7159752" cy="384048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0B63CE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sp>
        <p:nvSpPr>
          <p:cNvPr id="36" name="Text 26">
            <a:extLst xmlns:a="http://schemas.openxmlformats.org/drawingml/2006/main">
              <a:ext uri="{FF2B5EF4-FFF2-40B4-BE49-F238E27FC236}">
                <a16:creationId xmlns:a16="http://schemas.microsoft.com/office/drawing/2014/main" id="{3A3B7D3C-BDBE-4EEE-B57B-50835899C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325880"/>
            <a:ext cx="715975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ARCHITECTURE</a:t>
            </a:r>
            <a:endParaRPr sz="1300"/>
          </a:p>
        </p:txBody>
      </p:sp>
      <p:sp>
        <p:nvSpPr>
          <p:cNvPr id="37" name="Shape 27">
            <a:extLst xmlns:a="http://schemas.openxmlformats.org/drawingml/2006/main">
              <a:ext uri="{FF2B5EF4-FFF2-40B4-BE49-F238E27FC236}">
                <a16:creationId xmlns:a16="http://schemas.microsoft.com/office/drawing/2014/main" id="{51E07F6D-3569-4E86-9FD9-5E261ED01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874520"/>
            <a:ext cx="132588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sp>
        <p:nvSpPr>
          <p:cNvPr id="38" name="Text 28">
            <a:extLst xmlns:a="http://schemas.openxmlformats.org/drawingml/2006/main">
              <a:ext uri="{FF2B5EF4-FFF2-40B4-BE49-F238E27FC236}">
                <a16:creationId xmlns:a16="http://schemas.microsoft.com/office/drawing/2014/main" id="{E87DA608-3B0D-4C91-9210-8B912CDD7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929384"/>
            <a:ext cx="1234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User</a:t>
            </a:r>
            <a:endParaRPr sz="1050"/>
          </a:p>
        </p:txBody>
      </p:sp>
      <p:sp>
        <p:nvSpPr>
          <p:cNvPr id="39" name="Text 29">
            <a:extLst xmlns:a="http://schemas.openxmlformats.org/drawingml/2006/main">
              <a:ext uri="{FF2B5EF4-FFF2-40B4-BE49-F238E27FC236}">
                <a16:creationId xmlns:a16="http://schemas.microsoft.com/office/drawing/2014/main" id="{9BB3D40F-C127-4692-94F1-11DA46C1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424" y="2203704"/>
            <a:ext cx="1216152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5A6478"/>
                </a:solidFill>
                <a:latin typeface="Arial"/>
                <a:ea typeface="Arial"/>
                <a:cs typeface="Arial"/>
              </a:rPr>
              <a:t>Starts journey or triggers SOS</a:t>
            </a:r>
            <a:endParaRPr sz="800"/>
          </a:p>
        </p:txBody>
      </p:sp>
      <p:pic>
        <p:nvPicPr>
          <p:cNvPr id="139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5f9c19079648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0" y="1965960"/>
            <a:ext cx="201168" cy="201168"/>
          </a:xfrm>
          <a:prstGeom xmlns:a="http://schemas.openxmlformats.org/drawingml/2006/main" prst="rect">
            <a:avLst/>
          </a:prstGeom>
        </p:spPr>
      </p:pic>
      <p:sp>
        <p:nvSpPr>
          <p:cNvPr id="41" name="Shape 30">
            <a:extLst xmlns:a="http://schemas.openxmlformats.org/drawingml/2006/main">
              <a:ext uri="{FF2B5EF4-FFF2-40B4-BE49-F238E27FC236}">
                <a16:creationId xmlns:a16="http://schemas.microsoft.com/office/drawing/2014/main" id="{11465271-B2C3-41F0-BF67-FACC591BB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874520"/>
            <a:ext cx="160020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DCE9FA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sp>
        <p:nvSpPr>
          <p:cNvPr id="42" name="Text 31">
            <a:extLst xmlns:a="http://schemas.openxmlformats.org/drawingml/2006/main">
              <a:ext uri="{FF2B5EF4-FFF2-40B4-BE49-F238E27FC236}">
                <a16:creationId xmlns:a16="http://schemas.microsoft.com/office/drawing/2014/main" id="{A30C9226-C9F9-4BD6-B904-3C9C960D4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929384"/>
            <a:ext cx="1508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Mobile App</a:t>
            </a:r>
            <a:endParaRPr sz="1050"/>
          </a:p>
        </p:txBody>
      </p:sp>
      <p:sp>
        <p:nvSpPr>
          <p:cNvPr id="43" name="Text 32">
            <a:extLst xmlns:a="http://schemas.openxmlformats.org/drawingml/2006/main">
              <a:ext uri="{FF2B5EF4-FFF2-40B4-BE49-F238E27FC236}">
                <a16:creationId xmlns:a16="http://schemas.microsoft.com/office/drawing/2014/main" id="{2876E344-DFF4-437C-AB4E-5B8CB92F0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2203704"/>
            <a:ext cx="1490472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5A6478"/>
                </a:solidFill>
                <a:latin typeface="Arial"/>
                <a:ea typeface="Arial"/>
                <a:cs typeface="Arial"/>
              </a:rPr>
              <a:t>Kotlin + Compose · foreground service</a:t>
            </a:r>
            <a:endParaRPr sz="800"/>
          </a:p>
        </p:txBody>
      </p:sp>
      <p:sp>
        <p:nvSpPr>
          <p:cNvPr id="44" name="Shape 33">
            <a:extLst xmlns:a="http://schemas.openxmlformats.org/drawingml/2006/main">
              <a:ext uri="{FF2B5EF4-FFF2-40B4-BE49-F238E27FC236}">
                <a16:creationId xmlns:a16="http://schemas.microsoft.com/office/drawing/2014/main" id="{80D62ABF-077B-464C-ACB6-124C799AE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74520"/>
            <a:ext cx="160020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DCE9FA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sp>
        <p:nvSpPr>
          <p:cNvPr id="45" name="Text 34">
            <a:extLst xmlns:a="http://schemas.openxmlformats.org/drawingml/2006/main">
              <a:ext uri="{FF2B5EF4-FFF2-40B4-BE49-F238E27FC236}">
                <a16:creationId xmlns:a16="http://schemas.microsoft.com/office/drawing/2014/main" id="{B0DA4470-BF7B-4F3C-B886-293B0F0A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929384"/>
            <a:ext cx="1508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Location / Sensor Data</a:t>
            </a:r>
            <a:endParaRPr sz="1050"/>
          </a:p>
        </p:txBody>
      </p:sp>
      <p:sp>
        <p:nvSpPr>
          <p:cNvPr id="46" name="Text 35">
            <a:extLst xmlns:a="http://schemas.openxmlformats.org/drawingml/2006/main">
              <a:ext uri="{FF2B5EF4-FFF2-40B4-BE49-F238E27FC236}">
                <a16:creationId xmlns:a16="http://schemas.microsoft.com/office/drawing/2014/main" id="{7C4417C2-4515-48F5-A367-FD7B8D12F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2203704"/>
            <a:ext cx="1490472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5A6478"/>
                </a:solidFill>
                <a:latin typeface="Arial"/>
                <a:ea typeface="Arial"/>
                <a:cs typeface="Arial"/>
              </a:rPr>
              <a:t>GPS · accelerometer · gyroscope · optional mic cue</a:t>
            </a:r>
            <a:endParaRPr sz="800"/>
          </a:p>
        </p:txBody>
      </p:sp>
      <p:sp>
        <p:nvSpPr>
          <p:cNvPr id="47" name="Shape 36">
            <a:extLst xmlns:a="http://schemas.openxmlformats.org/drawingml/2006/main">
              <a:ext uri="{FF2B5EF4-FFF2-40B4-BE49-F238E27FC236}">
                <a16:creationId xmlns:a16="http://schemas.microsoft.com/office/drawing/2014/main" id="{7A1A840F-FC09-475F-A5BF-AE4B8125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0" y="1874520"/>
            <a:ext cx="146304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DCE9FA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sp>
        <p:nvSpPr>
          <p:cNvPr id="48" name="Text 37">
            <a:extLst xmlns:a="http://schemas.openxmlformats.org/drawingml/2006/main">
              <a:ext uri="{FF2B5EF4-FFF2-40B4-BE49-F238E27FC236}">
                <a16:creationId xmlns:a16="http://schemas.microsoft.com/office/drawing/2014/main" id="{1B313324-DF56-4245-81D5-701E0421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929384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Backend</a:t>
            </a:r>
            <a:endParaRPr sz="1050"/>
          </a:p>
        </p:txBody>
      </p:sp>
      <p:sp>
        <p:nvSpPr>
          <p:cNvPr id="49" name="Text 38">
            <a:extLst xmlns:a="http://schemas.openxmlformats.org/drawingml/2006/main">
              <a:ext uri="{FF2B5EF4-FFF2-40B4-BE49-F238E27FC236}">
                <a16:creationId xmlns:a16="http://schemas.microsoft.com/office/drawing/2014/main" id="{DC9DBC71-8AAA-4E43-834A-82A15F9E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144" y="2203704"/>
            <a:ext cx="1353312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5A6478"/>
                </a:solidFill>
                <a:latin typeface="Arial"/>
                <a:ea typeface="Arial"/>
                <a:cs typeface="Arial"/>
              </a:rPr>
              <a:t>Firebase Auth · Cloud Functions · Firestore</a:t>
            </a:r>
            <a:endParaRPr sz="800"/>
          </a:p>
        </p:txBody>
      </p:sp>
      <p:sp>
        <p:nvSpPr>
          <p:cNvPr id="50" name="Shape 39">
            <a:extLst xmlns:a="http://schemas.openxmlformats.org/drawingml/2006/main">
              <a:ext uri="{FF2B5EF4-FFF2-40B4-BE49-F238E27FC236}">
                <a16:creationId xmlns:a16="http://schemas.microsoft.com/office/drawing/2014/main" id="{F4C1F988-E907-4700-A689-38947DAE1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2308860"/>
            <a:ext cx="411480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13235B"/>
            </a:solidFill>
            <a:prstDash val="solid"/>
            <a:tailEnd type="triangle"/>
          </a:ln>
        </p:spPr>
      </p:sp>
      <p:sp>
        <p:nvSpPr>
          <p:cNvPr id="51" name="Shape 40">
            <a:extLst xmlns:a="http://schemas.openxmlformats.org/drawingml/2006/main">
              <a:ext uri="{FF2B5EF4-FFF2-40B4-BE49-F238E27FC236}">
                <a16:creationId xmlns:a16="http://schemas.microsoft.com/office/drawing/2014/main" id="{767C3322-FCD6-43FE-A8BE-60A9401C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2308860"/>
            <a:ext cx="411480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13235B"/>
            </a:solidFill>
            <a:prstDash val="solid"/>
            <a:tailEnd type="triangle"/>
          </a:ln>
        </p:spPr>
      </p:sp>
      <p:sp>
        <p:nvSpPr>
          <p:cNvPr id="52" name="Shape 41">
            <a:extLst xmlns:a="http://schemas.openxmlformats.org/drawingml/2006/main">
              <a:ext uri="{FF2B5EF4-FFF2-40B4-BE49-F238E27FC236}">
                <a16:creationId xmlns:a16="http://schemas.microsoft.com/office/drawing/2014/main" id="{4C8FF55D-F97F-4E2F-9116-B75492858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308860"/>
            <a:ext cx="411480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13235B"/>
            </a:solidFill>
            <a:prstDash val="solid"/>
            <a:tailEnd type="triangle"/>
          </a:ln>
        </p:spPr>
      </p:sp>
      <p:sp>
        <p:nvSpPr>
          <p:cNvPr id="53" name="Shape 42">
            <a:extLst xmlns:a="http://schemas.openxmlformats.org/drawingml/2006/main">
              <a:ext uri="{FF2B5EF4-FFF2-40B4-BE49-F238E27FC236}">
                <a16:creationId xmlns:a16="http://schemas.microsoft.com/office/drawing/2014/main" id="{D83C5BE8-5526-4571-B305-41905F0EE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3246120"/>
            <a:ext cx="214884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5ECFF"/>
          </a:solidFill>
          <a:ln xmlns:a="http://schemas.openxmlformats.org/drawingml/2006/main" w="12700">
            <a:solidFill>
              <a:srgbClr val="13235B"/>
            </a:solidFill>
            <a:prstDash val="solid"/>
          </a:ln>
        </p:spPr>
      </p:sp>
      <p:sp>
        <p:nvSpPr>
          <p:cNvPr id="54" name="Text 43">
            <a:extLst xmlns:a="http://schemas.openxmlformats.org/drawingml/2006/main">
              <a:ext uri="{FF2B5EF4-FFF2-40B4-BE49-F238E27FC236}">
                <a16:creationId xmlns:a16="http://schemas.microsoft.com/office/drawing/2014/main" id="{589A40C8-4B43-48DD-B564-C22A8D86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300984"/>
            <a:ext cx="2057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Risk Analysis (AI)</a:t>
            </a:r>
            <a:endParaRPr sz="1050"/>
          </a:p>
        </p:txBody>
      </p:sp>
      <p:sp>
        <p:nvSpPr>
          <p:cNvPr id="55" name="Text 44">
            <a:extLst xmlns:a="http://schemas.openxmlformats.org/drawingml/2006/main">
              <a:ext uri="{FF2B5EF4-FFF2-40B4-BE49-F238E27FC236}">
                <a16:creationId xmlns:a16="http://schemas.microsoft.com/office/drawing/2014/main" id="{609A0DB4-E24D-49BB-A7BA-42EA96A4C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344" y="3575304"/>
            <a:ext cx="2039112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5A6478"/>
                </a:solidFill>
                <a:latin typeface="Arial"/>
                <a:ea typeface="Arial"/>
                <a:cs typeface="Arial"/>
              </a:rPr>
              <a:t>FastAPI · risk score 0–1 from journey signals</a:t>
            </a:r>
            <a:endParaRPr sz="800"/>
          </a:p>
        </p:txBody>
      </p:sp>
      <p:sp>
        <p:nvSpPr>
          <p:cNvPr id="56" name="Shape 45">
            <a:extLst xmlns:a="http://schemas.openxmlformats.org/drawingml/2006/main">
              <a:ext uri="{FF2B5EF4-FFF2-40B4-BE49-F238E27FC236}">
                <a16:creationId xmlns:a16="http://schemas.microsoft.com/office/drawing/2014/main" id="{E2E97734-BF3C-458A-85A9-38E7D1249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246120"/>
            <a:ext cx="219456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3235B"/>
          </a:solidFill>
          <a:ln xmlns:a="http://schemas.openxmlformats.org/drawingml/2006/main" w="12700">
            <a:solidFill>
              <a:srgbClr val="13235B"/>
            </a:solidFill>
            <a:prstDash val="solid"/>
          </a:ln>
        </p:spPr>
      </p:sp>
      <p:sp>
        <p:nvSpPr>
          <p:cNvPr id="57" name="Text 46">
            <a:extLst xmlns:a="http://schemas.openxmlformats.org/drawingml/2006/main">
              <a:ext uri="{FF2B5EF4-FFF2-40B4-BE49-F238E27FC236}">
                <a16:creationId xmlns:a16="http://schemas.microsoft.com/office/drawing/2014/main" id="{98505B6F-2540-48D3-B97A-9DA4D668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3300984"/>
            <a:ext cx="2103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Safety Engine</a:t>
            </a:r>
            <a:endParaRPr sz="1050"/>
          </a:p>
        </p:txBody>
      </p:sp>
      <p:sp>
        <p:nvSpPr>
          <p:cNvPr id="58" name="Text 47">
            <a:extLst xmlns:a="http://schemas.openxmlformats.org/drawingml/2006/main">
              <a:ext uri="{FF2B5EF4-FFF2-40B4-BE49-F238E27FC236}">
                <a16:creationId xmlns:a16="http://schemas.microsoft.com/office/drawing/2014/main" id="{5CB3D88C-0943-40D4-9BE9-5538F7608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4264" y="3575304"/>
            <a:ext cx="2084832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FFFFFF"/>
                </a:solidFill>
                <a:latin typeface="Arial"/>
                <a:ea typeface="Arial"/>
                <a:cs typeface="Arial"/>
              </a:rPr>
              <a:t>Rules + risk score → check-in &amp; escalation</a:t>
            </a:r>
            <a:endParaRPr sz="800"/>
          </a:p>
        </p:txBody>
      </p:sp>
      <p:sp>
        <p:nvSpPr>
          <p:cNvPr id="59" name="Shape 48">
            <a:extLst xmlns:a="http://schemas.openxmlformats.org/drawingml/2006/main">
              <a:ext uri="{FF2B5EF4-FFF2-40B4-BE49-F238E27FC236}">
                <a16:creationId xmlns:a16="http://schemas.microsoft.com/office/drawing/2014/main" id="{8B582339-60BB-406D-9ECB-7D41564C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3246120"/>
            <a:ext cx="1691640" cy="402336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DECEE"/>
          </a:solidFill>
          <a:ln xmlns:a="http://schemas.openxmlformats.org/drawingml/2006/main" w="12700">
            <a:solidFill>
              <a:srgbClr val="B3122E"/>
            </a:solidFill>
            <a:prstDash val="solid"/>
          </a:ln>
        </p:spPr>
      </p:sp>
      <p:sp>
        <p:nvSpPr>
          <p:cNvPr id="60" name="Text 49">
            <a:extLst xmlns:a="http://schemas.openxmlformats.org/drawingml/2006/main">
              <a:ext uri="{FF2B5EF4-FFF2-40B4-BE49-F238E27FC236}">
                <a16:creationId xmlns:a16="http://schemas.microsoft.com/office/drawing/2014/main" id="{BC1BB5DA-75B7-4E8D-B3C6-351DADF0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3246120"/>
            <a:ext cx="16916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B3122E"/>
                </a:solidFill>
                <a:latin typeface="Arial"/>
                <a:ea typeface="Arial"/>
                <a:cs typeface="Arial"/>
              </a:rPr>
              <a:t>Trusted Contacts</a:t>
            </a:r>
            <a:endParaRPr sz="950"/>
          </a:p>
        </p:txBody>
      </p:sp>
      <p:sp>
        <p:nvSpPr>
          <p:cNvPr id="61" name="Shape 50">
            <a:extLst xmlns:a="http://schemas.openxmlformats.org/drawingml/2006/main">
              <a:ext uri="{FF2B5EF4-FFF2-40B4-BE49-F238E27FC236}">
                <a16:creationId xmlns:a16="http://schemas.microsoft.com/office/drawing/2014/main" id="{86B9E960-4FF2-47D8-BA55-CAB3E2A67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3712464"/>
            <a:ext cx="1691640" cy="402336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DECEE"/>
          </a:solidFill>
          <a:ln xmlns:a="http://schemas.openxmlformats.org/drawingml/2006/main" w="12700">
            <a:solidFill>
              <a:srgbClr val="B3122E"/>
            </a:solidFill>
            <a:prstDash val="solid"/>
          </a:ln>
        </p:spPr>
      </p:sp>
      <p:sp>
        <p:nvSpPr>
          <p:cNvPr id="62" name="Text 51">
            <a:extLst xmlns:a="http://schemas.openxmlformats.org/drawingml/2006/main">
              <a:ext uri="{FF2B5EF4-FFF2-40B4-BE49-F238E27FC236}">
                <a16:creationId xmlns:a16="http://schemas.microsoft.com/office/drawing/2014/main" id="{807FABD6-773F-4566-8930-DF99D0646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3712464"/>
            <a:ext cx="16916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B3122E"/>
                </a:solidFill>
                <a:latin typeface="Arial"/>
                <a:ea typeface="Arial"/>
                <a:cs typeface="Arial"/>
              </a:rPr>
              <a:t>Nearby Community</a:t>
            </a:r>
            <a:endParaRPr sz="950"/>
          </a:p>
        </p:txBody>
      </p:sp>
      <p:sp>
        <p:nvSpPr>
          <p:cNvPr id="63" name="Shape 52">
            <a:extLst xmlns:a="http://schemas.openxmlformats.org/drawingml/2006/main">
              <a:ext uri="{FF2B5EF4-FFF2-40B4-BE49-F238E27FC236}">
                <a16:creationId xmlns:a16="http://schemas.microsoft.com/office/drawing/2014/main" id="{11A27D85-A2DF-4D74-BEBC-D3B368B6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743200"/>
            <a:ext cx="914" cy="5029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13235B"/>
            </a:solidFill>
            <a:prstDash val="solid"/>
            <a:tailEnd type="triangle"/>
          </a:ln>
        </p:spPr>
      </p:sp>
      <p:sp>
        <p:nvSpPr>
          <p:cNvPr id="64" name="Shape 53">
            <a:extLst xmlns:a="http://schemas.openxmlformats.org/drawingml/2006/main">
              <a:ext uri="{FF2B5EF4-FFF2-40B4-BE49-F238E27FC236}">
                <a16:creationId xmlns:a16="http://schemas.microsoft.com/office/drawing/2014/main" id="{EBF18C76-1FD1-481B-9507-068B085F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8823960" y="3680460"/>
            <a:ext cx="731520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13235B"/>
            </a:solidFill>
            <a:prstDash val="solid"/>
            <a:tailEnd type="triangle"/>
          </a:ln>
        </p:spPr>
      </p:sp>
      <p:sp>
        <p:nvSpPr>
          <p:cNvPr id="65" name="Shape 54">
            <a:extLst xmlns:a="http://schemas.openxmlformats.org/drawingml/2006/main">
              <a:ext uri="{FF2B5EF4-FFF2-40B4-BE49-F238E27FC236}">
                <a16:creationId xmlns:a16="http://schemas.microsoft.com/office/drawing/2014/main" id="{B848450C-0318-433A-B6E6-6B77BD233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6172200" y="3447288"/>
            <a:ext cx="457200" cy="731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B3122E"/>
            </a:solidFill>
            <a:prstDash val="solid"/>
            <a:tailEnd type="triangle"/>
          </a:ln>
        </p:spPr>
      </p:sp>
      <p:sp>
        <p:nvSpPr>
          <p:cNvPr id="66" name="Shape 55">
            <a:extLst xmlns:a="http://schemas.openxmlformats.org/drawingml/2006/main">
              <a:ext uri="{FF2B5EF4-FFF2-40B4-BE49-F238E27FC236}">
                <a16:creationId xmlns:a16="http://schemas.microsoft.com/office/drawing/2014/main" id="{65A856AA-584D-444B-9C2D-EAAE191BA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172200" y="3840480"/>
            <a:ext cx="457200" cy="731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B3122E"/>
            </a:solidFill>
            <a:prstDash val="solid"/>
            <a:tailEnd type="triangle"/>
          </a:ln>
        </p:spPr>
      </p:sp>
      <p:sp>
        <p:nvSpPr>
          <p:cNvPr id="67" name="Shape 56">
            <a:extLst xmlns:a="http://schemas.openxmlformats.org/drawingml/2006/main">
              <a:ext uri="{FF2B5EF4-FFF2-40B4-BE49-F238E27FC236}">
                <a16:creationId xmlns:a16="http://schemas.microsoft.com/office/drawing/2014/main" id="{0FAC99C0-16E9-48A3-9FB6-6D4541B1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2743200"/>
            <a:ext cx="914" cy="5029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3122E"/>
            </a:solidFill>
            <a:prstDash val="dash"/>
            <a:tailEnd type="triangle"/>
          </a:ln>
        </p:spPr>
      </p:sp>
      <p:sp>
        <p:nvSpPr>
          <p:cNvPr id="68" name="Text 57">
            <a:extLst xmlns:a="http://schemas.openxmlformats.org/drawingml/2006/main">
              <a:ext uri="{FF2B5EF4-FFF2-40B4-BE49-F238E27FC236}">
                <a16:creationId xmlns:a16="http://schemas.microsoft.com/office/drawing/2014/main" id="{55A4EE35-D0DB-4F5F-823E-5E03D840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761488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i="1">
                <a:solidFill>
                  <a:srgbClr val="B3122E"/>
                </a:solidFill>
                <a:latin typeface="Arial"/>
                <a:ea typeface="Arial"/>
                <a:cs typeface="Arial"/>
              </a:rPr>
              <a:t>Direct SOS (tap / shake / voice)</a:t>
            </a:r>
            <a:endParaRPr sz="750"/>
          </a:p>
        </p:txBody>
      </p:sp>
      <p:sp>
        <p:nvSpPr>
          <p:cNvPr id="69" name="Text 58">
            <a:extLst xmlns:a="http://schemas.openxmlformats.org/drawingml/2006/main">
              <a:ext uri="{FF2B5EF4-FFF2-40B4-BE49-F238E27FC236}">
                <a16:creationId xmlns:a16="http://schemas.microsoft.com/office/drawing/2014/main" id="{078E1491-C3D6-42BB-B66A-21EE36D4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4142232"/>
            <a:ext cx="16916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>
                <a:solidFill>
                  <a:srgbClr val="5A6478"/>
                </a:solidFill>
                <a:latin typeface="Arial"/>
                <a:ea typeface="Arial"/>
                <a:cs typeface="Arial"/>
              </a:rPr>
              <a:t>Coarse alert · 112 / security / witness</a:t>
            </a:r>
            <a:endParaRPr sz="750"/>
          </a:p>
        </p:txBody>
      </p:sp>
      <p:sp>
        <p:nvSpPr>
          <p:cNvPr id="70" name="Text 59">
            <a:extLst xmlns:a="http://schemas.openxmlformats.org/drawingml/2006/main">
              <a:ext uri="{FF2B5EF4-FFF2-40B4-BE49-F238E27FC236}">
                <a16:creationId xmlns:a16="http://schemas.microsoft.com/office/drawing/2014/main" id="{3421B8F5-6D83-4F61-A4AC-4D3BD5A92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4434840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SAFETY ENGINE — ESCALATION LADDER</a:t>
            </a:r>
            <a:endParaRPr sz="1050"/>
          </a:p>
        </p:txBody>
      </p:sp>
      <p:sp>
        <p:nvSpPr>
          <p:cNvPr id="71" name="Shape 60">
            <a:extLst xmlns:a="http://schemas.openxmlformats.org/drawingml/2006/main">
              <a:ext uri="{FF2B5EF4-FFF2-40B4-BE49-F238E27FC236}">
                <a16:creationId xmlns:a16="http://schemas.microsoft.com/office/drawing/2014/main" id="{D5AEBDDE-CE2A-46D4-AF80-5C7614EE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4736592"/>
            <a:ext cx="1828800" cy="713232"/>
          </a:xfrm>
          <a:prstGeom xmlns:a="http://schemas.openxmlformats.org/drawingml/2006/main" prst="homePlate">
            <a:avLst/>
          </a:prstGeom>
          <a:solidFill xmlns:a="http://schemas.openxmlformats.org/drawingml/2006/main">
            <a:srgbClr val="0B63CE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sp>
        <p:nvSpPr>
          <p:cNvPr id="72" name="Text 61">
            <a:extLst xmlns:a="http://schemas.openxmlformats.org/drawingml/2006/main">
              <a:ext uri="{FF2B5EF4-FFF2-40B4-BE49-F238E27FC236}">
                <a16:creationId xmlns:a16="http://schemas.microsoft.com/office/drawing/2014/main" id="{1060CAF5-18E5-45A3-BA1F-7C1622C21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4860" y="4773168"/>
            <a:ext cx="154305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L1  “Are you safe?”</a:t>
            </a:r>
            <a:endParaRPr sz="1050"/>
          </a:p>
        </p:txBody>
      </p:sp>
      <p:sp>
        <p:nvSpPr>
          <p:cNvPr id="73" name="Text 62">
            <a:extLst xmlns:a="http://schemas.openxmlformats.org/drawingml/2006/main">
              <a:ext uri="{FF2B5EF4-FFF2-40B4-BE49-F238E27FC236}">
                <a16:creationId xmlns:a16="http://schemas.microsoft.com/office/drawing/2014/main" id="{A83C2E52-F614-4F01-B39C-E4592061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4860" y="5065776"/>
            <a:ext cx="154305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FFFFFF"/>
                </a:solidFill>
                <a:latin typeface="Arial"/>
                <a:ea typeface="Arial"/>
                <a:cs typeface="Arial"/>
              </a:rPr>
              <a:t>Silent prompt · 30 s · safe PIN</a:t>
            </a:r>
            <a:endParaRPr sz="850"/>
          </a:p>
        </p:txBody>
      </p:sp>
      <p:sp>
        <p:nvSpPr>
          <p:cNvPr id="74" name="Shape 63">
            <a:extLst xmlns:a="http://schemas.openxmlformats.org/drawingml/2006/main">
              <a:ext uri="{FF2B5EF4-FFF2-40B4-BE49-F238E27FC236}">
                <a16:creationId xmlns:a16="http://schemas.microsoft.com/office/drawing/2014/main" id="{6857FF8D-AC51-4762-BFFA-EB0790DD2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36592"/>
            <a:ext cx="1828800" cy="713232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820C"/>
          </a:solidFill>
          <a:ln xmlns:a="http://schemas.openxmlformats.org/drawingml/2006/main" w="12700">
            <a:solidFill>
              <a:srgbClr val="E8820C"/>
            </a:solidFill>
            <a:prstDash val="solid"/>
          </a:ln>
        </p:spPr>
      </p:sp>
      <p:sp>
        <p:nvSpPr>
          <p:cNvPr id="75" name="Text 64">
            <a:extLst xmlns:a="http://schemas.openxmlformats.org/drawingml/2006/main">
              <a:ext uri="{FF2B5EF4-FFF2-40B4-BE49-F238E27FC236}">
                <a16:creationId xmlns:a16="http://schemas.microsoft.com/office/drawing/2014/main" id="{B8EC9932-3E4A-4A56-8B59-F9EA185FD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73168"/>
            <a:ext cx="154305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L2  Alert guardians</a:t>
            </a:r>
            <a:endParaRPr sz="1050"/>
          </a:p>
        </p:txBody>
      </p:sp>
      <p:sp>
        <p:nvSpPr>
          <p:cNvPr id="76" name="Text 65">
            <a:extLst xmlns:a="http://schemas.openxmlformats.org/drawingml/2006/main">
              <a:ext uri="{FF2B5EF4-FFF2-40B4-BE49-F238E27FC236}">
                <a16:creationId xmlns:a16="http://schemas.microsoft.com/office/drawing/2014/main" id="{6F8571C7-D44D-44AF-ACF2-32D4FED93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5776"/>
            <a:ext cx="154305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FFFFFF"/>
                </a:solidFill>
                <a:latin typeface="Arial"/>
                <a:ea typeface="Arial"/>
                <a:cs typeface="Arial"/>
              </a:rPr>
              <a:t>Push + SMS + live location link</a:t>
            </a:r>
            <a:endParaRPr sz="850"/>
          </a:p>
        </p:txBody>
      </p:sp>
      <p:sp>
        <p:nvSpPr>
          <p:cNvPr id="77" name="Shape 66">
            <a:extLst xmlns:a="http://schemas.openxmlformats.org/drawingml/2006/main">
              <a:ext uri="{FF2B5EF4-FFF2-40B4-BE49-F238E27FC236}">
                <a16:creationId xmlns:a16="http://schemas.microsoft.com/office/drawing/2014/main" id="{01D3361A-B2F1-4043-8BC1-05467DBA5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4736592"/>
            <a:ext cx="1828800" cy="713232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B3122E"/>
          </a:solidFill>
          <a:ln xmlns:a="http://schemas.openxmlformats.org/drawingml/2006/main" w="12700">
            <a:solidFill>
              <a:srgbClr val="B3122E"/>
            </a:solidFill>
            <a:prstDash val="solid"/>
          </a:ln>
        </p:spPr>
      </p:sp>
      <p:sp>
        <p:nvSpPr>
          <p:cNvPr id="78" name="Text 67">
            <a:extLst xmlns:a="http://schemas.openxmlformats.org/drawingml/2006/main">
              <a:ext uri="{FF2B5EF4-FFF2-40B4-BE49-F238E27FC236}">
                <a16:creationId xmlns:a16="http://schemas.microsoft.com/office/drawing/2014/main" id="{F0427611-1E81-4A07-ADA1-AEA02935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6740" y="4773168"/>
            <a:ext cx="154305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L3  Emergency mode</a:t>
            </a:r>
            <a:endParaRPr sz="1050"/>
          </a:p>
        </p:txBody>
      </p:sp>
      <p:sp>
        <p:nvSpPr>
          <p:cNvPr id="79" name="Text 68">
            <a:extLst xmlns:a="http://schemas.openxmlformats.org/drawingml/2006/main">
              <a:ext uri="{FF2B5EF4-FFF2-40B4-BE49-F238E27FC236}">
                <a16:creationId xmlns:a16="http://schemas.microsoft.com/office/drawing/2014/main" id="{62FBA72B-1921-4D63-8E67-BEB395DA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6740" y="5065776"/>
            <a:ext cx="154305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FFFFFF"/>
                </a:solidFill>
                <a:latin typeface="Arial"/>
                <a:ea typeface="Arial"/>
                <a:cs typeface="Arial"/>
              </a:rPr>
              <a:t>Siren · call chain · one-tap 112</a:t>
            </a:r>
            <a:endParaRPr sz="850"/>
          </a:p>
        </p:txBody>
      </p:sp>
      <p:sp>
        <p:nvSpPr>
          <p:cNvPr id="80" name="Shape 69">
            <a:extLst xmlns:a="http://schemas.openxmlformats.org/drawingml/2006/main">
              <a:ext uri="{FF2B5EF4-FFF2-40B4-BE49-F238E27FC236}">
                <a16:creationId xmlns:a16="http://schemas.microsoft.com/office/drawing/2014/main" id="{E9281180-37F6-42E6-8136-92837208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5650992"/>
            <a:ext cx="3520440" cy="7315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8C8E0"/>
            </a:solidFill>
            <a:prstDash val="solid"/>
          </a:ln>
        </p:spPr>
      </p:sp>
      <p:pic>
        <p:nvPicPr>
          <p:cNvPr id="180" name="Imag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19f86eb19145c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90288" y="5852160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82" name="Text 70">
            <a:extLst xmlns:a="http://schemas.openxmlformats.org/drawingml/2006/main">
              <a:ext uri="{FF2B5EF4-FFF2-40B4-BE49-F238E27FC236}">
                <a16:creationId xmlns:a16="http://schemas.microsoft.com/office/drawing/2014/main" id="{1E589518-0FE6-4D2A-9E2C-1C07B4940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5650992"/>
            <a:ext cx="29260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Privacy by design: location shared only during journey/SOS · TLS · Firestore rules · auto-delete history · nearby alerts hide exact address + identity.</a:t>
            </a:r>
            <a:endParaRPr sz="850"/>
          </a:p>
        </p:txBody>
      </p:sp>
      <p:sp>
        <p:nvSpPr>
          <p:cNvPr id="83" name="Shape 71">
            <a:extLst xmlns:a="http://schemas.openxmlformats.org/drawingml/2006/main">
              <a:ext uri="{FF2B5EF4-FFF2-40B4-BE49-F238E27FC236}">
                <a16:creationId xmlns:a16="http://schemas.microsoft.com/office/drawing/2014/main" id="{764B0933-A626-4935-9C97-83C729AD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5650992"/>
            <a:ext cx="3520440" cy="7315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8C8E0"/>
            </a:solidFill>
            <a:prstDash val="solid"/>
          </a:ln>
        </p:spPr>
      </p:sp>
      <p:pic>
        <p:nvPicPr>
          <p:cNvPr id="183" name="Imag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feeed8bffb4d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93608" y="585216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85" name="Text 72">
            <a:extLst xmlns:a="http://schemas.openxmlformats.org/drawingml/2006/main">
              <a:ext uri="{FF2B5EF4-FFF2-40B4-BE49-F238E27FC236}">
                <a16:creationId xmlns:a16="http://schemas.microsoft.com/office/drawing/2014/main" id="{A0335DF2-9A81-4788-B7A2-7AE5F1C8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650992"/>
            <a:ext cx="29260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Offline fallback: SMS with last-known location; queue and retry uploads when data returns.</a:t>
            </a:r>
            <a:endParaRPr sz="850"/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BF9AE30-2775-4DCF-90F7-71CE8173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8380" y="4736592"/>
            <a:ext cx="1828800" cy="713232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6D1023"/>
          </a:solidFill>
          <a:ln xmlns:a="http://schemas.openxmlformats.org/drawingml/2006/main" w="9525">
            <a:solidFill>
              <a:srgbClr val="6D1023"/>
            </a:solidFill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39ED2C9-ABB1-4C5F-BEAC-21D3C95F7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4773168"/>
            <a:ext cx="152400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703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L4  Community SOS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EAE31CC-8423-49A5-85BB-411291AD6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5065776"/>
            <a:ext cx="156210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70"/>
          </a:bodyPr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88">
                <a:solidFill>
                  <a:srgbClr val="FFFFFF"/>
                </a:solidFill>
                <a:latin typeface="Arial"/>
                <a:ea typeface="Arial"/>
                <a:cs typeface="Arial"/>
              </a:rPr>
              <a:t>Anonymized · ~200 m · optional 10–15s audio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ECB7BA0-5EB4-4CFF-8D6A-1F3A73ABF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532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3235B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900" b="1">
                <a:solidFill>
                  <a:srgbClr val="13235B"/>
                </a:solidFill>
                <a:latin typeface="Segoe UI Symbol"/>
                <a:ea typeface="Segoe UI Symbol"/>
                <a:cs typeface="Segoe UI Symbol"/>
              </a:rPr>
              <a:t>⛨  ⌖  ●—●</a:t>
            </a:r>
          </a:p>
        </p:txBody>
      </p:sp>
    </p:spTree>
    <p:extLst>
      <p:ext uri="{BB962C8B-B14F-4D97-AF65-F5344CB8AC3E}">
        <p14:creationId xmlns:p14="http://schemas.microsoft.com/office/powerpoint/2010/main" val="446232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9C3B067-DB9C-4DB2-82F8-5AEB4464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01168"/>
            <a:ext cx="210312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808080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906CA18-A9F8-4236-8470-4BE03E46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01168"/>
            <a:ext cx="21031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1B1B1B"/>
                </a:solidFill>
                <a:latin typeface="Arial"/>
                <a:ea typeface="Arial"/>
                <a:cs typeface="Arial"/>
              </a:rPr>
              <a:t>[TEAM NAME]</a:t>
            </a:r>
            <a:endParaRPr sz="1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38E6BCF-2127-4842-9AB8-C41868EA1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109728"/>
            <a:ext cx="69494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1B1B1B"/>
                </a:solidFill>
                <a:latin typeface="Times New Roman"/>
                <a:ea typeface="Times New Roman"/>
                <a:cs typeface="Times New Roman"/>
              </a:rPr>
              <a:t>FEASIBILITY, SHOWSTOPPERS &amp; USP</a:t>
            </a:r>
            <a:endParaRPr sz="2800"/>
          </a:p>
        </p:txBody>
      </p:sp>
      <p:pic>
        <p:nvPicPr>
          <p:cNvPr id="10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14e229aa0c48c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29800" y="109728"/>
            <a:ext cx="1051560" cy="841248"/>
          </a:xfrm>
          <a:prstGeom xmlns:a="http://schemas.openxmlformats.org/drawingml/2006/main" prst="rect">
            <a:avLst/>
          </a:prstGeom>
        </p:spPr>
      </p:pic>
      <p:pic>
        <p:nvPicPr>
          <p:cNvPr id="10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2055fed52b4ee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72800" y="91440"/>
            <a:ext cx="923544" cy="868680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26F5FE5F-4438-4144-B520-5930CF89B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188720"/>
            <a:ext cx="5806440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D"/>
          </a:solidFill>
          <a:ln xmlns:a="http://schemas.openxmlformats.org/drawingml/2006/main" w="19050">
            <a:solidFill>
              <a:srgbClr val="13235B"/>
            </a:solidFill>
            <a:prstDash val="solid"/>
          </a:ln>
        </p:spPr>
      </p:sp>
      <p:sp>
        <p:nvSpPr>
          <p:cNvPr id="8" name="Shape 4">
            <a:extLst xmlns:a="http://schemas.openxmlformats.org/drawingml/2006/main">
              <a:ext uri="{FF2B5EF4-FFF2-40B4-BE49-F238E27FC236}">
                <a16:creationId xmlns:a16="http://schemas.microsoft.com/office/drawing/2014/main" id="{BA6E35EE-9F47-48FE-BB2F-FC5982A10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5440680" cy="347472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0B63CE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8D40FB51-75BC-4D9E-9161-3AD5A3CE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54406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FEASIBILITY</a:t>
            </a:r>
            <a:endParaRPr sz="13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961A4F7A-77FD-4E55-A94F-8C8F492F4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1417320" cy="27432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4A90E2"/>
          </a:solidFill>
          <a:ln xmlns:a="http://schemas.openxmlformats.org/drawingml/2006/main" w="12700">
            <a:solidFill>
              <a:srgbClr val="4A90E2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3E448E0B-CF01-41A5-98F0-1AD1B9357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1417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TECHNICAL</a:t>
            </a:r>
            <a:endParaRPr sz="9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919EA04A-60A5-4CB2-BA9D-9DA9DD232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12264"/>
            <a:ext cx="26060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•"/>
            </a:pPr>
            <a:r>
              <a:rPr sz="950">
                <a:solidFill>
                  <a:srgbClr val="1B1B1B"/>
                </a:solidFill>
                <a:latin typeface="Arial"/>
                <a:ea typeface="Arial"/>
                <a:cs typeface="Arial"/>
              </a:rPr>
              <a:t>Mature Android APIs: GPS, sensors, geofencing</a:t>
            </a:r>
            <a:endParaRPr sz="950"/>
          </a:p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•"/>
            </a:pPr>
            <a:r>
              <a:rPr sz="950">
                <a:solidFill>
                  <a:srgbClr val="1B1B1B"/>
                </a:solidFill>
                <a:latin typeface="Arial"/>
                <a:ea typeface="Arial"/>
                <a:cs typeface="Arial"/>
              </a:rPr>
              <a:t>Firebase = auth, DB &amp; push with no server setup</a:t>
            </a:r>
            <a:endParaRPr sz="95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69E343D6-0618-4DC9-9096-42921B8FD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783080"/>
            <a:ext cx="1417320" cy="27432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4A90E2"/>
          </a:solidFill>
          <a:ln xmlns:a="http://schemas.openxmlformats.org/drawingml/2006/main" w="12700">
            <a:solidFill>
              <a:srgbClr val="4A90E2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07DF5F1F-8020-46E4-85BE-CFB18C14B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783080"/>
            <a:ext cx="1417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ECONOMIC</a:t>
            </a:r>
            <a:endParaRPr sz="90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75B7416E-5CC8-4A00-9E07-6EB1F24D8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112264"/>
            <a:ext cx="26060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•"/>
            </a:pPr>
            <a:r>
              <a:rPr sz="950">
                <a:solidFill>
                  <a:srgbClr val="1B1B1B"/>
                </a:solidFill>
                <a:latin typeface="Arial"/>
                <a:ea typeface="Arial"/>
                <a:cs typeface="Arial"/>
              </a:rPr>
              <a:t>Runs on existing smartphones</a:t>
            </a:r>
            <a:endParaRPr sz="950"/>
          </a:p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•"/>
            </a:pPr>
            <a:r>
              <a:rPr sz="950">
                <a:solidFill>
                  <a:srgbClr val="1B1B1B"/>
                </a:solidFill>
                <a:latin typeface="Arial"/>
                <a:ea typeface="Arial"/>
                <a:cs typeface="Arial"/>
              </a:rPr>
              <a:t>No extra hardware · free-tier cloud &amp; Maps credits</a:t>
            </a:r>
            <a:endParaRPr sz="950"/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1C3892E5-AE31-4128-BFA3-5B9AACC90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17520"/>
            <a:ext cx="1417320" cy="27432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4A90E2"/>
          </a:solidFill>
          <a:ln xmlns:a="http://schemas.openxmlformats.org/drawingml/2006/main" w="12700">
            <a:solidFill>
              <a:srgbClr val="4A90E2"/>
            </a:solidFill>
            <a:prstDash val="solid"/>
          </a:ln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2B1DCA3A-72AA-439A-9B43-E8979C946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17520"/>
            <a:ext cx="1417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 SCOPE</a:t>
            </a:r>
            <a:endParaRPr sz="900"/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22B705B4-B6D3-4E5F-9742-510486C8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46704"/>
            <a:ext cx="26060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•"/>
            </a:pPr>
            <a:r>
              <a:rPr sz="950">
                <a:solidFill>
                  <a:srgbClr val="1B1B1B"/>
                </a:solidFill>
                <a:latin typeface="Arial"/>
                <a:ea typeface="Arial"/>
                <a:cs typeface="Arial"/>
              </a:rPr>
              <a:t>Lightweight risk score: rules + Isolation Forest</a:t>
            </a:r>
            <a:endParaRPr sz="950"/>
          </a:p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•"/>
            </a:pPr>
            <a:r>
              <a:rPr sz="950">
                <a:solidFill>
                  <a:srgbClr val="1B1B1B"/>
                </a:solidFill>
                <a:latin typeface="Arial"/>
                <a:ea typeface="Arial"/>
                <a:cs typeface="Arial"/>
              </a:rPr>
              <a:t>Trained &amp; demoed on simulated journeys</a:t>
            </a:r>
            <a:endParaRPr sz="950"/>
          </a:p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A62616FD-1BFA-463E-B15D-C23B4F98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017520"/>
            <a:ext cx="2103120" cy="27432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4A90E2"/>
          </a:solidFill>
          <a:ln xmlns:a="http://schemas.openxmlformats.org/drawingml/2006/main" w="12700">
            <a:solidFill>
              <a:srgbClr val="4A90E2"/>
            </a:solidFill>
            <a:prstDash val="solid"/>
          </a:ln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B158C08A-BED6-459F-816C-B64E01DAE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017520"/>
            <a:ext cx="2103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HACKATHON BUILD PLAN</a:t>
            </a:r>
            <a:endParaRPr sz="900"/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F6AFDFEF-BC4C-49D3-84F4-9F6E76F5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346704"/>
            <a:ext cx="26060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•"/>
            </a:pPr>
            <a:r>
              <a:rPr sz="950">
                <a:solidFill>
                  <a:srgbClr val="1B1B1B"/>
                </a:solidFill>
                <a:latin typeface="Arial"/>
                <a:ea typeface="Arial"/>
                <a:cs typeface="Arial"/>
              </a:rPr>
              <a:t>3 modules: SOS core → Journey monitor → Risk &amp; escalation</a:t>
            </a:r>
            <a:endParaRPr sz="950"/>
          </a:p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•"/>
            </a:pPr>
            <a:r>
              <a:rPr sz="950">
                <a:solidFill>
                  <a:srgbClr val="1B1B1B"/>
                </a:solidFill>
                <a:latin typeface="Arial"/>
                <a:ea typeface="Arial"/>
                <a:cs typeface="Arial"/>
              </a:rPr>
              <a:t>4 members build in parallel</a:t>
            </a:r>
            <a:endParaRPr sz="950"/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A128A3E5-0DD4-42A3-ADAC-8A02789B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688" y="1783080"/>
            <a:ext cx="0" cy="23774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13235B"/>
            </a:solidFill>
            <a:prstDash val="solid"/>
          </a:ln>
        </p:spPr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BED70003-098A-465A-840A-1A222488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71800"/>
            <a:ext cx="5440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13235B"/>
            </a:solidFill>
            <a:prstDash val="solid"/>
          </a:ln>
        </p:spPr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FCF2CF95-89F1-4E0F-9173-AADC0B098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4434840"/>
            <a:ext cx="5806440" cy="2103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D"/>
          </a:solidFill>
          <a:ln xmlns:a="http://schemas.openxmlformats.org/drawingml/2006/main" w="19050">
            <a:solidFill>
              <a:srgbClr val="13235B"/>
            </a:solidFill>
            <a:prstDash val="solid"/>
          </a:ln>
        </p:spPr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FC123B56-AE56-4E26-AAC1-DC5904204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544568"/>
            <a:ext cx="5440680" cy="347472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B3122E"/>
          </a:solidFill>
          <a:ln xmlns:a="http://schemas.openxmlformats.org/drawingml/2006/main" w="12700">
            <a:solidFill>
              <a:srgbClr val="B3122E"/>
            </a:solidFill>
            <a:prstDash val="solid"/>
          </a:ln>
        </p:spPr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450DA373-5526-4245-A816-91ADE1B1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544568"/>
            <a:ext cx="54406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USP (UNIQUE SELLING POINT)</a:t>
            </a:r>
            <a:endParaRPr sz="1300"/>
          </a:p>
        </p:txBody>
      </p:sp>
      <p:sp>
        <p:nvSpPr>
          <p:cNvPr id="27" name="Shape 23">
            <a:extLst xmlns:a="http://schemas.openxmlformats.org/drawingml/2006/main">
              <a:ext uri="{FF2B5EF4-FFF2-40B4-BE49-F238E27FC236}">
                <a16:creationId xmlns:a16="http://schemas.microsoft.com/office/drawing/2014/main" id="{C488DA47-E28D-4649-AE6F-819A4CDE0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01768"/>
            <a:ext cx="1737360" cy="141732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2B8C0"/>
            </a:solidFill>
            <a:prstDash val="solid"/>
          </a:ln>
        </p:spPr>
      </p:sp>
      <p:sp>
        <p:nvSpPr>
          <p:cNvPr id="28" name="Shape 24">
            <a:extLst xmlns:a="http://schemas.openxmlformats.org/drawingml/2006/main">
              <a:ext uri="{FF2B5EF4-FFF2-40B4-BE49-F238E27FC236}">
                <a16:creationId xmlns:a16="http://schemas.microsoft.com/office/drawing/2014/main" id="{EBD4B27E-CB59-41BE-B20A-856DA9327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7492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9FA"/>
          </a:solidFill>
          <a:ln xmlns:a="http://schemas.openxmlformats.org/drawingml/2006/main" w="19050">
            <a:solidFill>
              <a:srgbClr val="DCE9FA"/>
            </a:solidFill>
            <a:prstDash val="solid"/>
          </a:ln>
        </p:spPr>
      </p:sp>
      <p:pic>
        <p:nvPicPr>
          <p:cNvPr id="13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39fff3844943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2728" y="518464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2C732173-04FC-425F-A271-646FA21A8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5550408"/>
            <a:ext cx="159105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B3122E"/>
                </a:solidFill>
                <a:latin typeface="Arial"/>
                <a:ea typeface="Arial"/>
                <a:cs typeface="Arial"/>
              </a:rPr>
              <a:t>Proactive, not only reactive</a:t>
            </a:r>
            <a:endParaRPr sz="950"/>
          </a:p>
        </p:txBody>
      </p:sp>
      <p:sp>
        <p:nvSpPr>
          <p:cNvPr id="31" name="Text 26">
            <a:extLst xmlns:a="http://schemas.openxmlformats.org/drawingml/2006/main">
              <a:ext uri="{FF2B5EF4-FFF2-40B4-BE49-F238E27FC236}">
                <a16:creationId xmlns:a16="http://schemas.microsoft.com/office/drawing/2014/main" id="{EDAD3183-C24F-416A-956E-5D2ABA560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5907024"/>
            <a:ext cx="1591056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5A6478"/>
                </a:solidFill>
                <a:latin typeface="Arial"/>
                <a:ea typeface="Arial"/>
                <a:cs typeface="Arial"/>
              </a:rPr>
              <a:t>Watches the journey, not just waits for a button</a:t>
            </a:r>
            <a:endParaRPr sz="800"/>
          </a:p>
        </p:txBody>
      </p:sp>
      <p:sp>
        <p:nvSpPr>
          <p:cNvPr id="32" name="Shape 27">
            <a:extLst xmlns:a="http://schemas.openxmlformats.org/drawingml/2006/main">
              <a:ext uri="{FF2B5EF4-FFF2-40B4-BE49-F238E27FC236}">
                <a16:creationId xmlns:a16="http://schemas.microsoft.com/office/drawing/2014/main" id="{8AD2BD3D-5430-49E5-BA95-8ED5303BB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0008" y="5001768"/>
            <a:ext cx="1737360" cy="141732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2B8C0"/>
            </a:solidFill>
            <a:prstDash val="solid"/>
          </a:ln>
        </p:spPr>
      </p:sp>
      <p:sp>
        <p:nvSpPr>
          <p:cNvPr id="33" name="Shape 28">
            <a:extLst xmlns:a="http://schemas.openxmlformats.org/drawingml/2006/main">
              <a:ext uri="{FF2B5EF4-FFF2-40B4-BE49-F238E27FC236}">
                <a16:creationId xmlns:a16="http://schemas.microsoft.com/office/drawing/2014/main" id="{3AB2D17A-55F1-49A2-B2E4-7EC003A62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088" y="507492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9FA"/>
          </a:solidFill>
          <a:ln xmlns:a="http://schemas.openxmlformats.org/drawingml/2006/main" w="19050">
            <a:solidFill>
              <a:srgbClr val="DCE9FA"/>
            </a:solidFill>
            <a:prstDash val="solid"/>
          </a:ln>
        </p:spPr>
      </p:sp>
      <p:pic>
        <p:nvPicPr>
          <p:cNvPr id="13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f26f55e5884f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99816" y="518464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35" name="Text 29">
            <a:extLst xmlns:a="http://schemas.openxmlformats.org/drawingml/2006/main">
              <a:ext uri="{FF2B5EF4-FFF2-40B4-BE49-F238E27FC236}">
                <a16:creationId xmlns:a16="http://schemas.microsoft.com/office/drawing/2014/main" id="{7AAC0C5C-C4AB-4F60-9005-139614D35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5550408"/>
            <a:ext cx="159105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B3122E"/>
                </a:solidFill>
                <a:latin typeface="Arial"/>
                <a:ea typeface="Arial"/>
                <a:cs typeface="Arial"/>
              </a:rPr>
              <a:t>Multi-signal monitoring</a:t>
            </a:r>
            <a:endParaRPr sz="950"/>
          </a:p>
        </p:txBody>
      </p:sp>
      <p:sp>
        <p:nvSpPr>
          <p:cNvPr id="36" name="Text 30">
            <a:extLst xmlns:a="http://schemas.openxmlformats.org/drawingml/2006/main">
              <a:ext uri="{FF2B5EF4-FFF2-40B4-BE49-F238E27FC236}">
                <a16:creationId xmlns:a16="http://schemas.microsoft.com/office/drawing/2014/main" id="{8F4BCD52-7B95-492D-92B2-E38CBF4D7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5907024"/>
            <a:ext cx="1591056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5A6478"/>
                </a:solidFill>
                <a:latin typeface="Arial"/>
                <a:ea typeface="Arial"/>
                <a:cs typeface="Arial"/>
              </a:rPr>
              <a:t>Route, stops, ETA, timer &amp; motion combined</a:t>
            </a:r>
            <a:endParaRPr sz="800"/>
          </a:p>
        </p:txBody>
      </p:sp>
      <p:sp>
        <p:nvSpPr>
          <p:cNvPr id="37" name="Shape 31">
            <a:extLst xmlns:a="http://schemas.openxmlformats.org/drawingml/2006/main">
              <a:ext uri="{FF2B5EF4-FFF2-40B4-BE49-F238E27FC236}">
                <a16:creationId xmlns:a16="http://schemas.microsoft.com/office/drawing/2014/main" id="{6CCCC36E-D266-4370-B6F6-C4590DCFD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096" y="5001768"/>
            <a:ext cx="1737360" cy="141732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2B8C0"/>
            </a:solidFill>
            <a:prstDash val="solid"/>
          </a:ln>
        </p:spPr>
      </p:sp>
      <p:sp>
        <p:nvSpPr>
          <p:cNvPr id="38" name="Shape 32">
            <a:extLst xmlns:a="http://schemas.openxmlformats.org/drawingml/2006/main">
              <a:ext uri="{FF2B5EF4-FFF2-40B4-BE49-F238E27FC236}">
                <a16:creationId xmlns:a16="http://schemas.microsoft.com/office/drawing/2014/main" id="{1F562E7A-EDB0-4F88-9C70-D387B69D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507492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9FA"/>
          </a:solidFill>
          <a:ln xmlns:a="http://schemas.openxmlformats.org/drawingml/2006/main" w="19050">
            <a:solidFill>
              <a:srgbClr val="DCE9FA"/>
            </a:solidFill>
            <a:prstDash val="solid"/>
          </a:ln>
        </p:spPr>
      </p:sp>
      <p:pic>
        <p:nvPicPr>
          <p:cNvPr id="140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cfd9da50bc4ee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46904" y="518464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40" name="Text 33">
            <a:extLst xmlns:a="http://schemas.openxmlformats.org/drawingml/2006/main">
              <a:ext uri="{FF2B5EF4-FFF2-40B4-BE49-F238E27FC236}">
                <a16:creationId xmlns:a16="http://schemas.microsoft.com/office/drawing/2014/main" id="{7D15A216-C0BB-403C-A629-894DBC19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5550408"/>
            <a:ext cx="159105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B3122E"/>
                </a:solidFill>
                <a:latin typeface="Arial"/>
                <a:ea typeface="Arial"/>
                <a:cs typeface="Arial"/>
              </a:rPr>
              <a:t>Misuse-resistant design</a:t>
            </a:r>
            <a:endParaRPr sz="950"/>
          </a:p>
        </p:txBody>
      </p:sp>
      <p:sp>
        <p:nvSpPr>
          <p:cNvPr id="41" name="Text 34">
            <a:extLst xmlns:a="http://schemas.openxmlformats.org/drawingml/2006/main">
              <a:ext uri="{FF2B5EF4-FFF2-40B4-BE49-F238E27FC236}">
                <a16:creationId xmlns:a16="http://schemas.microsoft.com/office/drawing/2014/main" id="{B28B5DD4-8220-4647-B324-BE467335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5907024"/>
            <a:ext cx="1591056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5A6478"/>
                </a:solidFill>
                <a:latin typeface="Arial"/>
                <a:ea typeface="Arial"/>
                <a:cs typeface="Arial"/>
              </a:rPr>
              <a:t>Anonymized alerts · rate limits · audit trails</a:t>
            </a:r>
            <a:endParaRPr sz="800"/>
          </a:p>
        </p:txBody>
      </p:sp>
      <p:sp>
        <p:nvSpPr>
          <p:cNvPr id="42" name="Shape 35">
            <a:extLst xmlns:a="http://schemas.openxmlformats.org/drawingml/2006/main">
              <a:ext uri="{FF2B5EF4-FFF2-40B4-BE49-F238E27FC236}">
                <a16:creationId xmlns:a16="http://schemas.microsoft.com/office/drawing/2014/main" id="{FB1207B6-88B3-4E53-A81E-E8A695462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188720"/>
            <a:ext cx="5559552" cy="5349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D"/>
          </a:solidFill>
          <a:ln xmlns:a="http://schemas.openxmlformats.org/drawingml/2006/main" w="19050">
            <a:solidFill>
              <a:srgbClr val="13235B"/>
            </a:solidFill>
            <a:prstDash val="solid"/>
          </a:ln>
        </p:spPr>
      </p:sp>
      <p:sp>
        <p:nvSpPr>
          <p:cNvPr id="43" name="Shape 36">
            <a:extLst xmlns:a="http://schemas.openxmlformats.org/drawingml/2006/main">
              <a:ext uri="{FF2B5EF4-FFF2-40B4-BE49-F238E27FC236}">
                <a16:creationId xmlns:a16="http://schemas.microsoft.com/office/drawing/2014/main" id="{CA127A1D-9B17-42F2-AAD0-CB7CEBA2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298448"/>
            <a:ext cx="5193792" cy="347472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0B63CE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sp>
        <p:nvSpPr>
          <p:cNvPr id="44" name="Text 37">
            <a:extLst xmlns:a="http://schemas.openxmlformats.org/drawingml/2006/main">
              <a:ext uri="{FF2B5EF4-FFF2-40B4-BE49-F238E27FC236}">
                <a16:creationId xmlns:a16="http://schemas.microsoft.com/office/drawing/2014/main" id="{C8695571-0B0B-47CE-97B4-5165406D3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298448"/>
            <a:ext cx="519379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SHOWSTOPPERS &amp; MITIGATION</a:t>
            </a:r>
            <a:endParaRPr sz="1300"/>
          </a:p>
        </p:txBody>
      </p:sp>
      <p:sp>
        <p:nvSpPr>
          <p:cNvPr id="45" name="Text 38">
            <a:extLst xmlns:a="http://schemas.openxmlformats.org/drawingml/2006/main">
              <a:ext uri="{FF2B5EF4-FFF2-40B4-BE49-F238E27FC236}">
                <a16:creationId xmlns:a16="http://schemas.microsoft.com/office/drawing/2014/main" id="{4E2D1B72-3C60-4809-B6C9-154E9A9A9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719072"/>
            <a:ext cx="2103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RISK</a:t>
            </a:r>
            <a:endParaRPr sz="1100"/>
          </a:p>
        </p:txBody>
      </p:sp>
      <p:sp>
        <p:nvSpPr>
          <p:cNvPr id="46" name="Text 39">
            <a:extLst xmlns:a="http://schemas.openxmlformats.org/drawingml/2006/main">
              <a:ext uri="{FF2B5EF4-FFF2-40B4-BE49-F238E27FC236}">
                <a16:creationId xmlns:a16="http://schemas.microsoft.com/office/drawing/2014/main" id="{A8EF51DE-9B85-4CAB-90B0-5D123D8E2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1719072"/>
            <a:ext cx="267919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MITIGATION</a:t>
            </a:r>
            <a:endParaRPr sz="1100"/>
          </a:p>
        </p:txBody>
      </p:sp>
      <p:sp>
        <p:nvSpPr>
          <p:cNvPr id="47" name="Shape 40">
            <a:extLst xmlns:a="http://schemas.openxmlformats.org/drawingml/2006/main">
              <a:ext uri="{FF2B5EF4-FFF2-40B4-BE49-F238E27FC236}">
                <a16:creationId xmlns:a16="http://schemas.microsoft.com/office/drawing/2014/main" id="{0B6D2615-E951-4605-B119-B3B8DD43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029968"/>
            <a:ext cx="2240280" cy="493776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B63CE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pic>
        <p:nvPicPr>
          <p:cNvPr id="149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6b88c586b84c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83680" y="2148840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49" name="Text 41">
            <a:extLst xmlns:a="http://schemas.openxmlformats.org/drawingml/2006/main">
              <a:ext uri="{FF2B5EF4-FFF2-40B4-BE49-F238E27FC236}">
                <a16:creationId xmlns:a16="http://schemas.microsoft.com/office/drawing/2014/main" id="{E86C0A85-269A-4304-A60D-192BB8E4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2029968"/>
            <a:ext cx="178308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GPS inaccuracy</a:t>
            </a:r>
            <a:endParaRPr sz="950"/>
          </a:p>
        </p:txBody>
      </p:sp>
      <p:sp>
        <p:nvSpPr>
          <p:cNvPr id="50" name="Shape 42">
            <a:extLst xmlns:a="http://schemas.openxmlformats.org/drawingml/2006/main">
              <a:ext uri="{FF2B5EF4-FFF2-40B4-BE49-F238E27FC236}">
                <a16:creationId xmlns:a16="http://schemas.microsoft.com/office/drawing/2014/main" id="{93F73833-2BC0-42CE-B3C2-FD9459D3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2276856"/>
            <a:ext cx="219456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13235B"/>
            </a:solidFill>
            <a:prstDash val="solid"/>
            <a:tailEnd type="triangle"/>
          </a:ln>
        </p:spPr>
      </p:sp>
      <p:sp>
        <p:nvSpPr>
          <p:cNvPr id="51" name="Shape 43">
            <a:extLst xmlns:a="http://schemas.openxmlformats.org/drawingml/2006/main">
              <a:ext uri="{FF2B5EF4-FFF2-40B4-BE49-F238E27FC236}">
                <a16:creationId xmlns:a16="http://schemas.microsoft.com/office/drawing/2014/main" id="{E2F37B91-013D-4056-8297-309DB5032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029968"/>
            <a:ext cx="2679192" cy="493776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E9FA"/>
          </a:solidFill>
          <a:ln xmlns:a="http://schemas.openxmlformats.org/drawingml/2006/main" w="12700">
            <a:solidFill>
              <a:srgbClr val="DCE9FA"/>
            </a:solidFill>
            <a:prstDash val="solid"/>
          </a:ln>
        </p:spPr>
      </p:sp>
      <p:sp>
        <p:nvSpPr>
          <p:cNvPr id="52" name="Text 44">
            <a:extLst xmlns:a="http://schemas.openxmlformats.org/drawingml/2006/main">
              <a:ext uri="{FF2B5EF4-FFF2-40B4-BE49-F238E27FC236}">
                <a16:creationId xmlns:a16="http://schemas.microsoft.com/office/drawing/2014/main" id="{E1260A5E-0267-46E5-93AB-768571F6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992" y="2029968"/>
            <a:ext cx="256032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13235B"/>
                </a:solidFill>
                <a:latin typeface="Arial"/>
                <a:ea typeface="Arial"/>
                <a:cs typeface="Arial"/>
              </a:rPr>
              <a:t>Accuracy filter + route buffer; confirm over several points</a:t>
            </a:r>
            <a:endParaRPr sz="850"/>
          </a:p>
        </p:txBody>
      </p:sp>
      <p:sp>
        <p:nvSpPr>
          <p:cNvPr id="53" name="Shape 45">
            <a:extLst xmlns:a="http://schemas.openxmlformats.org/drawingml/2006/main">
              <a:ext uri="{FF2B5EF4-FFF2-40B4-BE49-F238E27FC236}">
                <a16:creationId xmlns:a16="http://schemas.microsoft.com/office/drawing/2014/main" id="{C2AD9240-0F49-4386-8EE6-6EC2DDC86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615184"/>
            <a:ext cx="2240280" cy="493776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B63CE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pic>
        <p:nvPicPr>
          <p:cNvPr id="155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ad1b9d0b9844e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83680" y="2734056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55" name="Text 46">
            <a:extLst xmlns:a="http://schemas.openxmlformats.org/drawingml/2006/main">
              <a:ext uri="{FF2B5EF4-FFF2-40B4-BE49-F238E27FC236}">
                <a16:creationId xmlns:a16="http://schemas.microsoft.com/office/drawing/2014/main" id="{045311F7-8126-4206-AA5C-0F21CF69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2615184"/>
            <a:ext cx="178308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False alarms</a:t>
            </a:r>
            <a:endParaRPr sz="950"/>
          </a:p>
        </p:txBody>
      </p:sp>
      <p:sp>
        <p:nvSpPr>
          <p:cNvPr id="56" name="Shape 47">
            <a:extLst xmlns:a="http://schemas.openxmlformats.org/drawingml/2006/main">
              <a:ext uri="{FF2B5EF4-FFF2-40B4-BE49-F238E27FC236}">
                <a16:creationId xmlns:a16="http://schemas.microsoft.com/office/drawing/2014/main" id="{50ED392E-CDDA-4E71-AA8B-1BD97BA6C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2862072"/>
            <a:ext cx="219456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13235B"/>
            </a:solidFill>
            <a:prstDash val="solid"/>
            <a:tailEnd type="triangle"/>
          </a:ln>
        </p:spPr>
      </p:sp>
      <p:sp>
        <p:nvSpPr>
          <p:cNvPr id="57" name="Shape 48">
            <a:extLst xmlns:a="http://schemas.openxmlformats.org/drawingml/2006/main">
              <a:ext uri="{FF2B5EF4-FFF2-40B4-BE49-F238E27FC236}">
                <a16:creationId xmlns:a16="http://schemas.microsoft.com/office/drawing/2014/main" id="{8F5BD3F6-65D7-4C15-BE68-6185A96E1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615184"/>
            <a:ext cx="2679192" cy="493776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E9FA"/>
          </a:solidFill>
          <a:ln xmlns:a="http://schemas.openxmlformats.org/drawingml/2006/main" w="12700">
            <a:solidFill>
              <a:srgbClr val="DCE9FA"/>
            </a:solidFill>
            <a:prstDash val="solid"/>
          </a:ln>
        </p:spPr>
      </p:sp>
      <p:sp>
        <p:nvSpPr>
          <p:cNvPr id="58" name="Text 49">
            <a:extLst xmlns:a="http://schemas.openxmlformats.org/drawingml/2006/main">
              <a:ext uri="{FF2B5EF4-FFF2-40B4-BE49-F238E27FC236}">
                <a16:creationId xmlns:a16="http://schemas.microsoft.com/office/drawing/2014/main" id="{4669FC11-9FD4-430F-9BEE-CDAAB263A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992" y="2615184"/>
            <a:ext cx="256032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13235B"/>
                </a:solidFill>
                <a:latin typeface="Arial"/>
                <a:ea typeface="Arial"/>
                <a:cs typeface="Arial"/>
              </a:rPr>
              <a:t>Check-in + cancel window + safe PIN; no public accusation feed or identity display</a:t>
            </a:r>
            <a:endParaRPr sz="850"/>
          </a:p>
        </p:txBody>
      </p:sp>
      <p:sp>
        <p:nvSpPr>
          <p:cNvPr id="59" name="Shape 50">
            <a:extLst xmlns:a="http://schemas.openxmlformats.org/drawingml/2006/main">
              <a:ext uri="{FF2B5EF4-FFF2-40B4-BE49-F238E27FC236}">
                <a16:creationId xmlns:a16="http://schemas.microsoft.com/office/drawing/2014/main" id="{068B11D4-BC18-462D-98E8-5657E614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200400"/>
            <a:ext cx="2240280" cy="493776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B63CE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pic>
        <p:nvPicPr>
          <p:cNvPr id="161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1d3d0b51b2475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83680" y="3319272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61" name="Text 51">
            <a:extLst xmlns:a="http://schemas.openxmlformats.org/drawingml/2006/main">
              <a:ext uri="{FF2B5EF4-FFF2-40B4-BE49-F238E27FC236}">
                <a16:creationId xmlns:a16="http://schemas.microsoft.com/office/drawing/2014/main" id="{82FC3A33-A719-41A1-A469-A4C41E55B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3200400"/>
            <a:ext cx="178308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Poor network</a:t>
            </a:r>
            <a:endParaRPr sz="950"/>
          </a:p>
        </p:txBody>
      </p:sp>
      <p:sp>
        <p:nvSpPr>
          <p:cNvPr id="62" name="Shape 52">
            <a:extLst xmlns:a="http://schemas.openxmlformats.org/drawingml/2006/main">
              <a:ext uri="{FF2B5EF4-FFF2-40B4-BE49-F238E27FC236}">
                <a16:creationId xmlns:a16="http://schemas.microsoft.com/office/drawing/2014/main" id="{CAC2476F-E5B4-4E4A-9315-F27523D05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3447288"/>
            <a:ext cx="219456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13235B"/>
            </a:solidFill>
            <a:prstDash val="solid"/>
            <a:tailEnd type="triangle"/>
          </a:ln>
        </p:spPr>
      </p:sp>
      <p:sp>
        <p:nvSpPr>
          <p:cNvPr id="63" name="Shape 53">
            <a:extLst xmlns:a="http://schemas.openxmlformats.org/drawingml/2006/main">
              <a:ext uri="{FF2B5EF4-FFF2-40B4-BE49-F238E27FC236}">
                <a16:creationId xmlns:a16="http://schemas.microsoft.com/office/drawing/2014/main" id="{217392BE-3F62-4E61-A5C7-271C2904E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3200400"/>
            <a:ext cx="2679192" cy="493776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E9FA"/>
          </a:solidFill>
          <a:ln xmlns:a="http://schemas.openxmlformats.org/drawingml/2006/main" w="12700">
            <a:solidFill>
              <a:srgbClr val="DCE9FA"/>
            </a:solidFill>
            <a:prstDash val="solid"/>
          </a:ln>
        </p:spPr>
      </p:sp>
      <p:sp>
        <p:nvSpPr>
          <p:cNvPr id="64" name="Text 54">
            <a:extLst xmlns:a="http://schemas.openxmlformats.org/drawingml/2006/main">
              <a:ext uri="{FF2B5EF4-FFF2-40B4-BE49-F238E27FC236}">
                <a16:creationId xmlns:a16="http://schemas.microsoft.com/office/drawing/2014/main" id="{2D045C71-26AA-4F8A-8AD2-005D3A4B2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992" y="3200400"/>
            <a:ext cx="256032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13235B"/>
                </a:solidFill>
                <a:latin typeface="Arial"/>
                <a:ea typeface="Arial"/>
                <a:cs typeface="Arial"/>
              </a:rPr>
              <a:t>SMS fallback with last location; queue &amp; retry</a:t>
            </a:r>
            <a:endParaRPr sz="850"/>
          </a:p>
        </p:txBody>
      </p:sp>
      <p:sp>
        <p:nvSpPr>
          <p:cNvPr id="65" name="Shape 55">
            <a:extLst xmlns:a="http://schemas.openxmlformats.org/drawingml/2006/main">
              <a:ext uri="{FF2B5EF4-FFF2-40B4-BE49-F238E27FC236}">
                <a16:creationId xmlns:a16="http://schemas.microsoft.com/office/drawing/2014/main" id="{C0A47592-1C04-44D0-ADF2-A14FE794E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785616"/>
            <a:ext cx="2240280" cy="493776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B63CE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pic>
        <p:nvPicPr>
          <p:cNvPr id="167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4fbe6248be42b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83680" y="3904488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67" name="Text 56">
            <a:extLst xmlns:a="http://schemas.openxmlformats.org/drawingml/2006/main">
              <a:ext uri="{FF2B5EF4-FFF2-40B4-BE49-F238E27FC236}">
                <a16:creationId xmlns:a16="http://schemas.microsoft.com/office/drawing/2014/main" id="{D0A988CB-11A5-44FB-96C9-16C658DF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3785616"/>
            <a:ext cx="178308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Battery drain</a:t>
            </a:r>
            <a:endParaRPr sz="950"/>
          </a:p>
        </p:txBody>
      </p:sp>
      <p:sp>
        <p:nvSpPr>
          <p:cNvPr id="68" name="Shape 57">
            <a:extLst xmlns:a="http://schemas.openxmlformats.org/drawingml/2006/main">
              <a:ext uri="{FF2B5EF4-FFF2-40B4-BE49-F238E27FC236}">
                <a16:creationId xmlns:a16="http://schemas.microsoft.com/office/drawing/2014/main" id="{D8A92BD5-3A97-4F25-BCD9-96B76098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4032504"/>
            <a:ext cx="219456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13235B"/>
            </a:solidFill>
            <a:prstDash val="solid"/>
            <a:tailEnd type="triangle"/>
          </a:ln>
        </p:spPr>
      </p:sp>
      <p:sp>
        <p:nvSpPr>
          <p:cNvPr id="69" name="Shape 58">
            <a:extLst xmlns:a="http://schemas.openxmlformats.org/drawingml/2006/main">
              <a:ext uri="{FF2B5EF4-FFF2-40B4-BE49-F238E27FC236}">
                <a16:creationId xmlns:a16="http://schemas.microsoft.com/office/drawing/2014/main" id="{BAE56DA3-0072-46A9-8FB1-A8F6F2D3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3785616"/>
            <a:ext cx="2679192" cy="493776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E9FA"/>
          </a:solidFill>
          <a:ln xmlns:a="http://schemas.openxmlformats.org/drawingml/2006/main" w="12700">
            <a:solidFill>
              <a:srgbClr val="DCE9FA"/>
            </a:solidFill>
            <a:prstDash val="solid"/>
          </a:ln>
        </p:spPr>
      </p:sp>
      <p:sp>
        <p:nvSpPr>
          <p:cNvPr id="70" name="Text 59">
            <a:extLst xmlns:a="http://schemas.openxmlformats.org/drawingml/2006/main">
              <a:ext uri="{FF2B5EF4-FFF2-40B4-BE49-F238E27FC236}">
                <a16:creationId xmlns:a16="http://schemas.microsoft.com/office/drawing/2014/main" id="{29B39641-6C47-4204-968E-D32210ABD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992" y="3785616"/>
            <a:ext cx="256032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13235B"/>
                </a:solidFill>
                <a:latin typeface="Arial"/>
                <a:ea typeface="Arial"/>
                <a:cs typeface="Arial"/>
              </a:rPr>
              <a:t>Adaptive GPS sampling; monitor only during a journey</a:t>
            </a:r>
            <a:endParaRPr sz="850"/>
          </a:p>
        </p:txBody>
      </p:sp>
      <p:sp>
        <p:nvSpPr>
          <p:cNvPr id="71" name="Shape 60">
            <a:extLst xmlns:a="http://schemas.openxmlformats.org/drawingml/2006/main">
              <a:ext uri="{FF2B5EF4-FFF2-40B4-BE49-F238E27FC236}">
                <a16:creationId xmlns:a16="http://schemas.microsoft.com/office/drawing/2014/main" id="{5416F560-A2DF-421D-AA8D-C19B4F76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370832"/>
            <a:ext cx="2240280" cy="493776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B63CE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pic>
        <p:nvPicPr>
          <p:cNvPr id="173" name="Imag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9f21cabaee4a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83680" y="4489704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73" name="Text 61">
            <a:extLst xmlns:a="http://schemas.openxmlformats.org/drawingml/2006/main">
              <a:ext uri="{FF2B5EF4-FFF2-40B4-BE49-F238E27FC236}">
                <a16:creationId xmlns:a16="http://schemas.microsoft.com/office/drawing/2014/main" id="{4258CD65-0AA4-4AB2-946C-46C30989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370832"/>
            <a:ext cx="178308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Privacy &amp; security</a:t>
            </a:r>
            <a:endParaRPr sz="950"/>
          </a:p>
        </p:txBody>
      </p:sp>
      <p:sp>
        <p:nvSpPr>
          <p:cNvPr id="74" name="Shape 62">
            <a:extLst xmlns:a="http://schemas.openxmlformats.org/drawingml/2006/main">
              <a:ext uri="{FF2B5EF4-FFF2-40B4-BE49-F238E27FC236}">
                <a16:creationId xmlns:a16="http://schemas.microsoft.com/office/drawing/2014/main" id="{DAA9847E-DF6C-48FD-9F4F-2AAA153A3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4617720"/>
            <a:ext cx="219456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13235B"/>
            </a:solidFill>
            <a:prstDash val="solid"/>
            <a:tailEnd type="triangle"/>
          </a:ln>
        </p:spPr>
      </p:sp>
      <p:sp>
        <p:nvSpPr>
          <p:cNvPr id="75" name="Shape 63">
            <a:extLst xmlns:a="http://schemas.openxmlformats.org/drawingml/2006/main">
              <a:ext uri="{FF2B5EF4-FFF2-40B4-BE49-F238E27FC236}">
                <a16:creationId xmlns:a16="http://schemas.microsoft.com/office/drawing/2014/main" id="{1B679358-15AF-4EDF-88E5-231B86E36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370832"/>
            <a:ext cx="2679192" cy="493776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E9FA"/>
          </a:solidFill>
          <a:ln xmlns:a="http://schemas.openxmlformats.org/drawingml/2006/main" w="12700">
            <a:solidFill>
              <a:srgbClr val="DCE9FA"/>
            </a:solidFill>
            <a:prstDash val="solid"/>
          </a:ln>
        </p:spPr>
      </p:sp>
      <p:sp>
        <p:nvSpPr>
          <p:cNvPr id="76" name="Text 64">
            <a:extLst xmlns:a="http://schemas.openxmlformats.org/drawingml/2006/main">
              <a:ext uri="{FF2B5EF4-FFF2-40B4-BE49-F238E27FC236}">
                <a16:creationId xmlns:a16="http://schemas.microsoft.com/office/drawing/2014/main" id="{FE87D6F1-0153-40CE-A780-D085422F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992" y="4370832"/>
            <a:ext cx="256032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13235B"/>
                </a:solidFill>
                <a:latin typeface="Arial"/>
                <a:ea typeface="Arial"/>
                <a:cs typeface="Arial"/>
              </a:rPr>
              <a:t>Explicit consent, journey-only sharing, TLS, auto-delete; nearby alerts hide identity</a:t>
            </a:r>
            <a:endParaRPr sz="850"/>
          </a:p>
        </p:txBody>
      </p:sp>
      <p:sp>
        <p:nvSpPr>
          <p:cNvPr id="77" name="Shape 65">
            <a:extLst xmlns:a="http://schemas.openxmlformats.org/drawingml/2006/main">
              <a:ext uri="{FF2B5EF4-FFF2-40B4-BE49-F238E27FC236}">
                <a16:creationId xmlns:a16="http://schemas.microsoft.com/office/drawing/2014/main" id="{06683140-50F7-4A47-85BA-145988BA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956048"/>
            <a:ext cx="2240280" cy="493776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B63CE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pic>
        <p:nvPicPr>
          <p:cNvPr id="179" name="Imag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d83ee268494d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83680" y="5074920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79" name="Text 66">
            <a:extLst xmlns:a="http://schemas.openxmlformats.org/drawingml/2006/main">
              <a:ext uri="{FF2B5EF4-FFF2-40B4-BE49-F238E27FC236}">
                <a16:creationId xmlns:a16="http://schemas.microsoft.com/office/drawing/2014/main" id="{61B59A2C-7199-40DD-8C27-6B8D39369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956048"/>
            <a:ext cx="178308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Background-location limits</a:t>
            </a:r>
            <a:endParaRPr sz="950"/>
          </a:p>
        </p:txBody>
      </p:sp>
      <p:sp>
        <p:nvSpPr>
          <p:cNvPr id="80" name="Shape 67">
            <a:extLst xmlns:a="http://schemas.openxmlformats.org/drawingml/2006/main">
              <a:ext uri="{FF2B5EF4-FFF2-40B4-BE49-F238E27FC236}">
                <a16:creationId xmlns:a16="http://schemas.microsoft.com/office/drawing/2014/main" id="{C7DEB338-85A3-4027-A03E-808999A5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5202936"/>
            <a:ext cx="219456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13235B"/>
            </a:solidFill>
            <a:prstDash val="solid"/>
            <a:tailEnd type="triangle"/>
          </a:ln>
        </p:spPr>
      </p:sp>
      <p:sp>
        <p:nvSpPr>
          <p:cNvPr id="81" name="Shape 68">
            <a:extLst xmlns:a="http://schemas.openxmlformats.org/drawingml/2006/main">
              <a:ext uri="{FF2B5EF4-FFF2-40B4-BE49-F238E27FC236}">
                <a16:creationId xmlns:a16="http://schemas.microsoft.com/office/drawing/2014/main" id="{CA81536F-292D-4E13-93C6-E74BF6AE3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956048"/>
            <a:ext cx="2679192" cy="493776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E9FA"/>
          </a:solidFill>
          <a:ln xmlns:a="http://schemas.openxmlformats.org/drawingml/2006/main" w="12700">
            <a:solidFill>
              <a:srgbClr val="DCE9FA"/>
            </a:solidFill>
            <a:prstDash val="solid"/>
          </a:ln>
        </p:spPr>
      </p:sp>
      <p:sp>
        <p:nvSpPr>
          <p:cNvPr id="82" name="Text 69">
            <a:extLst xmlns:a="http://schemas.openxmlformats.org/drawingml/2006/main">
              <a:ext uri="{FF2B5EF4-FFF2-40B4-BE49-F238E27FC236}">
                <a16:creationId xmlns:a16="http://schemas.microsoft.com/office/drawing/2014/main" id="{4F9C8990-56C3-4673-A8AA-DF6A533A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992" y="4956048"/>
            <a:ext cx="256032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13235B"/>
                </a:solidFill>
                <a:latin typeface="Arial"/>
                <a:ea typeface="Arial"/>
                <a:cs typeface="Arial"/>
              </a:rPr>
              <a:t>Foreground service with visible notification (Android policy)</a:t>
            </a:r>
            <a:endParaRPr sz="850"/>
          </a:p>
        </p:txBody>
      </p:sp>
      <p:sp>
        <p:nvSpPr>
          <p:cNvPr id="83" name="Shape 70">
            <a:extLst xmlns:a="http://schemas.openxmlformats.org/drawingml/2006/main">
              <a:ext uri="{FF2B5EF4-FFF2-40B4-BE49-F238E27FC236}">
                <a16:creationId xmlns:a16="http://schemas.microsoft.com/office/drawing/2014/main" id="{17A0B710-5E38-48CC-A242-2CEE0F54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5541264"/>
            <a:ext cx="2240280" cy="493776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B63CE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pic>
        <p:nvPicPr>
          <p:cNvPr id="185" name="Imag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f1f72393ed4c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83680" y="5660136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85" name="Text 71">
            <a:extLst xmlns:a="http://schemas.openxmlformats.org/drawingml/2006/main">
              <a:ext uri="{FF2B5EF4-FFF2-40B4-BE49-F238E27FC236}">
                <a16:creationId xmlns:a16="http://schemas.microsoft.com/office/drawing/2014/main" id="{ED7007E4-AA7A-42CA-B64E-72D2FD9D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5541264"/>
            <a:ext cx="178308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 mis-scoring</a:t>
            </a:r>
            <a:endParaRPr sz="950"/>
          </a:p>
        </p:txBody>
      </p:sp>
      <p:sp>
        <p:nvSpPr>
          <p:cNvPr id="86" name="Shape 72">
            <a:extLst xmlns:a="http://schemas.openxmlformats.org/drawingml/2006/main">
              <a:ext uri="{FF2B5EF4-FFF2-40B4-BE49-F238E27FC236}">
                <a16:creationId xmlns:a16="http://schemas.microsoft.com/office/drawing/2014/main" id="{A28BE7EC-DB46-4C99-AF5C-3488C03D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5788152"/>
            <a:ext cx="219456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13235B"/>
            </a:solidFill>
            <a:prstDash val="solid"/>
            <a:tailEnd type="triangle"/>
          </a:ln>
        </p:spPr>
      </p:sp>
      <p:sp>
        <p:nvSpPr>
          <p:cNvPr id="87" name="Shape 73">
            <a:extLst xmlns:a="http://schemas.openxmlformats.org/drawingml/2006/main">
              <a:ext uri="{FF2B5EF4-FFF2-40B4-BE49-F238E27FC236}">
                <a16:creationId xmlns:a16="http://schemas.microsoft.com/office/drawing/2014/main" id="{2E4AB99A-EBC2-4AAE-9672-E0098D04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5541264"/>
            <a:ext cx="2679192" cy="493776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E9FA"/>
          </a:solidFill>
          <a:ln xmlns:a="http://schemas.openxmlformats.org/drawingml/2006/main" w="12700">
            <a:solidFill>
              <a:srgbClr val="DCE9FA"/>
            </a:solidFill>
            <a:prstDash val="solid"/>
          </a:ln>
        </p:spPr>
      </p:sp>
      <p:sp>
        <p:nvSpPr>
          <p:cNvPr id="88" name="Text 74">
            <a:extLst xmlns:a="http://schemas.openxmlformats.org/drawingml/2006/main">
              <a:ext uri="{FF2B5EF4-FFF2-40B4-BE49-F238E27FC236}">
                <a16:creationId xmlns:a16="http://schemas.microsoft.com/office/drawing/2014/main" id="{0FA59144-76BE-4EC7-830E-47D9D19B7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992" y="5541264"/>
            <a:ext cx="256032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13235B"/>
                </a:solidFill>
                <a:latin typeface="Arial"/>
                <a:ea typeface="Arial"/>
                <a:cs typeface="Arial"/>
              </a:rPr>
              <a:t>AI only raises signals; rules + user confirmation decide</a:t>
            </a:r>
            <a:endParaRPr sz="850"/>
          </a:p>
        </p:txBody>
      </p:sp>
      <p:sp>
        <p:nvSpPr>
          <p:cNvPr id="89" name="Text 75">
            <a:extLst xmlns:a="http://schemas.openxmlformats.org/drawingml/2006/main">
              <a:ext uri="{FF2B5EF4-FFF2-40B4-BE49-F238E27FC236}">
                <a16:creationId xmlns:a16="http://schemas.microsoft.com/office/drawing/2014/main" id="{46F731E5-1B6C-4346-A51A-2F53C52CB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6144768"/>
            <a:ext cx="519379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i="1">
                <a:solidFill>
                  <a:srgbClr val="B3122E"/>
                </a:solidFill>
                <a:latin typeface="Arial"/>
                <a:ea typeface="Arial"/>
                <a:cs typeface="Arial"/>
              </a:rPr>
              <a:t>SafeSaathi is an assistive tool — it complements, never replaces, 112 and police. It does not predict or prevent crime.</a:t>
            </a:r>
            <a:endParaRPr sz="850"/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FEA02B9-8335-45F1-8E51-B58FFC380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532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3235B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900" b="1">
                <a:solidFill>
                  <a:srgbClr val="13235B"/>
                </a:solidFill>
                <a:latin typeface="Segoe UI Symbol"/>
                <a:ea typeface="Segoe UI Symbol"/>
                <a:cs typeface="Segoe UI Symbol"/>
              </a:rPr>
              <a:t>⛨  ⌖  ●—●</a:t>
            </a:r>
          </a:p>
        </p:txBody>
      </p:sp>
    </p:spTree>
    <p:extLst>
      <p:ext uri="{BB962C8B-B14F-4D97-AF65-F5344CB8AC3E}">
        <p14:creationId xmlns:p14="http://schemas.microsoft.com/office/powerpoint/2010/main" val="5075913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4C22744-8C2C-46BB-84A9-2AA219BB7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01168"/>
            <a:ext cx="210312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808080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E9FF670-C75C-4C01-A255-311391A87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01168"/>
            <a:ext cx="21031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1B1B1B"/>
                </a:solidFill>
                <a:latin typeface="Arial"/>
                <a:ea typeface="Arial"/>
                <a:cs typeface="Arial"/>
              </a:rPr>
              <a:t>[TEAM NAME]</a:t>
            </a:r>
            <a:endParaRPr sz="1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FF0FF61-0CC5-4C31-850E-226C9AFAF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109728"/>
            <a:ext cx="69494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1B1B1B"/>
                </a:solidFill>
                <a:latin typeface="Times New Roman"/>
                <a:ea typeface="Times New Roman"/>
                <a:cs typeface="Times New Roman"/>
              </a:rPr>
              <a:t>BUSINESS MODEL &amp; REFERENCES</a:t>
            </a:r>
            <a:endParaRPr sz="2800"/>
          </a:p>
        </p:txBody>
      </p:sp>
      <p:pic>
        <p:nvPicPr>
          <p:cNvPr id="6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b4376640ef46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29800" y="109728"/>
            <a:ext cx="1051560" cy="841248"/>
          </a:xfrm>
          <a:prstGeom xmlns:a="http://schemas.openxmlformats.org/drawingml/2006/main" prst="rect">
            <a:avLst/>
          </a:prstGeom>
        </p:spPr>
      </p:pic>
      <p:pic>
        <p:nvPicPr>
          <p:cNvPr id="6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cc2e9aa0fc45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72800" y="91440"/>
            <a:ext cx="923544" cy="868680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6DE83A49-5B43-4C83-A348-780A2586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188720"/>
            <a:ext cx="6446520" cy="5349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D"/>
          </a:solidFill>
          <a:ln xmlns:a="http://schemas.openxmlformats.org/drawingml/2006/main" w="19050">
            <a:solidFill>
              <a:srgbClr val="13235B"/>
            </a:solidFill>
            <a:prstDash val="solid"/>
          </a:ln>
        </p:spPr>
      </p:sp>
      <p:sp>
        <p:nvSpPr>
          <p:cNvPr id="8" name="Shape 4">
            <a:extLst xmlns:a="http://schemas.openxmlformats.org/drawingml/2006/main">
              <a:ext uri="{FF2B5EF4-FFF2-40B4-BE49-F238E27FC236}">
                <a16:creationId xmlns:a16="http://schemas.microsoft.com/office/drawing/2014/main" id="{7BDB2DF5-BEE6-4979-828C-82354C01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6080760" cy="347472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0B63CE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FDACF922-4FB9-46A5-8BD6-46AE34D2A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6080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BUSINESS MODEL — FREEMIUM B2C</a:t>
            </a:r>
            <a:endParaRPr sz="13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A016844F-FC58-4082-B049-42A5CDBF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2971800" cy="2331720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E32641FD-44A0-416D-ADC5-4969C966C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2971800" cy="50292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0B63CE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pic>
        <p:nvPicPr>
          <p:cNvPr id="6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e59b85965d4b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1892808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0E35746E-A652-4DD4-947D-04E4CA3D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783080"/>
            <a:ext cx="1188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FREE</a:t>
            </a:r>
            <a:endParaRPr sz="13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C5E086CF-4548-4F7E-9547-B9701C7C2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783080"/>
            <a:ext cx="13258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 i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forever</a:t>
            </a:r>
            <a:endParaRPr sz="85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7C0814B4-FC97-4140-8DB9-AA9757C3C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423160"/>
            <a:ext cx="274320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700"/>
              </a:spcAft>
              <a:buSzPct val="100000"/>
              <a:buChar char="•"/>
            </a:pPr>
            <a:r>
              <a:rPr sz="1150">
                <a:solidFill>
                  <a:srgbClr val="1B1B1B"/>
                </a:solidFill>
                <a:latin typeface="Arial"/>
                <a:ea typeface="Arial"/>
                <a:cs typeface="Arial"/>
              </a:rPr>
              <a:t>One-tap, shake &amp; voice SOS</a:t>
            </a:r>
            <a:endParaRPr sz="1150"/>
          </a:p>
          <a:p xmlns:a="http://schemas.openxmlformats.org/drawingml/2006/main">
            <a:pPr marL="342900" indent="-342900">
              <a:spcAft>
                <a:spcPts val="700"/>
              </a:spcAft>
              <a:buSzPct val="100000"/>
              <a:buChar char="•"/>
            </a:pPr>
            <a:r>
              <a:rPr sz="1150">
                <a:solidFill>
                  <a:srgbClr val="1B1B1B"/>
                </a:solidFill>
                <a:latin typeface="Arial"/>
                <a:ea typeface="Arial"/>
                <a:cs typeface="Arial"/>
              </a:rPr>
              <a:t>Trusted contacts</a:t>
            </a:r>
            <a:endParaRPr sz="1150"/>
          </a:p>
          <a:p xmlns:a="http://schemas.openxmlformats.org/drawingml/2006/main">
            <a:pPr marL="342900" indent="-342900">
              <a:spcAft>
                <a:spcPts val="700"/>
              </a:spcAft>
              <a:buSzPct val="100000"/>
              <a:buChar char="•"/>
            </a:pPr>
            <a:r>
              <a:rPr sz="1150">
                <a:solidFill>
                  <a:srgbClr val="1B1B1B"/>
                </a:solidFill>
                <a:latin typeface="Arial"/>
                <a:ea typeface="Arial"/>
                <a:cs typeface="Arial"/>
              </a:rPr>
              <a:t>Basic live location sharing</a:t>
            </a:r>
            <a:endParaRPr sz="1150"/>
          </a:p>
          <a:p xmlns:a="http://schemas.openxmlformats.org/drawingml/2006/main">
            <a:pPr marL="342900" indent="-342900">
              <a:spcAft>
                <a:spcPts val="700"/>
              </a:spcAft>
              <a:buSzPct val="100000"/>
              <a:buChar char="•"/>
            </a:pPr>
            <a:r>
              <a:rPr sz="1150">
                <a:solidFill>
                  <a:srgbClr val="1B1B1B"/>
                </a:solidFill>
                <a:latin typeface="Arial"/>
                <a:ea typeface="Arial"/>
                <a:cs typeface="Arial"/>
              </a:rPr>
              <a:t>Nearby help + emergency siren</a:t>
            </a:r>
            <a:endParaRPr sz="1150"/>
          </a:p>
          <a:p xmlns:a="http://schemas.openxmlformats.org/drawingml/2006/main">
            <a:pPr marL="342900" indent="-342900">
              <a:spcAft>
                <a:spcPts val="700"/>
              </a:spcAft>
              <a:buSzPct val="100000"/>
              <a:buChar char="•"/>
            </a:pPr>
            <a:r>
              <a:rPr sz="1150">
                <a:solidFill>
                  <a:srgbClr val="1B1B1B"/>
                </a:solidFill>
                <a:latin typeface="Arial"/>
                <a:ea typeface="Arial"/>
                <a:cs typeface="Arial"/>
              </a:rPr>
              <a:t>Safety timer</a:t>
            </a:r>
            <a:endParaRPr sz="1150"/>
          </a:p>
        </p:txBody>
      </p:sp>
      <p:sp>
        <p:nvSpPr>
          <p:cNvPr id="16" name="Shape 11">
            <a:extLst xmlns:a="http://schemas.openxmlformats.org/drawingml/2006/main">
              <a:ext uri="{FF2B5EF4-FFF2-40B4-BE49-F238E27FC236}">
                <a16:creationId xmlns:a16="http://schemas.microsoft.com/office/drawing/2014/main" id="{8716EA34-DFB2-4F72-A62F-1A369390E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1783080"/>
            <a:ext cx="2971800" cy="2331720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3122E"/>
            </a:solidFill>
            <a:prstDash val="solid"/>
          </a:ln>
        </p:spPr>
      </p:sp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2ED227A7-DE7A-440B-AE88-3EA9FA5A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1783080"/>
            <a:ext cx="2971800" cy="50292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B3122E"/>
          </a:solidFill>
          <a:ln xmlns:a="http://schemas.openxmlformats.org/drawingml/2006/main" w="12700">
            <a:solidFill>
              <a:srgbClr val="B3122E"/>
            </a:solidFill>
            <a:prstDash val="solid"/>
          </a:ln>
        </p:spPr>
      </p:sp>
      <p:pic>
        <p:nvPicPr>
          <p:cNvPr id="73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2536fed2864b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49040" y="1892808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19" name="Text 13">
            <a:extLst xmlns:a="http://schemas.openxmlformats.org/drawingml/2006/main">
              <a:ext uri="{FF2B5EF4-FFF2-40B4-BE49-F238E27FC236}">
                <a16:creationId xmlns:a16="http://schemas.microsoft.com/office/drawing/2014/main" id="{1A490E0C-A296-4BD4-8336-0709845F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783080"/>
            <a:ext cx="1188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PREMIUM</a:t>
            </a:r>
            <a:endParaRPr sz="1300"/>
          </a:p>
        </p:txBody>
      </p:sp>
      <p:sp>
        <p:nvSpPr>
          <p:cNvPr id="20" name="Text 14">
            <a:extLst xmlns:a="http://schemas.openxmlformats.org/drawingml/2006/main">
              <a:ext uri="{FF2B5EF4-FFF2-40B4-BE49-F238E27FC236}">
                <a16:creationId xmlns:a16="http://schemas.microsoft.com/office/drawing/2014/main" id="{84D87152-8610-4724-8F5C-483FB7A0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1783080"/>
            <a:ext cx="13258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 i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low-cost monthly / yearly</a:t>
            </a:r>
            <a:endParaRPr sz="850"/>
          </a:p>
        </p:txBody>
      </p:sp>
      <p:sp>
        <p:nvSpPr>
          <p:cNvPr id="21" name="Text 15">
            <a:extLst xmlns:a="http://schemas.openxmlformats.org/drawingml/2006/main">
              <a:ext uri="{FF2B5EF4-FFF2-40B4-BE49-F238E27FC236}">
                <a16:creationId xmlns:a16="http://schemas.microsoft.com/office/drawing/2014/main" id="{95723171-5D82-4151-A62A-9ED90A3F5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2423160"/>
            <a:ext cx="274320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700"/>
              </a:spcAft>
              <a:buSzPct val="100000"/>
              <a:buChar char="•"/>
            </a:pPr>
            <a:r>
              <a:rPr sz="1150">
                <a:solidFill>
                  <a:srgbClr val="1B1B1B"/>
                </a:solidFill>
                <a:latin typeface="Arial"/>
                <a:ea typeface="Arial"/>
                <a:cs typeface="Arial"/>
              </a:rPr>
              <a:t>Automated Guardian Journey</a:t>
            </a:r>
            <a:endParaRPr sz="1150"/>
          </a:p>
          <a:p xmlns:a="http://schemas.openxmlformats.org/drawingml/2006/main">
            <a:pPr marL="342900" indent="-342900">
              <a:spcAft>
                <a:spcPts val="700"/>
              </a:spcAft>
              <a:buSzPct val="100000"/>
              <a:buChar char="•"/>
            </a:pPr>
            <a:r>
              <a:rPr sz="1150">
                <a:solidFill>
                  <a:srgbClr val="1B1B1B"/>
                </a:solidFill>
                <a:latin typeface="Arial"/>
                <a:ea typeface="Arial"/>
                <a:cs typeface="Arial"/>
              </a:rPr>
              <a:t>Route-deviation &amp; stop alerts</a:t>
            </a:r>
            <a:endParaRPr sz="1150"/>
          </a:p>
          <a:p xmlns:a="http://schemas.openxmlformats.org/drawingml/2006/main">
            <a:pPr marL="342900" indent="-342900">
              <a:spcAft>
                <a:spcPts val="700"/>
              </a:spcAft>
              <a:buSzPct val="100000"/>
              <a:buChar char="•"/>
            </a:pPr>
            <a:r>
              <a:rPr sz="1150">
                <a:solidFill>
                  <a:srgbClr val="1B1B1B"/>
                </a:solidFill>
                <a:latin typeface="Arial"/>
                <a:ea typeface="Arial"/>
                <a:cs typeface="Arial"/>
              </a:rPr>
              <a:t>AI-assisted risk signals</a:t>
            </a:r>
            <a:endParaRPr sz="1150"/>
          </a:p>
          <a:p xmlns:a="http://schemas.openxmlformats.org/drawingml/2006/main">
            <a:pPr marL="342900" indent="-342900">
              <a:spcAft>
                <a:spcPts val="700"/>
              </a:spcAft>
              <a:buSzPct val="100000"/>
              <a:buChar char="•"/>
            </a:pPr>
            <a:r>
              <a:rPr sz="1150">
                <a:solidFill>
                  <a:srgbClr val="1B1B1B"/>
                </a:solidFill>
                <a:latin typeface="Arial"/>
                <a:ea typeface="Arial"/>
                <a:cs typeface="Arial"/>
              </a:rPr>
              <a:t>Extended journey history</a:t>
            </a:r>
            <a:endParaRPr sz="1150"/>
          </a:p>
          <a:p xmlns:a="http://schemas.openxmlformats.org/drawingml/2006/main">
            <a:pPr marL="342900" indent="-342900">
              <a:spcAft>
                <a:spcPts val="700"/>
              </a:spcAft>
              <a:buSzPct val="100000"/>
              <a:buChar char="•"/>
            </a:pPr>
            <a:r>
              <a:rPr sz="1150">
                <a:solidFill>
                  <a:srgbClr val="1B1B1B"/>
                </a:solidFill>
                <a:latin typeface="Arial"/>
                <a:ea typeface="Arial"/>
                <a:cs typeface="Arial"/>
              </a:rPr>
              <a:t>More guardians &amp; custom escalation</a:t>
            </a:r>
            <a:endParaRPr sz="1150"/>
          </a:p>
        </p:txBody>
      </p:sp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F4342C7E-9740-4E17-B001-68EF38AD7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187952"/>
            <a:ext cx="6080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i="1">
                <a:solidFill>
                  <a:srgbClr val="B3122E"/>
                </a:solidFill>
                <a:latin typeface="Arial"/>
                <a:ea typeface="Arial"/>
                <a:cs typeface="Arial"/>
              </a:rPr>
              <a:t>Principle: </a:t>
            </a:r>
            <a:r>
              <a:rPr sz="1050" i="1">
                <a:solidFill>
                  <a:srgbClr val="1B1B1B"/>
                </a:solidFill>
                <a:latin typeface="Arial"/>
                <a:ea typeface="Arial"/>
                <a:cs typeface="Arial"/>
              </a:rPr>
              <a:t>emergency SOS is never behind a paywall.</a:t>
            </a:r>
            <a:endParaRPr sz="1050"/>
          </a:p>
        </p:txBody>
      </p:sp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DDD649F2-E93E-4359-9B36-0B98F446E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553712"/>
            <a:ext cx="6080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ADDITIONAL REVENUE — INSTITUTIONAL PARTNERSHIPS (B2B2C)</a:t>
            </a:r>
            <a:endParaRPr sz="1050"/>
          </a:p>
        </p:txBody>
      </p:sp>
      <p:sp>
        <p:nvSpPr>
          <p:cNvPr id="24" name="Shape 18">
            <a:extLst xmlns:a="http://schemas.openxmlformats.org/drawingml/2006/main">
              <a:ext uri="{FF2B5EF4-FFF2-40B4-BE49-F238E27FC236}">
                <a16:creationId xmlns:a16="http://schemas.microsoft.com/office/drawing/2014/main" id="{03107844-7558-4F7D-9994-BF64E103F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92040"/>
            <a:ext cx="1938528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DCE9FA"/>
          </a:solidFill>
          <a:ln xmlns:a="http://schemas.openxmlformats.org/drawingml/2006/main" w="12700">
            <a:solidFill>
              <a:srgbClr val="DCE9FA"/>
            </a:solidFill>
            <a:prstDash val="solid"/>
          </a:ln>
        </p:spPr>
      </p:sp>
      <p:sp>
        <p:nvSpPr>
          <p:cNvPr id="25" name="Shape 19">
            <a:extLst xmlns:a="http://schemas.openxmlformats.org/drawingml/2006/main">
              <a:ext uri="{FF2B5EF4-FFF2-40B4-BE49-F238E27FC236}">
                <a16:creationId xmlns:a16="http://schemas.microsoft.com/office/drawing/2014/main" id="{F6B3A9C5-F02F-4910-803B-71F2B335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001768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3CE"/>
            </a:solidFill>
            <a:prstDash val="solid"/>
          </a:ln>
        </p:spPr>
      </p:sp>
      <p:pic>
        <p:nvPicPr>
          <p:cNvPr id="81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1816a4894c44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5310" y="5102718"/>
            <a:ext cx="218724" cy="218724"/>
          </a:xfrm>
          <a:prstGeom xmlns:a="http://schemas.openxmlformats.org/drawingml/2006/main" prst="rect">
            <a:avLst/>
          </a:prstGeom>
        </p:spPr>
      </p:pic>
      <p:sp>
        <p:nvSpPr>
          <p:cNvPr id="27" name="Text 20">
            <a:extLst xmlns:a="http://schemas.openxmlformats.org/drawingml/2006/main">
              <a:ext uri="{FF2B5EF4-FFF2-40B4-BE49-F238E27FC236}">
                <a16:creationId xmlns:a16="http://schemas.microsoft.com/office/drawing/2014/main" id="{57E7534A-CD63-4463-9696-1D99B4BC2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4956048"/>
            <a:ext cx="132588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Colleges &amp; Universities</a:t>
            </a:r>
            <a:endParaRPr sz="950"/>
          </a:p>
        </p:txBody>
      </p:sp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D629692E-7FF9-49E5-89E3-7DC3F9329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5458968"/>
            <a:ext cx="17556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A6478"/>
                </a:solidFill>
                <a:latin typeface="Arial"/>
                <a:ea typeface="Arial"/>
                <a:cs typeface="Arial"/>
              </a:rPr>
              <a:t>Campus licence, hostel check-ins</a:t>
            </a:r>
            <a:endParaRPr sz="850"/>
          </a:p>
        </p:txBody>
      </p:sp>
      <p:sp>
        <p:nvSpPr>
          <p:cNvPr id="29" name="Shape 22">
            <a:extLst xmlns:a="http://schemas.openxmlformats.org/drawingml/2006/main">
              <a:ext uri="{FF2B5EF4-FFF2-40B4-BE49-F238E27FC236}">
                <a16:creationId xmlns:a16="http://schemas.microsoft.com/office/drawing/2014/main" id="{72E441F8-AB6A-4D22-B2EE-17F8021E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4892040"/>
            <a:ext cx="1938528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DCE9FA"/>
          </a:solidFill>
          <a:ln xmlns:a="http://schemas.openxmlformats.org/drawingml/2006/main" w="12700">
            <a:solidFill>
              <a:srgbClr val="DCE9FA"/>
            </a:solidFill>
            <a:prstDash val="solid"/>
          </a:ln>
        </p:spPr>
      </p:sp>
      <p:sp>
        <p:nvSpPr>
          <p:cNvPr id="30" name="Shape 23">
            <a:extLst xmlns:a="http://schemas.openxmlformats.org/drawingml/2006/main">
              <a:ext uri="{FF2B5EF4-FFF2-40B4-BE49-F238E27FC236}">
                <a16:creationId xmlns:a16="http://schemas.microsoft.com/office/drawing/2014/main" id="{9C19CEB2-3E2A-4822-A02A-4494D4D1C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5001768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3CE"/>
            </a:solidFill>
            <a:prstDash val="solid"/>
          </a:ln>
        </p:spPr>
      </p:sp>
      <p:pic>
        <p:nvPicPr>
          <p:cNvPr id="86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0f4d5c47d746b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52710" y="5102718"/>
            <a:ext cx="218724" cy="218724"/>
          </a:xfrm>
          <a:prstGeom xmlns:a="http://schemas.openxmlformats.org/drawingml/2006/main" prst="rect">
            <a:avLst/>
          </a:prstGeom>
        </p:spPr>
      </p:pic>
      <p:sp>
        <p:nvSpPr>
          <p:cNvPr id="32" name="Text 24">
            <a:extLst xmlns:a="http://schemas.openxmlformats.org/drawingml/2006/main">
              <a:ext uri="{FF2B5EF4-FFF2-40B4-BE49-F238E27FC236}">
                <a16:creationId xmlns:a16="http://schemas.microsoft.com/office/drawing/2014/main" id="{666E751C-59A4-4607-ACF6-ADCCB324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248" y="4956048"/>
            <a:ext cx="132588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Corporates</a:t>
            </a:r>
            <a:endParaRPr sz="950"/>
          </a:p>
        </p:txBody>
      </p:sp>
      <p:sp>
        <p:nvSpPr>
          <p:cNvPr id="33" name="Text 25">
            <a:extLst xmlns:a="http://schemas.openxmlformats.org/drawingml/2006/main">
              <a:ext uri="{FF2B5EF4-FFF2-40B4-BE49-F238E27FC236}">
                <a16:creationId xmlns:a16="http://schemas.microsoft.com/office/drawing/2014/main" id="{6BC5E8AD-746D-426E-B445-A2A111F14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048" y="5458968"/>
            <a:ext cx="17556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A6478"/>
                </a:solidFill>
                <a:latin typeface="Arial"/>
                <a:ea typeface="Arial"/>
                <a:cs typeface="Arial"/>
              </a:rPr>
              <a:t>Night-shift &amp; cab-commute safety</a:t>
            </a:r>
            <a:endParaRPr sz="850"/>
          </a:p>
        </p:txBody>
      </p:sp>
      <p:sp>
        <p:nvSpPr>
          <p:cNvPr id="34" name="Shape 26">
            <a:extLst xmlns:a="http://schemas.openxmlformats.org/drawingml/2006/main">
              <a:ext uri="{FF2B5EF4-FFF2-40B4-BE49-F238E27FC236}">
                <a16:creationId xmlns:a16="http://schemas.microsoft.com/office/drawing/2014/main" id="{1BB8A5EA-FD9E-4227-BC50-D823936EB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4892040"/>
            <a:ext cx="1938528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DCE9FA"/>
          </a:solidFill>
          <a:ln xmlns:a="http://schemas.openxmlformats.org/drawingml/2006/main" w="12700">
            <a:solidFill>
              <a:srgbClr val="DCE9FA"/>
            </a:solidFill>
            <a:prstDash val="solid"/>
          </a:ln>
        </p:spPr>
      </p:sp>
      <p:sp>
        <p:nvSpPr>
          <p:cNvPr id="35" name="Shape 27">
            <a:extLst xmlns:a="http://schemas.openxmlformats.org/drawingml/2006/main">
              <a:ext uri="{FF2B5EF4-FFF2-40B4-BE49-F238E27FC236}">
                <a16:creationId xmlns:a16="http://schemas.microsoft.com/office/drawing/2014/main" id="{A6A0B019-28AF-480A-9D41-1BADAA75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5001768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3CE"/>
            </a:solidFill>
            <a:prstDash val="solid"/>
          </a:ln>
        </p:spPr>
      </p:sp>
      <p:pic>
        <p:nvPicPr>
          <p:cNvPr id="91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10aa0134a14bc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10110" y="5102718"/>
            <a:ext cx="218724" cy="218724"/>
          </a:xfrm>
          <a:prstGeom xmlns:a="http://schemas.openxmlformats.org/drawingml/2006/main" prst="rect">
            <a:avLst/>
          </a:prstGeom>
        </p:spPr>
      </p:pic>
      <p:sp>
        <p:nvSpPr>
          <p:cNvPr id="37" name="Text 28">
            <a:extLst xmlns:a="http://schemas.openxmlformats.org/drawingml/2006/main">
              <a:ext uri="{FF2B5EF4-FFF2-40B4-BE49-F238E27FC236}">
                <a16:creationId xmlns:a16="http://schemas.microsoft.com/office/drawing/2014/main" id="{ACE3A901-338F-477A-BB06-A8357D8C4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4956048"/>
            <a:ext cx="132588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Travel &amp; Mobility</a:t>
            </a:r>
            <a:endParaRPr sz="950"/>
          </a:p>
        </p:txBody>
      </p:sp>
      <p:sp>
        <p:nvSpPr>
          <p:cNvPr id="38" name="Text 29">
            <a:extLst xmlns:a="http://schemas.openxmlformats.org/drawingml/2006/main">
              <a:ext uri="{FF2B5EF4-FFF2-40B4-BE49-F238E27FC236}">
                <a16:creationId xmlns:a16="http://schemas.microsoft.com/office/drawing/2014/main" id="{16304D5B-F1FC-4F3E-AF8E-A680A7F4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5458968"/>
            <a:ext cx="17556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A6478"/>
                </a:solidFill>
                <a:latin typeface="Arial"/>
                <a:ea typeface="Arial"/>
                <a:cs typeface="Arial"/>
              </a:rPr>
              <a:t>Hostels, travel &amp; cab platforms</a:t>
            </a:r>
            <a:endParaRPr sz="850"/>
          </a:p>
        </p:txBody>
      </p:sp>
      <p:sp>
        <p:nvSpPr>
          <p:cNvPr id="39" name="Text 30">
            <a:extLst xmlns:a="http://schemas.openxmlformats.org/drawingml/2006/main">
              <a:ext uri="{FF2B5EF4-FFF2-40B4-BE49-F238E27FC236}">
                <a16:creationId xmlns:a16="http://schemas.microsoft.com/office/drawing/2014/main" id="{33323429-A04C-4985-AB29-0EAFFFCF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989320"/>
            <a:ext cx="608076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Sustainability: </a:t>
            </a:r>
            <a:r>
              <a:rPr sz="950">
                <a:solidFill>
                  <a:srgbClr val="1B1B1B"/>
                </a:solidFill>
                <a:latin typeface="Arial"/>
                <a:ea typeface="Arial"/>
                <a:cs typeface="Arial"/>
              </a:rPr>
              <a:t>serverless, pay-as-you-grow infra keeps costs low; institutional licences fund the free tier.</a:t>
            </a:r>
            <a:endParaRPr sz="950"/>
          </a:p>
        </p:txBody>
      </p:sp>
      <p:sp>
        <p:nvSpPr>
          <p:cNvPr id="40" name="Shape 31">
            <a:extLst xmlns:a="http://schemas.openxmlformats.org/drawingml/2006/main">
              <a:ext uri="{FF2B5EF4-FFF2-40B4-BE49-F238E27FC236}">
                <a16:creationId xmlns:a16="http://schemas.microsoft.com/office/drawing/2014/main" id="{40151A53-D554-414F-9206-4944DC81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1188720"/>
            <a:ext cx="4919472" cy="5349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D"/>
          </a:solidFill>
          <a:ln xmlns:a="http://schemas.openxmlformats.org/drawingml/2006/main" w="19050">
            <a:solidFill>
              <a:srgbClr val="13235B"/>
            </a:solidFill>
            <a:prstDash val="solid"/>
          </a:ln>
        </p:spPr>
      </p:sp>
      <p:sp>
        <p:nvSpPr>
          <p:cNvPr id="41" name="Shape 32">
            <a:extLst xmlns:a="http://schemas.openxmlformats.org/drawingml/2006/main">
              <a:ext uri="{FF2B5EF4-FFF2-40B4-BE49-F238E27FC236}">
                <a16:creationId xmlns:a16="http://schemas.microsoft.com/office/drawing/2014/main" id="{09B168BA-C115-4098-AD5C-C53EE6CAA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1298448"/>
            <a:ext cx="4553712" cy="347472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0B63CE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sp>
        <p:nvSpPr>
          <p:cNvPr id="42" name="Text 33">
            <a:extLst xmlns:a="http://schemas.openxmlformats.org/drawingml/2006/main">
              <a:ext uri="{FF2B5EF4-FFF2-40B4-BE49-F238E27FC236}">
                <a16:creationId xmlns:a16="http://schemas.microsoft.com/office/drawing/2014/main" id="{C857CC70-CCEA-42CF-A4E7-9CEFE29C3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1298448"/>
            <a:ext cx="455371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REFERENCES</a:t>
            </a:r>
            <a:endParaRPr sz="1300"/>
          </a:p>
        </p:txBody>
      </p:sp>
      <p:sp>
        <p:nvSpPr>
          <p:cNvPr id="43" name="Text 34">
            <a:extLst xmlns:a="http://schemas.openxmlformats.org/drawingml/2006/main">
              <a:ext uri="{FF2B5EF4-FFF2-40B4-BE49-F238E27FC236}">
                <a16:creationId xmlns:a16="http://schemas.microsoft.com/office/drawing/2014/main" id="{E94CE050-689B-4C51-B72A-AB0A770F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1755648"/>
            <a:ext cx="455371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0B63CE"/>
                </a:solidFill>
                <a:latin typeface="Arial"/>
                <a:ea typeface="Arial"/>
                <a:cs typeface="Arial"/>
              </a:rPr>
              <a:t>STATISTICS &amp; REPORTS</a:t>
            </a:r>
            <a:endParaRPr sz="950"/>
          </a:p>
        </p:txBody>
      </p:sp>
      <p:sp>
        <p:nvSpPr>
          <p:cNvPr id="44" name="Text 35">
            <a:extLst xmlns:a="http://schemas.openxmlformats.org/drawingml/2006/main">
              <a:ext uri="{FF2B5EF4-FFF2-40B4-BE49-F238E27FC236}">
                <a16:creationId xmlns:a16="http://schemas.microsoft.com/office/drawing/2014/main" id="{F988A721-0FF2-4900-BD9D-EC6AE736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2011680"/>
            <a:ext cx="4553712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90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[1] </a:t>
            </a:r>
            <a:r>
              <a:rPr sz="900">
                <a:solidFill>
                  <a:srgbClr val="1B1B1B"/>
                </a:solidFill>
                <a:latin typeface="Arial"/>
                <a:ea typeface="Arial"/>
                <a:cs typeface="Arial"/>
              </a:rPr>
              <a:t>NCRB, “Crime in India 2023” — ncrb.gov.in</a:t>
            </a:r>
            <a:endParaRPr sz="9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90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[2] </a:t>
            </a:r>
            <a:r>
              <a:rPr sz="900">
                <a:solidFill>
                  <a:srgbClr val="1B1B1B"/>
                </a:solidFill>
                <a:latin typeface="Arial"/>
                <a:ea typeface="Arial"/>
                <a:cs typeface="Arial"/>
              </a:rPr>
              <a:t>NCW &amp; Pvalue Analytics, “NARI 2025: National Annual Report &amp; Index on Women’s Safety” — pvalueanalytics.com/Home/NARI2025</a:t>
            </a:r>
            <a:endParaRPr sz="9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90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[3] </a:t>
            </a:r>
            <a:r>
              <a:rPr sz="900">
                <a:solidFill>
                  <a:srgbClr val="1B1B1B"/>
                </a:solidFill>
                <a:latin typeface="Arial"/>
                <a:ea typeface="Arial"/>
                <a:cs typeface="Arial"/>
              </a:rPr>
              <a:t>Emergency Response Support System (112 India) — 112.gov.in</a:t>
            </a:r>
            <a:endParaRPr sz="900"/>
          </a:p>
        </p:txBody>
      </p:sp>
      <p:sp>
        <p:nvSpPr>
          <p:cNvPr id="45" name="Text 36">
            <a:extLst xmlns:a="http://schemas.openxmlformats.org/drawingml/2006/main">
              <a:ext uri="{FF2B5EF4-FFF2-40B4-BE49-F238E27FC236}">
                <a16:creationId xmlns:a16="http://schemas.microsoft.com/office/drawing/2014/main" id="{DDAF44AE-FF68-46B5-B649-0D7AAFF69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3035808"/>
            <a:ext cx="455371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0B63CE"/>
                </a:solidFill>
                <a:latin typeface="Arial"/>
                <a:ea typeface="Arial"/>
                <a:cs typeface="Arial"/>
              </a:rPr>
              <a:t>OFFICIAL DOCUMENTATION &amp; APIs</a:t>
            </a:r>
            <a:endParaRPr sz="950"/>
          </a:p>
        </p:txBody>
      </p:sp>
      <p:sp>
        <p:nvSpPr>
          <p:cNvPr id="46" name="Text 37">
            <a:extLst xmlns:a="http://schemas.openxmlformats.org/drawingml/2006/main">
              <a:ext uri="{FF2B5EF4-FFF2-40B4-BE49-F238E27FC236}">
                <a16:creationId xmlns:a16="http://schemas.microsoft.com/office/drawing/2014/main" id="{05B6247A-C510-43C6-945A-136F2311D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3291840"/>
            <a:ext cx="4553712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90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[4] </a:t>
            </a:r>
            <a:r>
              <a:rPr sz="900">
                <a:solidFill>
                  <a:srgbClr val="1B1B1B"/>
                </a:solidFill>
                <a:latin typeface="Arial"/>
                <a:ea typeface="Arial"/>
                <a:cs typeface="Arial"/>
              </a:rPr>
              <a:t>Android Developers — Location, background location &amp; sensors guides — developer.android.com</a:t>
            </a:r>
            <a:endParaRPr sz="9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90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[5] </a:t>
            </a:r>
            <a:r>
              <a:rPr sz="900">
                <a:solidFill>
                  <a:srgbClr val="1B1B1B"/>
                </a:solidFill>
                <a:latin typeface="Arial"/>
                <a:ea typeface="Arial"/>
                <a:cs typeface="Arial"/>
              </a:rPr>
              <a:t>Google Maps Platform — Maps SDK for Android, Places API — developers.google.com/maps</a:t>
            </a:r>
            <a:endParaRPr sz="9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90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[6] </a:t>
            </a:r>
            <a:r>
              <a:rPr sz="900">
                <a:solidFill>
                  <a:srgbClr val="1B1B1B"/>
                </a:solidFill>
                <a:latin typeface="Arial"/>
                <a:ea typeface="Arial"/>
                <a:cs typeface="Arial"/>
              </a:rPr>
              <a:t>Firebase — Auth, Firestore, Cloud Functions, FCM — firebase.google.com/docs</a:t>
            </a:r>
            <a:endParaRPr sz="9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90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[7] </a:t>
            </a:r>
            <a:r>
              <a:rPr sz="900">
                <a:solidFill>
                  <a:srgbClr val="1B1B1B"/>
                </a:solidFill>
                <a:latin typeface="Arial"/>
                <a:ea typeface="Arial"/>
                <a:cs typeface="Arial"/>
              </a:rPr>
              <a:t>FastAPI — fastapi.tiangolo.com · scikit-learn — scikit-learn.org</a:t>
            </a:r>
            <a:endParaRPr sz="900"/>
          </a:p>
        </p:txBody>
      </p:sp>
      <p:sp>
        <p:nvSpPr>
          <p:cNvPr id="47" name="Text 38">
            <a:extLst xmlns:a="http://schemas.openxmlformats.org/drawingml/2006/main">
              <a:ext uri="{FF2B5EF4-FFF2-40B4-BE49-F238E27FC236}">
                <a16:creationId xmlns:a16="http://schemas.microsoft.com/office/drawing/2014/main" id="{686E3E9D-BD3B-44E5-B049-264782AE7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4636008"/>
            <a:ext cx="455371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0B63CE"/>
                </a:solidFill>
                <a:latin typeface="Arial"/>
                <a:ea typeface="Arial"/>
                <a:cs typeface="Arial"/>
              </a:rPr>
              <a:t>RESEARCH PAPERS</a:t>
            </a:r>
            <a:endParaRPr sz="950"/>
          </a:p>
        </p:txBody>
      </p:sp>
      <p:sp>
        <p:nvSpPr>
          <p:cNvPr id="48" name="Text 39">
            <a:extLst xmlns:a="http://schemas.openxmlformats.org/drawingml/2006/main">
              <a:ext uri="{FF2B5EF4-FFF2-40B4-BE49-F238E27FC236}">
                <a16:creationId xmlns:a16="http://schemas.microsoft.com/office/drawing/2014/main" id="{A389B33A-94BE-4D98-B877-597E75F0F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4892040"/>
            <a:ext cx="4553712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90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[8] </a:t>
            </a:r>
            <a:r>
              <a:rPr sz="900">
                <a:solidFill>
                  <a:srgbClr val="1B1B1B"/>
                </a:solidFill>
                <a:latin typeface="Arial"/>
                <a:ea typeface="Arial"/>
                <a:cs typeface="Arial"/>
              </a:rPr>
              <a:t>Chand D. et al., “A mobile application for Women’s Safety: WoSApp,” IEEE TENCON 2015</a:t>
            </a:r>
            <a:endParaRPr sz="9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90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[9] </a:t>
            </a:r>
            <a:r>
              <a:rPr sz="900">
                <a:solidFill>
                  <a:srgbClr val="1B1B1B"/>
                </a:solidFill>
                <a:latin typeface="Arial"/>
                <a:ea typeface="Arial"/>
                <a:cs typeface="Arial"/>
              </a:rPr>
              <a:t>Yarrabothu R.S., Thota B., “Abhaya: An Android App for the safety of women,” IEEE INDICON 2015</a:t>
            </a:r>
            <a:endParaRPr sz="9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90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[10] </a:t>
            </a:r>
            <a:r>
              <a:rPr sz="900">
                <a:solidFill>
                  <a:srgbClr val="1B1B1B"/>
                </a:solidFill>
                <a:latin typeface="Arial"/>
                <a:ea typeface="Arial"/>
                <a:cs typeface="Arial"/>
              </a:rPr>
              <a:t>Zhang D. et al., “iBAT: Detecting anomalous taxi trajectories from GPS traces,” ACM UbiComp 2011</a:t>
            </a:r>
            <a:endParaRPr sz="9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90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[11] </a:t>
            </a:r>
            <a:r>
              <a:rPr sz="900">
                <a:solidFill>
                  <a:srgbClr val="1B1B1B"/>
                </a:solidFill>
                <a:latin typeface="Arial"/>
                <a:ea typeface="Arial"/>
                <a:cs typeface="Arial"/>
              </a:rPr>
              <a:t>Chandola V., Banerjee A., Kumar V., “Anomaly Detection: A Survey,” ACM Computing Surveys, 2009</a:t>
            </a:r>
            <a:endParaRPr sz="900"/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4C1CB87-26BA-4042-BC9F-597A8D62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532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3235B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900" b="1">
                <a:solidFill>
                  <a:srgbClr val="13235B"/>
                </a:solidFill>
                <a:latin typeface="Segoe UI Symbol"/>
                <a:ea typeface="Segoe UI Symbol"/>
                <a:cs typeface="Segoe UI Symbol"/>
              </a:rPr>
              <a:t>⛨  ⌖  ●—●</a:t>
            </a:r>
          </a:p>
        </p:txBody>
      </p:sp>
    </p:spTree>
    <p:extLst>
      <p:ext uri="{BB962C8B-B14F-4D97-AF65-F5344CB8AC3E}">
        <p14:creationId xmlns:p14="http://schemas.microsoft.com/office/powerpoint/2010/main" val="123896516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2026-09-26T22:38:57.9800000Z</dcterms:created>
  <dcterms:modified xsi:type="dcterms:W3CDTF">2026-09-26T22:38:57.9800000Z</dcterms:modified>
</coreProperties>
</file>