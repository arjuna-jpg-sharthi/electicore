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6a39f5054c4a0d" /><Relationship Type="http://schemas.openxmlformats.org/officeDocument/2006/relationships/extended-properties" Target="/docProps/app.xml" Id="Rdee3649a1bf845a1" /><Relationship Type="http://schemas.openxmlformats.org/officeDocument/2006/relationships/officeDocument" Target="/ppt/presentation.xml" Id="R5463bbf4f97144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4d3659c0d34d60"/>
  </p:sldMasterIdLst>
  <p:notesMasterIdLst>
    <p:notesMasterId xmlns:r="http://schemas.openxmlformats.org/officeDocument/2006/relationships" r:id="Rda1e31fd6c234f4e"/>
  </p:notesMasterIdLst>
  <p:sldIdLst>
    <p:sldId xmlns:r="http://schemas.openxmlformats.org/officeDocument/2006/relationships" id="256" r:id="Ree6b5536a065418b"/>
    <p:sldId xmlns:r="http://schemas.openxmlformats.org/officeDocument/2006/relationships" id="257" r:id="Rb59f6e75aed04c40"/>
    <p:sldId xmlns:r="http://schemas.openxmlformats.org/officeDocument/2006/relationships" id="258" r:id="R433ad22bb356449c"/>
    <p:sldId xmlns:r="http://schemas.openxmlformats.org/officeDocument/2006/relationships" id="259" r:id="Rdc0ee9289773426c"/>
    <p:sldId xmlns:r="http://schemas.openxmlformats.org/officeDocument/2006/relationships" id="260" r:id="Rd049d99ec6414da0"/>
    <p:sldId xmlns:r="http://schemas.openxmlformats.org/officeDocument/2006/relationships" id="261" r:id="R6123cbfefda849bd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344431ca474044" /><Relationship Type="http://schemas.openxmlformats.org/officeDocument/2006/relationships/slideMaster" Target="/ppt/slideMasters/slideMaster1.xml" Id="Rd54d3659c0d34d60" /><Relationship Type="http://schemas.openxmlformats.org/officeDocument/2006/relationships/notesMaster" Target="/ppt/notesMasters/notesMaster1.xml" Id="Rda1e31fd6c234f4e" /><Relationship Type="http://schemas.openxmlformats.org/officeDocument/2006/relationships/presProps" Target="/ppt/presProps.xml" Id="R2a114b68d1204416" /><Relationship Type="http://schemas.openxmlformats.org/officeDocument/2006/relationships/viewProps" Target="/ppt/viewProps.xml" Id="R77c361d96a534ae1" /><Relationship Type="http://schemas.openxmlformats.org/officeDocument/2006/relationships/tableStyles" Target="/ppt/tableStyles.xml" Id="R16126c9110014494" /><Relationship Type="http://schemas.openxmlformats.org/officeDocument/2006/relationships/slide" Target="/ppt/slides/slide1.xml" Id="Ree6b5536a065418b" /><Relationship Type="http://schemas.openxmlformats.org/officeDocument/2006/relationships/slide" Target="/ppt/slides/slide2.xml" Id="Rb59f6e75aed04c40" /><Relationship Type="http://schemas.openxmlformats.org/officeDocument/2006/relationships/slide" Target="/ppt/slides/slide3.xml" Id="R433ad22bb356449c" /><Relationship Type="http://schemas.openxmlformats.org/officeDocument/2006/relationships/slide" Target="/ppt/slides/slide4.xml" Id="Rdc0ee9289773426c" /><Relationship Type="http://schemas.openxmlformats.org/officeDocument/2006/relationships/slide" Target="/ppt/slides/slide5.xml" Id="Rd049d99ec6414da0" /><Relationship Type="http://schemas.openxmlformats.org/officeDocument/2006/relationships/slide" Target="/ppt/slides/slide6.xml" Id="R6123cbfefda849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da9f06b47c43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50b9745b8d4ddd" /><Relationship Type="http://schemas.openxmlformats.org/officeDocument/2006/relationships/notesMaster" Target="/ppt/notesMasters/notesMaster1.xml" Id="R68e38bfe92ef4a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e5568379e248c9" /><Relationship Type="http://schemas.openxmlformats.org/officeDocument/2006/relationships/notesMaster" Target="/ppt/notesMasters/notesMaster1.xml" Id="Rf258ed8fceb947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ab612f7e7041d4" /><Relationship Type="http://schemas.openxmlformats.org/officeDocument/2006/relationships/notesMaster" Target="/ppt/notesMasters/notesMaster1.xml" Id="R998cba9bf6484e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351a42af894dea" /><Relationship Type="http://schemas.openxmlformats.org/officeDocument/2006/relationships/notesMaster" Target="/ppt/notesMasters/notesMaster1.xml" Id="R6c18467aa1b74a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64effe0ce3409e" /><Relationship Type="http://schemas.openxmlformats.org/officeDocument/2006/relationships/notesMaster" Target="/ppt/notesMasters/notesMaster1.xml" Id="Rb212c163125c4f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bc0ac864a54022" /><Relationship Type="http://schemas.openxmlformats.org/officeDocument/2006/relationships/notesMaster" Target="/ppt/notesMasters/notesMaster1.xml" Id="Re5a2d1834f1040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visual template: SafeSaathi_CodeSlayer2K26.pptx supplied by the user.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Statistics: NCRB, Crime in India 2023, https://www.ncrb.gov.in/ ; NCW &amp; Pvalue Analytics, NARI 2025, https://pvalueanalytics.com/Home/NARI2025 . NARI headline data reports 40% of urban women feel unsafe in their cities; public-space harassment 7% overall and 14% among women under 24; two-thirds of incidents unreported.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design statements supplied by the user. Emergency response reference: 112 India, https://112.gov.in/ . AI is an assistive risk-signal system, not an attack detector or crime predictor.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references: Android Developers, https://developer.android.com/ ; Google Maps Platform, https://developers.google.com/maps ; Firebase, https://firebase.google.com/docs ; FastAPI, https://fastapi.tiangolo.com/ ; scikit-learn, https://scikit-learn.org/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Responsible-design scope supplied by the user. SafeSaathi complements, but does not replace, 112 or police response.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listed on slide include NCRB, NARI 2025, 112 India, Android, Google Maps, Firebase, FastAPI, scikit-learn and cited research papers.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ac164b78349b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103c9f04a3488b" /><Relationship Type="http://schemas.openxmlformats.org/officeDocument/2006/relationships/slideLayout" Target="/ppt/slideLayouts/slideLayout1.xml" Id="Rd3496068c09049c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496068c09049c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1b6d561024ab6" /><Relationship Type="http://schemas.openxmlformats.org/officeDocument/2006/relationships/image" Target="/ppt/media/image.png" Id="R3af1a3223d5642af" /><Relationship Type="http://schemas.openxmlformats.org/officeDocument/2006/relationships/image" Target="/ppt/media/image2.png" Id="R752498410cb14918" /><Relationship Type="http://schemas.openxmlformats.org/officeDocument/2006/relationships/image" Target="/ppt/media/image3.png" Id="Rab32205f12d74a9f" /><Relationship Type="http://schemas.openxmlformats.org/officeDocument/2006/relationships/notesSlide" Target="/ppt/notesSlides/notesSlide1.xml" Id="Rba67520c5c7c49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f12c75caa48e7" /><Relationship Type="http://schemas.openxmlformats.org/officeDocument/2006/relationships/image" Target="/ppt/media/image4.png" Id="R894b0796cf84444c" /><Relationship Type="http://schemas.openxmlformats.org/officeDocument/2006/relationships/image" Target="/ppt/media/image5.png" Id="R8c024769eb834e0b" /><Relationship Type="http://schemas.openxmlformats.org/officeDocument/2006/relationships/image" Target="/ppt/media/image6.png" Id="Raa0fe3e2eccc4c7f" /><Relationship Type="http://schemas.openxmlformats.org/officeDocument/2006/relationships/image" Target="/ppt/media/image7.png" Id="R53ecb9a2c3d540ce" /><Relationship Type="http://schemas.openxmlformats.org/officeDocument/2006/relationships/image" Target="/ppt/media/image8.png" Id="R9a32755d5b7b48b4" /><Relationship Type="http://schemas.openxmlformats.org/officeDocument/2006/relationships/image" Target="/ppt/media/image9.png" Id="R2ea209cb454e4fca" /><Relationship Type="http://schemas.openxmlformats.org/officeDocument/2006/relationships/image" Target="/ppt/media/image10.png" Id="R7dbbb67658934194" /><Relationship Type="http://schemas.openxmlformats.org/officeDocument/2006/relationships/image" Target="/ppt/media/image11.png" Id="R5afbfa54cbd84706" /><Relationship Type="http://schemas.openxmlformats.org/officeDocument/2006/relationships/image" Target="/ppt/media/image12.png" Id="R38f064701fd24806" /><Relationship Type="http://schemas.openxmlformats.org/officeDocument/2006/relationships/image" Target="/ppt/media/image13.png" Id="R083acd83f9214cfb" /><Relationship Type="http://schemas.openxmlformats.org/officeDocument/2006/relationships/notesSlide" Target="/ppt/notesSlides/notesSlide2.xml" Id="R670bb543a76846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80b86a8734617" /><Relationship Type="http://schemas.openxmlformats.org/officeDocument/2006/relationships/image" Target="/ppt/media/image14.png" Id="R25671dc6cc924d80" /><Relationship Type="http://schemas.openxmlformats.org/officeDocument/2006/relationships/image" Target="/ppt/media/image15.png" Id="R52069994d0e4465e" /><Relationship Type="http://schemas.openxmlformats.org/officeDocument/2006/relationships/image" Target="/ppt/media/image16.png" Id="Rc2cc1ee8692c494f" /><Relationship Type="http://schemas.openxmlformats.org/officeDocument/2006/relationships/image" Target="/ppt/media/image17.png" Id="R3149a8a8176d49e1" /><Relationship Type="http://schemas.openxmlformats.org/officeDocument/2006/relationships/image" Target="/ppt/media/image18.png" Id="R26861a0268874530" /><Relationship Type="http://schemas.openxmlformats.org/officeDocument/2006/relationships/image" Target="/ppt/media/image19.png" Id="Rba746db58a504cb1" /><Relationship Type="http://schemas.openxmlformats.org/officeDocument/2006/relationships/image" Target="/ppt/media/image20.png" Id="Rcdec874d99c54d32" /><Relationship Type="http://schemas.openxmlformats.org/officeDocument/2006/relationships/image" Target="/ppt/media/image21.png" Id="R154937081b334151" /><Relationship Type="http://schemas.openxmlformats.org/officeDocument/2006/relationships/image" Target="/ppt/media/image22.png" Id="Rad164e937feb462d" /><Relationship Type="http://schemas.openxmlformats.org/officeDocument/2006/relationships/image" Target="/ppt/media/image23.png" Id="R2540862959a0408c" /><Relationship Type="http://schemas.openxmlformats.org/officeDocument/2006/relationships/image" Target="/ppt/media/image24.png" Id="R5518fb90a07d4d65" /><Relationship Type="http://schemas.openxmlformats.org/officeDocument/2006/relationships/image" Target="/ppt/media/image25.png" Id="R685882a6fc2e42ca" /><Relationship Type="http://schemas.openxmlformats.org/officeDocument/2006/relationships/image" Target="/ppt/media/image26.png" Id="R93a8b3036ce04df9" /><Relationship Type="http://schemas.openxmlformats.org/officeDocument/2006/relationships/image" Target="/ppt/media/image27.png" Id="R87364d67b22d4152" /><Relationship Type="http://schemas.openxmlformats.org/officeDocument/2006/relationships/image" Target="/ppt/media/image28.png" Id="R830b04c51a414eaa" /><Relationship Type="http://schemas.openxmlformats.org/officeDocument/2006/relationships/image" Target="/ppt/media/image29.png" Id="Rfeb7e876ea06439f" /><Relationship Type="http://schemas.openxmlformats.org/officeDocument/2006/relationships/image" Target="/ppt/media/image30.png" Id="Rfa39c2acfd3f4e47" /><Relationship Type="http://schemas.openxmlformats.org/officeDocument/2006/relationships/image" Target="/ppt/media/image31.png" Id="Re216a9f24d7f4ad9" /><Relationship Type="http://schemas.openxmlformats.org/officeDocument/2006/relationships/image" Target="/ppt/media/image32.png" Id="R290674e29dd64924" /><Relationship Type="http://schemas.openxmlformats.org/officeDocument/2006/relationships/notesSlide" Target="/ppt/notesSlides/notesSlide3.xml" Id="Raa992044c7e44b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43311341d475c" /><Relationship Type="http://schemas.openxmlformats.org/officeDocument/2006/relationships/image" Target="/ppt/media/image33.png" Id="R737c3f1b6e7943a9" /><Relationship Type="http://schemas.openxmlformats.org/officeDocument/2006/relationships/image" Target="/ppt/media/image34.png" Id="R401337edf32641c1" /><Relationship Type="http://schemas.openxmlformats.org/officeDocument/2006/relationships/image" Target="/ppt/media/image35.png" Id="R1ea7a0006bf240a5" /><Relationship Type="http://schemas.openxmlformats.org/officeDocument/2006/relationships/image" Target="/ppt/media/image36.png" Id="Rc3480ca33a224b38" /><Relationship Type="http://schemas.openxmlformats.org/officeDocument/2006/relationships/image" Target="/ppt/media/image37.png" Id="R29bb060f933241da" /><Relationship Type="http://schemas.openxmlformats.org/officeDocument/2006/relationships/image" Target="/ppt/media/image38.png" Id="R1e9ce03c9d6a467a" /><Relationship Type="http://schemas.openxmlformats.org/officeDocument/2006/relationships/image" Target="/ppt/media/image39.png" Id="Re61339df35a54125" /><Relationship Type="http://schemas.openxmlformats.org/officeDocument/2006/relationships/image" Target="/ppt/media/image40.png" Id="R69d43ca393024167" /><Relationship Type="http://schemas.openxmlformats.org/officeDocument/2006/relationships/image" Target="/ppt/media/image41.png" Id="R904022cad16b4ea0" /><Relationship Type="http://schemas.openxmlformats.org/officeDocument/2006/relationships/image" Target="/ppt/media/image42.png" Id="R581e5c1cedd14929" /><Relationship Type="http://schemas.openxmlformats.org/officeDocument/2006/relationships/image" Target="/ppt/media/image43.png" Id="R55c92fe7bb5f4fad" /><Relationship Type="http://schemas.openxmlformats.org/officeDocument/2006/relationships/notesSlide" Target="/ppt/notesSlides/notesSlide4.xml" Id="R0df43e294b2a4b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6aa70bf2a4e01" /><Relationship Type="http://schemas.openxmlformats.org/officeDocument/2006/relationships/image" Target="/ppt/media/image44.png" Id="R7f5144acf8694e38" /><Relationship Type="http://schemas.openxmlformats.org/officeDocument/2006/relationships/image" Target="/ppt/media/image45.png" Id="R8c8beffc11084690" /><Relationship Type="http://schemas.openxmlformats.org/officeDocument/2006/relationships/image" Target="/ppt/media/image46.png" Id="R229c8172dffb4551" /><Relationship Type="http://schemas.openxmlformats.org/officeDocument/2006/relationships/image" Target="/ppt/media/image47.png" Id="R92aa6f2b76de44ac" /><Relationship Type="http://schemas.openxmlformats.org/officeDocument/2006/relationships/image" Target="/ppt/media/image48.png" Id="R469d0d4725d44f7e" /><Relationship Type="http://schemas.openxmlformats.org/officeDocument/2006/relationships/image" Target="/ppt/media/image49.png" Id="R3575712375944d68" /><Relationship Type="http://schemas.openxmlformats.org/officeDocument/2006/relationships/image" Target="/ppt/media/image50.png" Id="R18d7f43f036f4334" /><Relationship Type="http://schemas.openxmlformats.org/officeDocument/2006/relationships/image" Target="/ppt/media/image51.png" Id="R8713818b842040aa" /><Relationship Type="http://schemas.openxmlformats.org/officeDocument/2006/relationships/image" Target="/ppt/media/image52.png" Id="R4db6f85717e04a54" /><Relationship Type="http://schemas.openxmlformats.org/officeDocument/2006/relationships/image" Target="/ppt/media/image53.png" Id="Rcf9b7be633b24a6f" /><Relationship Type="http://schemas.openxmlformats.org/officeDocument/2006/relationships/image" Target="/ppt/media/image54.png" Id="R0ac4f7aae3b64177" /><Relationship Type="http://schemas.openxmlformats.org/officeDocument/2006/relationships/image" Target="/ppt/media/image55.png" Id="R273ba5dac3d44bc7" /><Relationship Type="http://schemas.openxmlformats.org/officeDocument/2006/relationships/notesSlide" Target="/ppt/notesSlides/notesSlide5.xml" Id="R5b3456ab65cd4d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211092a274482" /><Relationship Type="http://schemas.openxmlformats.org/officeDocument/2006/relationships/image" Target="/ppt/media/image56.png" Id="R946da8ad4cb64dad" /><Relationship Type="http://schemas.openxmlformats.org/officeDocument/2006/relationships/image" Target="/ppt/media/image57.png" Id="R8f74f7dc05524b86" /><Relationship Type="http://schemas.openxmlformats.org/officeDocument/2006/relationships/image" Target="/ppt/media/image58.png" Id="R5786f494e0bd493d" /><Relationship Type="http://schemas.openxmlformats.org/officeDocument/2006/relationships/image" Target="/ppt/media/image59.png" Id="Ra2164ff0438d4420" /><Relationship Type="http://schemas.openxmlformats.org/officeDocument/2006/relationships/image" Target="/ppt/media/image60.png" Id="R2ab418c50f464ffd" /><Relationship Type="http://schemas.openxmlformats.org/officeDocument/2006/relationships/image" Target="/ppt/media/image61.png" Id="R9d9318176ef44bcb" /><Relationship Type="http://schemas.openxmlformats.org/officeDocument/2006/relationships/image" Target="/ppt/media/image62.png" Id="R605f5f7e56844834" /><Relationship Type="http://schemas.openxmlformats.org/officeDocument/2006/relationships/notesSlide" Target="/ppt/notesSlides/notesSlide6.xml" Id="R90a0734db1bf488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1a3223d5642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123078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EDED9F3E-62C0-4F62-B324-E9409A31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0"/>
            <a:ext cx="219456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29E2232B-9718-4D06-9C1D-85447244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0"/>
            <a:ext cx="2194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498410cb149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21608" y="1389888"/>
            <a:ext cx="4754880" cy="621792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590612EB-9550-4A91-8E41-6FDD328C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231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Project Title :</a:t>
            </a:r>
            <a:endParaRPr sz="2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37443991-CC6C-4F3B-A78F-025820EE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331720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3235B"/>
                </a:solidFill>
                <a:latin typeface="Times New Roman"/>
                <a:ea typeface="Times New Roman"/>
                <a:cs typeface="Times New Roman"/>
              </a:rPr>
              <a:t>Safe</a:t>
            </a:r>
            <a:r>
              <a:rPr sz="34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Saathi</a:t>
            </a:r>
            <a:endParaRPr sz="34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1D20C0A-2EB4-47A5-BBCA-D5DB3DE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944368"/>
            <a:ext cx="5852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“Safety that walks with you — and calls the neighborhood when you need help.”</a:t>
            </a:r>
            <a:endParaRPr sz="12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797B3F6-FA36-4D12-B5C9-D2B824E4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2900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Team Name :</a:t>
            </a:r>
            <a:endParaRPr sz="20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BD492776-3F7F-46FA-86C7-2EF40A0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42900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[TEAM NAME]</a:t>
            </a:r>
            <a:endParaRPr sz="18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7540ABA-ACDC-4246-BD76-388445A5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77640"/>
            <a:ext cx="6400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Team Members </a:t>
            </a:r>
            <a:r>
              <a:rPr sz="1300" i="1">
                <a:solidFill>
                  <a:srgbClr val="1B1B1B"/>
                </a:solidFill>
                <a:latin typeface="Arial"/>
                <a:ea typeface="Arial"/>
                <a:cs typeface="Arial"/>
              </a:rPr>
              <a:t>(Names + Roles Briefly):</a:t>
            </a:r>
            <a:endParaRPr sz="20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E618128D-C9D8-4A63-8BA9-5B28595C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80560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E2ACD85-A77A-4263-80C6-75CAA89B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80560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1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Team Lead · Android (Kotlin/Compose)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8265729B-4045-417F-BE2D-B95D0F62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480560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C038099-4879-49AC-B5DD-A65C4786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4480560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2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Backend · Firebase &amp; Cloud Functions</a:t>
            </a:r>
            <a:endParaRPr sz="10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0840F92-7D57-43A8-B506-83FFC238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47488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B681339-1FAC-4A26-9097-EBEEDEF8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047488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3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AI/ML · Risk engine (Python/FastAPI)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B5F93DE-089E-46C2-89AE-45B5D2B8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047488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124D276-B19D-4F7F-8604-1F973B6C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5047488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4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UI/UX · Maps, Testing &amp; Pitch</a:t>
            </a:r>
            <a:endParaRPr sz="105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23006A0-4C27-4A14-AF5A-4D11B04F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064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Tracks Chosen:</a:t>
            </a:r>
            <a:endParaRPr sz="20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C7367FD-7DD3-4DEA-BC2E-67B845A4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843016"/>
            <a:ext cx="210312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5A809A01-E5C9-4A7A-8145-5F917AFD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843016"/>
            <a:ext cx="2103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AI/ML  (Primary)</a:t>
            </a:r>
            <a:endParaRPr sz="13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4FDB839F-3692-450D-B692-E89D2D14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843016"/>
            <a:ext cx="201168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58EF54BC-D217-4878-852E-16E74C2F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843016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Innovation</a:t>
            </a:r>
            <a:endParaRPr sz="13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D7E88767-6724-49D6-9F34-A1F9108C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0280"/>
            <a:ext cx="2514600" cy="4434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A1A2E"/>
          </a:solidFill>
          <a:ln xmlns:a="http://schemas.openxmlformats.org/drawingml/2006/main" w="12700">
            <a:solidFill>
              <a:srgbClr val="1A1A2E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FD29F2B8-440D-4024-A8B6-88C23846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496312"/>
            <a:ext cx="2276856" cy="397764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50352BE0-62CE-4457-B2A1-57F3DA88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660" y="2331720"/>
            <a:ext cx="640080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3A50"/>
          </a:solidFill>
          <a:ln xmlns:a="http://schemas.openxmlformats.org/drawingml/2006/main" w="12700">
            <a:solidFill>
              <a:srgbClr val="3A3A5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B3D09C6E-F0C2-4455-910F-8CABC577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65176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5A"/>
          </a:solidFill>
          <a:ln xmlns:a="http://schemas.openxmlformats.org/drawingml/2006/main" w="12700">
            <a:solidFill>
              <a:srgbClr val="1E9E5A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AB1061A7-C19D-4FA6-990E-DFA6F268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8775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Guardian Journey  •  ON</a:t>
            </a:r>
            <a:endParaRPr sz="9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171183D2-5361-49EB-8ED3-50DC9536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07792"/>
            <a:ext cx="205740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7"/>
          </a:solidFill>
          <a:ln xmlns:a="http://schemas.openxmlformats.org/drawingml/2006/main" w="12700">
            <a:solidFill>
              <a:srgbClr val="C3D6EE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85750D05-903A-4890-A10A-67F406A1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4408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B5212B4D-DF8C-44AF-88D5-2BCA9629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21024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01359750-3863-4B0A-942A-40C6E8A9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7764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0F3BF550-D3F8-4916-ABFD-287DBC6B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2907792"/>
            <a:ext cx="0" cy="141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E0105D27-AE86-4B29-9707-04CDA49F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2907792"/>
            <a:ext cx="0" cy="141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5EB2989E-F5B9-4079-8650-C826C916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056" y="2907792"/>
            <a:ext cx="0" cy="141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EA5DE26F-4FF4-481B-A103-AD16D121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354312" y="3776472"/>
            <a:ext cx="41148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120A56A3-3CE6-420F-82D2-7729C786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3776472"/>
            <a:ext cx="274320" cy="45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CD7C5AF5-89FF-4EBF-832D-64122B8A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40112" y="3364992"/>
            <a:ext cx="41148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C9F7E82C-B4D3-4E5F-9256-EA48A7CD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51592" y="3136392"/>
            <a:ext cx="41148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pic>
        <p:nvPicPr>
          <p:cNvPr id="9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2205f12d74a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53344" y="29077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42" name="Shape 37">
            <a:extLst xmlns:a="http://schemas.openxmlformats.org/drawingml/2006/main">
              <a:ext uri="{FF2B5EF4-FFF2-40B4-BE49-F238E27FC236}">
                <a16:creationId xmlns:a16="http://schemas.microsoft.com/office/drawing/2014/main" id="{317C3F4F-D59A-42BF-879E-3D90A911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371246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43" name="Shape 38">
            <a:extLst xmlns:a="http://schemas.openxmlformats.org/drawingml/2006/main">
              <a:ext uri="{FF2B5EF4-FFF2-40B4-BE49-F238E27FC236}">
                <a16:creationId xmlns:a16="http://schemas.microsoft.com/office/drawing/2014/main" id="{B989C565-B193-4965-8618-915AABE0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6552"/>
            <a:ext cx="205740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44" name="Text 39">
            <a:extLst xmlns:a="http://schemas.openxmlformats.org/drawingml/2006/main">
              <a:ext uri="{FF2B5EF4-FFF2-40B4-BE49-F238E27FC236}">
                <a16:creationId xmlns:a16="http://schemas.microsoft.com/office/drawing/2014/main" id="{9C097F28-AD24-4071-B561-4F4DD64F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416552"/>
            <a:ext cx="191109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ETA 18 min  ·  2 guardians  ·  47 nearby users active</a:t>
            </a:r>
            <a:endParaRPr sz="850"/>
          </a:p>
        </p:txBody>
      </p:sp>
      <p:sp>
        <p:nvSpPr>
          <p:cNvPr id="45" name="Shape 40">
            <a:extLst xmlns:a="http://schemas.openxmlformats.org/drawingml/2006/main">
              <a:ext uri="{FF2B5EF4-FFF2-40B4-BE49-F238E27FC236}">
                <a16:creationId xmlns:a16="http://schemas.microsoft.com/office/drawing/2014/main" id="{4629B787-2AAE-4187-AFD7-E5E9F0DC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19472"/>
            <a:ext cx="205740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46" name="Text 41">
            <a:extLst xmlns:a="http://schemas.openxmlformats.org/drawingml/2006/main">
              <a:ext uri="{FF2B5EF4-FFF2-40B4-BE49-F238E27FC236}">
                <a16:creationId xmlns:a16="http://schemas.microsoft.com/office/drawing/2014/main" id="{70C24B0D-6750-47F5-A52C-06FA0B74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946904"/>
            <a:ext cx="1463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Are you safe?</a:t>
            </a:r>
            <a:endParaRPr sz="1050"/>
          </a:p>
        </p:txBody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BC6790C2-1498-4575-83C5-E36F422D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4965192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A6478"/>
                </a:solidFill>
                <a:latin typeface="Arial"/>
                <a:ea typeface="Arial"/>
                <a:cs typeface="Arial"/>
              </a:rPr>
              <a:t>Auto-alert in 0:30</a:t>
            </a:r>
            <a:endParaRPr sz="750"/>
          </a:p>
        </p:txBody>
      </p:sp>
      <p:sp>
        <p:nvSpPr>
          <p:cNvPr id="48" name="Shape 43">
            <a:extLst xmlns:a="http://schemas.openxmlformats.org/drawingml/2006/main">
              <a:ext uri="{FF2B5EF4-FFF2-40B4-BE49-F238E27FC236}">
                <a16:creationId xmlns:a16="http://schemas.microsoft.com/office/drawing/2014/main" id="{E1566C99-7469-40DF-A4A3-123B7C9E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266944"/>
            <a:ext cx="91440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9E5A"/>
          </a:solidFill>
          <a:ln xmlns:a="http://schemas.openxmlformats.org/drawingml/2006/main" w="12700">
            <a:solidFill>
              <a:srgbClr val="1E9E5A"/>
            </a:solidFill>
            <a:prstDash val="solid"/>
          </a:ln>
        </p:spPr>
      </p:sp>
      <p:sp>
        <p:nvSpPr>
          <p:cNvPr id="49" name="Text 44">
            <a:extLst xmlns:a="http://schemas.openxmlformats.org/drawingml/2006/main">
              <a:ext uri="{FF2B5EF4-FFF2-40B4-BE49-F238E27FC236}">
                <a16:creationId xmlns:a16="http://schemas.microsoft.com/office/drawing/2014/main" id="{EF71FB56-3978-4072-BE82-9BFE9FE7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266944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I'm Safe</a:t>
            </a:r>
            <a:endParaRPr sz="900"/>
          </a:p>
        </p:txBody>
      </p:sp>
      <p:sp>
        <p:nvSpPr>
          <p:cNvPr id="50" name="Shape 45">
            <a:extLst xmlns:a="http://schemas.openxmlformats.org/drawingml/2006/main">
              <a:ext uri="{FF2B5EF4-FFF2-40B4-BE49-F238E27FC236}">
                <a16:creationId xmlns:a16="http://schemas.microsoft.com/office/drawing/2014/main" id="{E201551C-5105-46DE-AF73-186A4D95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5266944"/>
            <a:ext cx="86868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51" name="Text 46">
            <a:extLst xmlns:a="http://schemas.openxmlformats.org/drawingml/2006/main">
              <a:ext uri="{FF2B5EF4-FFF2-40B4-BE49-F238E27FC236}">
                <a16:creationId xmlns:a16="http://schemas.microsoft.com/office/drawing/2014/main" id="{D6C749F4-47D7-4BE1-B819-219C1D1E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5266944"/>
            <a:ext cx="868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Need Help</a:t>
            </a:r>
            <a:endParaRPr sz="900"/>
          </a:p>
        </p:txBody>
      </p:sp>
      <p:sp>
        <p:nvSpPr>
          <p:cNvPr id="52" name="Shape 47">
            <a:extLst xmlns:a="http://schemas.openxmlformats.org/drawingml/2006/main">
              <a:ext uri="{FF2B5EF4-FFF2-40B4-BE49-F238E27FC236}">
                <a16:creationId xmlns:a16="http://schemas.microsoft.com/office/drawing/2014/main" id="{0A875640-74DE-49BC-AD85-9A4770C7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940" y="5769864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122E"/>
          </a:solidFill>
          <a:ln xmlns:a="http://schemas.openxmlformats.org/drawingml/2006/main" w="50800">
            <a:solidFill>
              <a:srgbClr val="F4C3CA"/>
            </a:solidFill>
            <a:prstDash val="solid"/>
          </a:ln>
        </p:spPr>
      </p:sp>
      <p:sp>
        <p:nvSpPr>
          <p:cNvPr id="53" name="Text 48">
            <a:extLst xmlns:a="http://schemas.openxmlformats.org/drawingml/2006/main">
              <a:ext uri="{FF2B5EF4-FFF2-40B4-BE49-F238E27FC236}">
                <a16:creationId xmlns:a16="http://schemas.microsoft.com/office/drawing/2014/main" id="{D64FD5D6-344E-4485-8374-30AA1E4E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940" y="5769864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SOS</a:t>
            </a:r>
            <a:endParaRPr sz="1500"/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5B446C-0EE3-41D8-8C5A-2228A7A0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1141591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354F8B-B052-4489-9975-C6646665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3B91CE-6AD8-4D4E-8FDE-2002E081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2D8FA29-D2E5-4E21-9AA5-C29B7ED7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PROBLEM STATEMENT &amp;</a:t>
            </a:r>
            <a:endParaRPr sz="2700"/>
          </a:p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TARGET AUDIENCE</a:t>
            </a:r>
            <a:endParaRPr sz="2700"/>
          </a:p>
        </p:txBody>
      </p:sp>
      <p:pic>
        <p:nvPicPr>
          <p:cNvPr id="7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b0796cf8444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7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24769eb834e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BBD8921-7A62-4F76-B679-EF53F123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7726680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6B3ED74B-9B7C-485D-8EB9-84C5665A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726948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F154753-BA0D-46F7-8BCA-641C3F2C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7269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WE'RE SOLVING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E0EED66-6F29-4001-8FEF-F47D40B3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2331720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89BF7E3-BBAE-49CA-A371-8D9BEF3D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024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4.48 lakh</a:t>
            </a:r>
            <a:endParaRPr sz="2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AD3B4DB-03BB-4EB5-AEAE-173D6C7E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3160"/>
            <a:ext cx="2103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crimes against women registered in India in 2023 — about 51 every hour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B7C30616-4F8E-4A13-9F8A-DA03901F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Source: NCRB, Crime in India 2023</a:t>
            </a:r>
            <a:endParaRPr sz="8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EDDCFEC-E9BD-4960-8BDC-F43EC9A7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874520"/>
            <a:ext cx="2331720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31BFF1F-ABD2-4022-8395-C6CC23B6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40%</a:t>
            </a:r>
            <a:endParaRPr sz="26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CC1996D-041A-486B-9E97-79C8FB83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423160"/>
            <a:ext cx="2103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of urban women surveyed feel unsafe in their cities.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8DCF462A-49B9-4A47-9523-67E15E73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Source: NCW &amp; Pvalue Analytics, NARI 2025</a:t>
            </a:r>
            <a:endParaRPr sz="8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405C777-EE59-4E14-8A25-967028FD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74520"/>
            <a:ext cx="2331720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38746CB-20EF-4679-A2F0-8C461679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2024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2 in 3</a:t>
            </a:r>
            <a:endParaRPr sz="26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58E7264E-784D-4540-8FF8-42741C0D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23160"/>
            <a:ext cx="2103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harassment incidents go unreported; public-space harassment was 14% for women under 24 vs 7% overall.</a:t>
            </a:r>
            <a:endParaRPr sz="10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3EDCE541-0AA1-4FE0-947C-B8ED4921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10896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Source: NCW &amp; Pvalue Analytics, NARI 2025</a:t>
            </a:r>
            <a:endParaRPr sz="8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46882D1D-5DEE-4FDF-811B-60C85D21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7588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fe3e2eccc4c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3796589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F73C03BF-76FB-41D3-8363-613777ED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639312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Night walks &amp; late commutes feel unsafe — neighbourhood streets (38%) and public transport (29%) are top harassment hotspots.</a:t>
            </a:r>
            <a:endParaRPr sz="1200"/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0EEA22E-3A58-4BB1-A5C9-5195D3E8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79976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cb9a2c3d540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4500677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C11A2225-A0ED-43DB-8503-887CCFFE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343400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Existing SOS apps are reactive</a:t>
            </a:r>
            <a:r>
              <a:rPr sz="1200">
                <a:solidFill>
                  <a:srgbClr val="1B1B1B"/>
                </a:solidFill>
                <a:latin typeface="Arial"/>
                <a:ea typeface="Arial"/>
                <a:cs typeface="Arial"/>
              </a:rPr>
              <a:t> — she must unlock the phone and press a button, exactly when panic or a snatched phone makes that hardest</a:t>
            </a:r>
            <a:endParaRPr sz="120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62E079E0-4CAE-4D7D-9E0A-5436DF71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8406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2755d5b7b48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5204765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A3A4C3C0-9CA2-4F64-A4F3-23759545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5047488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No one knows a journey went wrong</a:t>
            </a:r>
            <a:r>
              <a:rPr sz="1200">
                <a:solidFill>
                  <a:srgbClr val="1B1B1B"/>
                </a:solidFill>
                <a:latin typeface="Arial"/>
                <a:ea typeface="Arial"/>
                <a:cs typeface="Arial"/>
              </a:rPr>
              <a:t> — no check-ins, no route-deviation or unexpected-stop alerts until it is too late</a:t>
            </a:r>
            <a:endParaRPr sz="12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FE2CDDFC-C289-4614-9E4F-9D1DD6CB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8815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3122E"/>
            </a:solidFill>
            <a:prstDash val="solid"/>
          </a:ln>
        </p:spPr>
      </p:sp>
      <p:pic>
        <p:nvPicPr>
          <p:cNvPr id="10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209cb454e4f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5908853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A7F675B4-1649-4E1F-978C-35BB9105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5751576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The need:</a:t>
            </a:r>
            <a:r>
              <a:rPr sz="1200">
                <a:solidFill>
                  <a:srgbClr val="1B1B1B"/>
                </a:solidFill>
                <a:latin typeface="Arial"/>
                <a:ea typeface="Arial"/>
                <a:cs typeface="Arial"/>
              </a:rPr>
              <a:t> proactive journey monitoring that notices risk signals and escalates automatically if she cannot respond</a:t>
            </a:r>
            <a:endParaRPr sz="120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F9165E18-4264-4581-8EBB-290CFA3F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88720"/>
            <a:ext cx="363931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C749A701-46BA-4780-8660-BC072552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25880"/>
            <a:ext cx="31821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E6A210B5-E25A-4F6E-8618-2578A1C0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25880"/>
            <a:ext cx="31821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USERS</a:t>
            </a:r>
            <a:endParaRPr sz="1300"/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193BEEC2-A83B-4894-8D36-66482B73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87452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0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bb67658934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200180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3AB4E274-DAFB-43E2-816D-D6A2608A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185623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College Students (16–24)</a:t>
            </a:r>
            <a:endParaRPr sz="1200"/>
          </a:p>
        </p:txBody>
      </p:sp>
      <p:sp>
        <p:nvSpPr>
          <p:cNvPr id="40" name="Text 31">
            <a:extLst xmlns:a="http://schemas.openxmlformats.org/drawingml/2006/main">
              <a:ext uri="{FF2B5EF4-FFF2-40B4-BE49-F238E27FC236}">
                <a16:creationId xmlns:a16="http://schemas.microsoft.com/office/drawing/2014/main" id="{7ADDB16E-1DEE-4D1F-9BFC-DB50D5F4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13969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Late classes, coaching, hostel returns</a:t>
            </a:r>
            <a:endParaRPr sz="1000"/>
          </a:p>
        </p:txBody>
      </p:sp>
      <p:sp>
        <p:nvSpPr>
          <p:cNvPr id="41" name="Shape 32">
            <a:extLst xmlns:a="http://schemas.openxmlformats.org/drawingml/2006/main">
              <a:ext uri="{FF2B5EF4-FFF2-40B4-BE49-F238E27FC236}">
                <a16:creationId xmlns:a16="http://schemas.microsoft.com/office/drawing/2014/main" id="{67AE8AB0-65AF-4519-8EE3-81188572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60604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bfa54cbd84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273332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43" name="Text 33">
            <a:extLst xmlns:a="http://schemas.openxmlformats.org/drawingml/2006/main">
              <a:ext uri="{FF2B5EF4-FFF2-40B4-BE49-F238E27FC236}">
                <a16:creationId xmlns:a16="http://schemas.microsoft.com/office/drawing/2014/main" id="{20A3E080-950C-4E98-AFD4-CEF1CC5E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58775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Working Professionals (22–40)</a:t>
            </a:r>
            <a:endParaRPr sz="1200"/>
          </a:p>
        </p:txBody>
      </p:sp>
      <p:sp>
        <p:nvSpPr>
          <p:cNvPr id="44" name="Text 34">
            <a:extLst xmlns:a="http://schemas.openxmlformats.org/drawingml/2006/main">
              <a:ext uri="{FF2B5EF4-FFF2-40B4-BE49-F238E27FC236}">
                <a16:creationId xmlns:a16="http://schemas.microsoft.com/office/drawing/2014/main" id="{5535042D-9AC6-42F5-9BF6-6DC3D73E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87121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Night shifts, late cabs &amp; metro rides</a:t>
            </a:r>
            <a:endParaRPr sz="1000"/>
          </a:p>
        </p:txBody>
      </p:sp>
      <p:sp>
        <p:nvSpPr>
          <p:cNvPr id="45" name="Shape 35">
            <a:extLst xmlns:a="http://schemas.openxmlformats.org/drawingml/2006/main">
              <a:ext uri="{FF2B5EF4-FFF2-40B4-BE49-F238E27FC236}">
                <a16:creationId xmlns:a16="http://schemas.microsoft.com/office/drawing/2014/main" id="{FDC76A48-03DC-4374-8DA8-8833A2AD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3375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6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064701fd248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346484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47" name="Text 36">
            <a:extLst xmlns:a="http://schemas.openxmlformats.org/drawingml/2006/main">
              <a:ext uri="{FF2B5EF4-FFF2-40B4-BE49-F238E27FC236}">
                <a16:creationId xmlns:a16="http://schemas.microsoft.com/office/drawing/2014/main" id="{5AA468C9-CA68-432B-AE7D-6072C6D4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31927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Solo Travellers</a:t>
            </a:r>
            <a:endParaRPr sz="1200"/>
          </a:p>
        </p:txBody>
      </p:sp>
      <p:sp>
        <p:nvSpPr>
          <p:cNvPr id="48" name="Text 37">
            <a:extLst xmlns:a="http://schemas.openxmlformats.org/drawingml/2006/main">
              <a:ext uri="{FF2B5EF4-FFF2-40B4-BE49-F238E27FC236}">
                <a16:creationId xmlns:a16="http://schemas.microsoft.com/office/drawing/2014/main" id="{8A4199EE-0695-420D-89AE-9A939753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60273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New cities, unfamiliar routes, late arrivals</a:t>
            </a:r>
            <a:endParaRPr sz="1000"/>
          </a:p>
        </p:txBody>
      </p:sp>
      <p:sp>
        <p:nvSpPr>
          <p:cNvPr id="49" name="Shape 38">
            <a:extLst xmlns:a="http://schemas.openxmlformats.org/drawingml/2006/main">
              <a:ext uri="{FF2B5EF4-FFF2-40B4-BE49-F238E27FC236}">
                <a16:creationId xmlns:a16="http://schemas.microsoft.com/office/drawing/2014/main" id="{BA0F84E7-E3B9-4095-8A66-A651E4EF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06908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2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acd83f9214c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419636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51" name="Text 39">
            <a:extLst xmlns:a="http://schemas.openxmlformats.org/drawingml/2006/main">
              <a:ext uri="{FF2B5EF4-FFF2-40B4-BE49-F238E27FC236}">
                <a16:creationId xmlns:a16="http://schemas.microsoft.com/office/drawing/2014/main" id="{0CE36CA3-2B4E-46FD-A57F-1B6C3C61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405079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Night Commuters</a:t>
            </a:r>
            <a:endParaRPr sz="1200"/>
          </a:p>
        </p:txBody>
      </p:sp>
      <p:sp>
        <p:nvSpPr>
          <p:cNvPr id="52" name="Text 40">
            <a:extLst xmlns:a="http://schemas.openxmlformats.org/drawingml/2006/main">
              <a:ext uri="{FF2B5EF4-FFF2-40B4-BE49-F238E27FC236}">
                <a16:creationId xmlns:a16="http://schemas.microsoft.com/office/drawing/2014/main" id="{73F417F4-31C9-42C9-87A2-C21DCA16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433425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Walk / auto / cab / bus after dark</a:t>
            </a:r>
            <a:endParaRPr sz="1000"/>
          </a:p>
        </p:txBody>
      </p:sp>
      <p:sp>
        <p:nvSpPr>
          <p:cNvPr id="53" name="Text 41">
            <a:extLst xmlns:a="http://schemas.openxmlformats.org/drawingml/2006/main">
              <a:ext uri="{FF2B5EF4-FFF2-40B4-BE49-F238E27FC236}">
                <a16:creationId xmlns:a16="http://schemas.microsoft.com/office/drawing/2014/main" id="{DB948204-ECB7-44F0-97D0-F1DD0958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00600"/>
            <a:ext cx="3291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Secondary users: </a:t>
            </a: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family &amp; friends acting as trusted guardians</a:t>
            </a:r>
            <a:endParaRPr sz="1000"/>
          </a:p>
        </p:txBody>
      </p:sp>
      <p:sp>
        <p:nvSpPr>
          <p:cNvPr id="54" name="Shape 42">
            <a:extLst xmlns:a="http://schemas.openxmlformats.org/drawingml/2006/main">
              <a:ext uri="{FF2B5EF4-FFF2-40B4-BE49-F238E27FC236}">
                <a16:creationId xmlns:a16="http://schemas.microsoft.com/office/drawing/2014/main" id="{887A864F-A302-4B59-A782-3B28D7DA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03520"/>
            <a:ext cx="3273552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BF2F33B3-4826-45BF-BF99-538F85CA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22392"/>
            <a:ext cx="731520" cy="329184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56" name="Text 44">
            <a:extLst xmlns:a="http://schemas.openxmlformats.org/drawingml/2006/main">
              <a:ext uri="{FF2B5EF4-FFF2-40B4-BE49-F238E27FC236}">
                <a16:creationId xmlns:a16="http://schemas.microsoft.com/office/drawing/2014/main" id="{A87D0D21-374F-4C5A-B57E-05D92124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22392"/>
            <a:ext cx="7315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B2C</a:t>
            </a:r>
            <a:endParaRPr sz="1200"/>
          </a:p>
        </p:txBody>
      </p:sp>
      <p:sp>
        <p:nvSpPr>
          <p:cNvPr id="57" name="Text 45">
            <a:extLst xmlns:a="http://schemas.openxmlformats.org/drawingml/2006/main">
              <a:ext uri="{FF2B5EF4-FFF2-40B4-BE49-F238E27FC236}">
                <a16:creationId xmlns:a16="http://schemas.microsoft.com/office/drawing/2014/main" id="{CF5CC016-578C-47AD-B42F-C77BD0D5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5422392"/>
            <a:ext cx="2240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Free app for individual women</a:t>
            </a:r>
            <a:endParaRPr sz="1050"/>
          </a:p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739F3CD0-1EC3-45A5-9C26-5938AD00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907024"/>
            <a:ext cx="731520" cy="329184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59" name="Text 47">
            <a:extLst xmlns:a="http://schemas.openxmlformats.org/drawingml/2006/main">
              <a:ext uri="{FF2B5EF4-FFF2-40B4-BE49-F238E27FC236}">
                <a16:creationId xmlns:a16="http://schemas.microsoft.com/office/drawing/2014/main" id="{D81E7E60-2DB8-409F-B7F8-B910D191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907024"/>
            <a:ext cx="7315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B2B2C</a:t>
            </a:r>
            <a:endParaRPr sz="1000"/>
          </a:p>
        </p:txBody>
      </p:sp>
      <p:sp>
        <p:nvSpPr>
          <p:cNvPr id="60" name="Text 48">
            <a:extLst xmlns:a="http://schemas.openxmlformats.org/drawingml/2006/main">
              <a:ext uri="{FF2B5EF4-FFF2-40B4-BE49-F238E27FC236}">
                <a16:creationId xmlns:a16="http://schemas.microsoft.com/office/drawing/2014/main" id="{D5A4A093-65CD-472F-90B8-51486937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5907024"/>
            <a:ext cx="2240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Later: via colleges &amp; employers</a:t>
            </a:r>
            <a:endParaRPr sz="1050"/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03F6D6B-64F1-4ABD-87D9-E45B97DF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1061274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BCC1D6-7C93-4F8A-8009-8DAB9F8C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841BF3-F39C-4408-992E-92795581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A897BD-5BB0-4BDB-A708-63F5569D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OUR UNIQUE SOLUTION</a:t>
            </a:r>
            <a:endParaRPr sz="3000"/>
          </a:p>
        </p:txBody>
      </p:sp>
      <p:pic>
        <p:nvPicPr>
          <p:cNvPr id="1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71dc6cc924d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13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69994d0e446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E28E0F8-51FE-4B9F-9A08-165BA81E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43000"/>
            <a:ext cx="11548872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523A55D8-251D-4775-87DC-9727A904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4206240" cy="329184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375251C-BA90-4C40-A0DD-6227EE39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4206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IT WORKS — GUARDIAN JOURNEY + COMMUNITY ALERT FLOW</a:t>
            </a:r>
            <a:endParaRPr sz="115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EAEE6EC-2058-4FDE-8714-78422BDA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4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c1ee8692c49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75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B828CD61-2BBE-45EE-9FB1-6A4E5188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B63CE"/>
            </a:solidFill>
            <a:prstDash val="solid"/>
          </a:ln>
        </p:spPr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E8916E17-637D-4A0B-B7DB-6A582244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1</a:t>
            </a:r>
            <a:endParaRPr sz="9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1AF822AA-A859-475D-99F4-8CC33D6E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Start Journey</a:t>
            </a:r>
            <a:endParaRPr sz="115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52BD3B0-75D3-4501-8DD3-74154700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Set destination, ETA &amp; guardians</a:t>
            </a:r>
            <a:endParaRPr sz="9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2E589A90-65FA-425F-B7AE-891B47F8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01475B7-A415-45D8-903D-E3282CF9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4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49a8a8176d49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5299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135C9BF0-D8B9-428F-8C76-7C7A8688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B63CE"/>
            </a:solidFill>
            <a:prstDash val="solid"/>
          </a:ln>
        </p:spPr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29640F00-C13A-453D-9183-A4A406BB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2</a:t>
            </a:r>
            <a:endParaRPr sz="9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61A1F8A8-6E0E-4321-A68D-374947BE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Monitor Journey</a:t>
            </a:r>
            <a:endParaRPr sz="115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8845F771-3208-4189-B5CC-BF222BD7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Live GPS + motion shared securely</a:t>
            </a:r>
            <a:endParaRPr sz="90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292D84E0-53F5-4D96-8731-EE3F97BA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7B7DF5E1-B48A-4628-A089-95DC6154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5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61a02688745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323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67942FD7-F32F-4C85-8E01-3476C1CE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B63CE"/>
            </a:solidFill>
            <a:prstDash val="solid"/>
          </a:ln>
        </p:spPr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7BF92349-B620-4EFB-B978-2DCE3914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3</a:t>
            </a:r>
            <a:endParaRPr sz="9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1149138C-1992-4D02-A5AE-9E8A6176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Detect Risk Signal</a:t>
            </a:r>
            <a:endParaRPr sz="115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1E545D42-5691-4900-84AB-19BF3C53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Deviation · long stop · late ETA</a:t>
            </a:r>
            <a:endParaRPr sz="900"/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0802C042-D900-4E3D-9BBC-FFD83389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3AAD541E-AA6F-4382-8A31-EFF30AA5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20C"/>
          </a:solidFill>
          <a:ln xmlns:a="http://schemas.openxmlformats.org/drawingml/2006/main" w="19050">
            <a:solidFill>
              <a:srgbClr val="E8820C"/>
            </a:solidFill>
            <a:prstDash val="solid"/>
          </a:ln>
        </p:spPr>
      </p:sp>
      <p:pic>
        <p:nvPicPr>
          <p:cNvPr id="16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46db58a504c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347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7EB2CE2E-D283-47B5-9050-C9856657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8820C"/>
            </a:solidFill>
            <a:prstDash val="solid"/>
          </a:ln>
        </p:spPr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7BB66CFB-7604-497A-B72C-5FB8A5AB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4</a:t>
            </a:r>
            <a:endParaRPr sz="9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5FA91E55-4102-49A1-9296-0C8CE62D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“Are You Safe?”</a:t>
            </a:r>
            <a:endParaRPr sz="1150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B5A60B05-F942-491D-A94C-64B0921C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Silent prompt, 30-sec countdown</a:t>
            </a:r>
            <a:endParaRPr sz="900"/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4BF9D759-8131-4D60-A01D-D0BFD0C2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7196B6C1-1CFC-4F31-A998-323B1B74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20C"/>
          </a:solidFill>
          <a:ln xmlns:a="http://schemas.openxmlformats.org/drawingml/2006/main" w="19050">
            <a:solidFill>
              <a:srgbClr val="E8820C"/>
            </a:solidFill>
            <a:prstDash val="solid"/>
          </a:ln>
        </p:spPr>
      </p:sp>
      <p:pic>
        <p:nvPicPr>
          <p:cNvPr id="16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ec874d99c54d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371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B649E714-D835-41E6-8B6E-BC24CDC5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8820C"/>
            </a:solidFill>
            <a:prstDash val="solid"/>
          </a:ln>
        </p:spPr>
      </p:sp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4D437B31-65BE-45AB-AEFA-F83A8258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5</a:t>
            </a:r>
            <a:endParaRPr sz="900"/>
          </a:p>
        </p:txBody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9E9AEA26-4E80-411E-A085-21D57ACC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No Response → Dual Escalation</a:t>
            </a:r>
            <a:endParaRPr sz="1150"/>
          </a:p>
        </p:txBody>
      </p:sp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248BF1D0-FC92-4A13-A7CD-D5A55FDD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Guardians + nearby users alerted in parallel</a:t>
            </a:r>
            <a:endParaRPr sz="900"/>
          </a:p>
        </p:txBody>
      </p:sp>
      <p:sp>
        <p:nvSpPr>
          <p:cNvPr id="44" name="Shape 35">
            <a:extLst xmlns:a="http://schemas.openxmlformats.org/drawingml/2006/main">
              <a:ext uri="{FF2B5EF4-FFF2-40B4-BE49-F238E27FC236}">
                <a16:creationId xmlns:a16="http://schemas.microsoft.com/office/drawing/2014/main" id="{72D03176-DFDE-4A67-8FFF-EEAB6BCC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45" name="Shape 36">
            <a:extLst xmlns:a="http://schemas.openxmlformats.org/drawingml/2006/main">
              <a:ext uri="{FF2B5EF4-FFF2-40B4-BE49-F238E27FC236}">
                <a16:creationId xmlns:a16="http://schemas.microsoft.com/office/drawing/2014/main" id="{BB8DCF06-29F8-4E1C-A45E-8FFE7147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789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122E"/>
          </a:solidFill>
          <a:ln xmlns:a="http://schemas.openxmlformats.org/drawingml/2006/main" w="19050">
            <a:solidFill>
              <a:srgbClr val="B3122E"/>
            </a:solidFill>
            <a:prstDash val="solid"/>
          </a:ln>
        </p:spPr>
      </p:sp>
      <p:pic>
        <p:nvPicPr>
          <p:cNvPr id="17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937081b3341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3395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47" name="Shape 37">
            <a:extLst xmlns:a="http://schemas.openxmlformats.org/drawingml/2006/main">
              <a:ext uri="{FF2B5EF4-FFF2-40B4-BE49-F238E27FC236}">
                <a16:creationId xmlns:a16="http://schemas.microsoft.com/office/drawing/2014/main" id="{DB20E734-7B10-4EC8-ADAA-BB02241F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B3122E"/>
            </a:solidFill>
            <a:prstDash val="solid"/>
          </a:ln>
        </p:spPr>
      </p:sp>
      <p:sp>
        <p:nvSpPr>
          <p:cNvPr id="48" name="Text 38">
            <a:extLst xmlns:a="http://schemas.openxmlformats.org/drawingml/2006/main">
              <a:ext uri="{FF2B5EF4-FFF2-40B4-BE49-F238E27FC236}">
                <a16:creationId xmlns:a16="http://schemas.microsoft.com/office/drawing/2014/main" id="{0DC7A84F-A83D-4B8C-BA1B-2B861003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6</a:t>
            </a:r>
            <a:endParaRPr sz="900"/>
          </a:p>
        </p:txBody>
      </p:sp>
      <p:sp>
        <p:nvSpPr>
          <p:cNvPr id="49" name="Text 39">
            <a:extLst xmlns:a="http://schemas.openxmlformats.org/drawingml/2006/main">
              <a:ext uri="{FF2B5EF4-FFF2-40B4-BE49-F238E27FC236}">
                <a16:creationId xmlns:a16="http://schemas.microsoft.com/office/drawing/2014/main" id="{0137237E-C8E3-45BB-A49A-2E0FABE9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Emergency Actions</a:t>
            </a:r>
            <a:endParaRPr sz="1150"/>
          </a:p>
        </p:txBody>
      </p:sp>
      <p:sp>
        <p:nvSpPr>
          <p:cNvPr id="50" name="Text 40">
            <a:extLst xmlns:a="http://schemas.openxmlformats.org/drawingml/2006/main">
              <a:ext uri="{FF2B5EF4-FFF2-40B4-BE49-F238E27FC236}">
                <a16:creationId xmlns:a16="http://schemas.microsoft.com/office/drawing/2014/main" id="{8A96AD51-C5C6-4964-A5B6-4D365A49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Siren · one-tap 112 · anonymized SOS</a:t>
            </a:r>
            <a:endParaRPr sz="900"/>
          </a:p>
        </p:txBody>
      </p:sp>
      <p:sp>
        <p:nvSpPr>
          <p:cNvPr id="51" name="Shape 41">
            <a:extLst xmlns:a="http://schemas.openxmlformats.org/drawingml/2006/main">
              <a:ext uri="{FF2B5EF4-FFF2-40B4-BE49-F238E27FC236}">
                <a16:creationId xmlns:a16="http://schemas.microsoft.com/office/drawing/2014/main" id="{FA0269F6-5021-4BBD-9AE8-8EEF2BB1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971800"/>
            <a:ext cx="6766560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52" name="Shape 42">
            <a:extLst xmlns:a="http://schemas.openxmlformats.org/drawingml/2006/main">
              <a:ext uri="{FF2B5EF4-FFF2-40B4-BE49-F238E27FC236}">
                <a16:creationId xmlns:a16="http://schemas.microsoft.com/office/drawing/2014/main" id="{05C272A6-3822-4B04-84AC-CDC3A1F9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81528"/>
            <a:ext cx="640080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53" name="Text 43">
            <a:extLst xmlns:a="http://schemas.openxmlformats.org/drawingml/2006/main">
              <a:ext uri="{FF2B5EF4-FFF2-40B4-BE49-F238E27FC236}">
                <a16:creationId xmlns:a16="http://schemas.microsoft.com/office/drawing/2014/main" id="{AD90E0C7-D74B-41AC-9138-6D4E5EE7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81528"/>
            <a:ext cx="6400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FEATURES</a:t>
            </a:r>
            <a:endParaRPr sz="1300"/>
          </a:p>
        </p:txBody>
      </p:sp>
      <p:sp>
        <p:nvSpPr>
          <p:cNvPr id="54" name="Shape 44">
            <a:extLst xmlns:a="http://schemas.openxmlformats.org/drawingml/2006/main">
              <a:ext uri="{FF2B5EF4-FFF2-40B4-BE49-F238E27FC236}">
                <a16:creationId xmlns:a16="http://schemas.microsoft.com/office/drawing/2014/main" id="{44A29636-327D-463D-A484-CF37B197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47872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55" name="Shape 45">
            <a:extLst xmlns:a="http://schemas.openxmlformats.org/drawingml/2006/main">
              <a:ext uri="{FF2B5EF4-FFF2-40B4-BE49-F238E27FC236}">
                <a16:creationId xmlns:a16="http://schemas.microsoft.com/office/drawing/2014/main" id="{851A8FD2-8796-4E60-BF7F-A1D167A3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307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8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64e937feb46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699" y="383609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57" name="Text 46">
            <a:extLst xmlns:a="http://schemas.openxmlformats.org/drawingml/2006/main">
              <a:ext uri="{FF2B5EF4-FFF2-40B4-BE49-F238E27FC236}">
                <a16:creationId xmlns:a16="http://schemas.microsoft.com/office/drawing/2014/main" id="{22F4D79C-59AE-4BEB-8D1B-89C4460C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621024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Guardian Journey</a:t>
            </a:r>
            <a:endParaRPr sz="950"/>
          </a:p>
        </p:txBody>
      </p:sp>
      <p:sp>
        <p:nvSpPr>
          <p:cNvPr id="58" name="Text 47">
            <a:extLst xmlns:a="http://schemas.openxmlformats.org/drawingml/2006/main">
              <a:ext uri="{FF2B5EF4-FFF2-40B4-BE49-F238E27FC236}">
                <a16:creationId xmlns:a16="http://schemas.microsoft.com/office/drawing/2014/main" id="{9FAB1802-B3A6-46A7-AD3D-FEA6B16C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977640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Safe-walk mode: guardians watch live</a:t>
            </a:r>
            <a:endParaRPr sz="800"/>
          </a:p>
        </p:txBody>
      </p:sp>
      <p:sp>
        <p:nvSpPr>
          <p:cNvPr id="59" name="Shape 48">
            <a:extLst xmlns:a="http://schemas.openxmlformats.org/drawingml/2006/main">
              <a:ext uri="{FF2B5EF4-FFF2-40B4-BE49-F238E27FC236}">
                <a16:creationId xmlns:a16="http://schemas.microsoft.com/office/drawing/2014/main" id="{66808BA4-D598-4E0B-B210-13A4EEFD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3547872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60" name="Shape 49">
            <a:extLst xmlns:a="http://schemas.openxmlformats.org/drawingml/2006/main">
              <a:ext uri="{FF2B5EF4-FFF2-40B4-BE49-F238E27FC236}">
                <a16:creationId xmlns:a16="http://schemas.microsoft.com/office/drawing/2014/main" id="{A51F1E40-ACA9-42B0-8EF8-3006BB10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37307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9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0862959a040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6827" y="383609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62" name="Text 50">
            <a:extLst xmlns:a="http://schemas.openxmlformats.org/drawingml/2006/main">
              <a:ext uri="{FF2B5EF4-FFF2-40B4-BE49-F238E27FC236}">
                <a16:creationId xmlns:a16="http://schemas.microsoft.com/office/drawing/2014/main" id="{C9EABA94-91EF-45AE-95FB-268F3692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621024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Live Location Sharing</a:t>
            </a:r>
            <a:endParaRPr sz="950"/>
          </a:p>
        </p:txBody>
      </p:sp>
      <p:sp>
        <p:nvSpPr>
          <p:cNvPr id="63" name="Text 51">
            <a:extLst xmlns:a="http://schemas.openxmlformats.org/drawingml/2006/main">
              <a:ext uri="{FF2B5EF4-FFF2-40B4-BE49-F238E27FC236}">
                <a16:creationId xmlns:a16="http://schemas.microsoft.com/office/drawing/2014/main" id="{B4DCFE51-E3C4-4F40-9DF1-0B3CA82C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977640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Secure link; auto-stops at destination</a:t>
            </a:r>
            <a:endParaRPr sz="800"/>
          </a:p>
        </p:txBody>
      </p:sp>
      <p:sp>
        <p:nvSpPr>
          <p:cNvPr id="64" name="Shape 52">
            <a:extLst xmlns:a="http://schemas.openxmlformats.org/drawingml/2006/main">
              <a:ext uri="{FF2B5EF4-FFF2-40B4-BE49-F238E27FC236}">
                <a16:creationId xmlns:a16="http://schemas.microsoft.com/office/drawing/2014/main" id="{182E9568-9EEA-4E1D-AD08-90183B6E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547872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65" name="Shape 53">
            <a:extLst xmlns:a="http://schemas.openxmlformats.org/drawingml/2006/main">
              <a:ext uri="{FF2B5EF4-FFF2-40B4-BE49-F238E27FC236}">
                <a16:creationId xmlns:a16="http://schemas.microsoft.com/office/drawing/2014/main" id="{8DD62F5C-3D65-49A7-ABFA-A984812E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37307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95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18fb90a07d4d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3955" y="383609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67" name="Text 54">
            <a:extLst xmlns:a="http://schemas.openxmlformats.org/drawingml/2006/main">
              <a:ext uri="{FF2B5EF4-FFF2-40B4-BE49-F238E27FC236}">
                <a16:creationId xmlns:a16="http://schemas.microsoft.com/office/drawing/2014/main" id="{7DFB985C-EEEB-44A5-B758-0AC6BC64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621024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Safety Timer</a:t>
            </a:r>
            <a:endParaRPr sz="950"/>
          </a:p>
        </p:txBody>
      </p:sp>
      <p:sp>
        <p:nvSpPr>
          <p:cNvPr id="68" name="Text 55">
            <a:extLst xmlns:a="http://schemas.openxmlformats.org/drawingml/2006/main">
              <a:ext uri="{FF2B5EF4-FFF2-40B4-BE49-F238E27FC236}">
                <a16:creationId xmlns:a16="http://schemas.microsoft.com/office/drawing/2014/main" id="{AC66B3C5-1D1E-427F-8227-8EEFB505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977640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Miss the check-in → guardians alerted</a:t>
            </a:r>
            <a:endParaRPr sz="800"/>
          </a:p>
        </p:txBody>
      </p:sp>
      <p:sp>
        <p:nvSpPr>
          <p:cNvPr id="69" name="Shape 56">
            <a:extLst xmlns:a="http://schemas.openxmlformats.org/drawingml/2006/main">
              <a:ext uri="{FF2B5EF4-FFF2-40B4-BE49-F238E27FC236}">
                <a16:creationId xmlns:a16="http://schemas.microsoft.com/office/drawing/2014/main" id="{C3BA41B0-5122-4DD1-9839-6B892F9F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43984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70" name="Shape 57">
            <a:extLst xmlns:a="http://schemas.openxmlformats.org/drawingml/2006/main">
              <a:ext uri="{FF2B5EF4-FFF2-40B4-BE49-F238E27FC236}">
                <a16:creationId xmlns:a16="http://schemas.microsoft.com/office/drawing/2014/main" id="{BAB32F6F-92B6-4300-AAF6-12E58171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268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00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882a6fc2e42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699" y="473220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72" name="Text 58">
            <a:extLst xmlns:a="http://schemas.openxmlformats.org/drawingml/2006/main">
              <a:ext uri="{FF2B5EF4-FFF2-40B4-BE49-F238E27FC236}">
                <a16:creationId xmlns:a16="http://schemas.microsoft.com/office/drawing/2014/main" id="{3607BE99-E327-42E6-84B0-137F9144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517136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Route Deviation Alert</a:t>
            </a:r>
            <a:endParaRPr sz="950"/>
          </a:p>
        </p:txBody>
      </p:sp>
      <p:sp>
        <p:nvSpPr>
          <p:cNvPr id="73" name="Text 59">
            <a:extLst xmlns:a="http://schemas.openxmlformats.org/drawingml/2006/main">
              <a:ext uri="{FF2B5EF4-FFF2-40B4-BE49-F238E27FC236}">
                <a16:creationId xmlns:a16="http://schemas.microsoft.com/office/drawing/2014/main" id="{F1453CEE-881C-4641-B873-51E652F9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873752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Flags leaving the planned route</a:t>
            </a:r>
            <a:endParaRPr sz="800"/>
          </a:p>
        </p:txBody>
      </p:sp>
      <p:sp>
        <p:nvSpPr>
          <p:cNvPr id="74" name="Shape 60">
            <a:extLst xmlns:a="http://schemas.openxmlformats.org/drawingml/2006/main">
              <a:ext uri="{FF2B5EF4-FFF2-40B4-BE49-F238E27FC236}">
                <a16:creationId xmlns:a16="http://schemas.microsoft.com/office/drawing/2014/main" id="{2B947680-1F99-42CF-A032-36C3DBA4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443984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75" name="Shape 61">
            <a:extLst xmlns:a="http://schemas.openxmlformats.org/drawingml/2006/main">
              <a:ext uri="{FF2B5EF4-FFF2-40B4-BE49-F238E27FC236}">
                <a16:creationId xmlns:a16="http://schemas.microsoft.com/office/drawing/2014/main" id="{D27FC22D-BC1E-446E-B447-C6525C9D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6268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05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8b3036ce04d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6827" y="473220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77" name="Text 62">
            <a:extLst xmlns:a="http://schemas.openxmlformats.org/drawingml/2006/main">
              <a:ext uri="{FF2B5EF4-FFF2-40B4-BE49-F238E27FC236}">
                <a16:creationId xmlns:a16="http://schemas.microsoft.com/office/drawing/2014/main" id="{8FA10DA2-5BEA-4266-8CB7-8BBFE3F5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517136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Unexpected-Stop Alert</a:t>
            </a:r>
            <a:endParaRPr sz="950"/>
          </a:p>
        </p:txBody>
      </p:sp>
      <p:sp>
        <p:nvSpPr>
          <p:cNvPr id="78" name="Text 63">
            <a:extLst xmlns:a="http://schemas.openxmlformats.org/drawingml/2006/main">
              <a:ext uri="{FF2B5EF4-FFF2-40B4-BE49-F238E27FC236}">
                <a16:creationId xmlns:a16="http://schemas.microsoft.com/office/drawing/2014/main" id="{E740968A-4702-4C7F-8C16-A774E95C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873752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Flags long stops at odd places</a:t>
            </a:r>
            <a:endParaRPr sz="800"/>
          </a:p>
        </p:txBody>
      </p:sp>
      <p:sp>
        <p:nvSpPr>
          <p:cNvPr id="79" name="Shape 64">
            <a:extLst xmlns:a="http://schemas.openxmlformats.org/drawingml/2006/main">
              <a:ext uri="{FF2B5EF4-FFF2-40B4-BE49-F238E27FC236}">
                <a16:creationId xmlns:a16="http://schemas.microsoft.com/office/drawing/2014/main" id="{3A8B2326-B28D-488A-A3D8-AEE4B89D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80" name="Shape 65">
            <a:extLst xmlns:a="http://schemas.openxmlformats.org/drawingml/2006/main">
              <a:ext uri="{FF2B5EF4-FFF2-40B4-BE49-F238E27FC236}">
                <a16:creationId xmlns:a16="http://schemas.microsoft.com/office/drawing/2014/main" id="{B915F82D-DBDE-4474-9C61-A1EA01DE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46268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10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364d67b22d4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3955" y="473220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82" name="Text 66">
            <a:extLst xmlns:a="http://schemas.openxmlformats.org/drawingml/2006/main">
              <a:ext uri="{FF2B5EF4-FFF2-40B4-BE49-F238E27FC236}">
                <a16:creationId xmlns:a16="http://schemas.microsoft.com/office/drawing/2014/main" id="{09469B07-AA60-46FF-AE23-29B57D7F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517136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One-tap / Shake / Voice SOS</a:t>
            </a:r>
            <a:endParaRPr sz="950"/>
          </a:p>
        </p:txBody>
      </p:sp>
      <p:sp>
        <p:nvSpPr>
          <p:cNvPr id="83" name="Text 67">
            <a:extLst xmlns:a="http://schemas.openxmlformats.org/drawingml/2006/main">
              <a:ext uri="{FF2B5EF4-FFF2-40B4-BE49-F238E27FC236}">
                <a16:creationId xmlns:a16="http://schemas.microsoft.com/office/drawing/2014/main" id="{20B19A81-1685-4F78-A92C-14A6A8C6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873752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Hands-free SOS + alert to guardians</a:t>
            </a:r>
            <a:endParaRPr sz="800"/>
          </a:p>
        </p:txBody>
      </p:sp>
      <p:sp>
        <p:nvSpPr>
          <p:cNvPr id="84" name="Shape 68">
            <a:extLst xmlns:a="http://schemas.openxmlformats.org/drawingml/2006/main">
              <a:ext uri="{FF2B5EF4-FFF2-40B4-BE49-F238E27FC236}">
                <a16:creationId xmlns:a16="http://schemas.microsoft.com/office/drawing/2014/main" id="{C1F1AF4D-8698-47E9-BA44-9AE5C1C0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40096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85" name="Shape 69">
            <a:extLst xmlns:a="http://schemas.openxmlformats.org/drawingml/2006/main">
              <a:ext uri="{FF2B5EF4-FFF2-40B4-BE49-F238E27FC236}">
                <a16:creationId xmlns:a16="http://schemas.microsoft.com/office/drawing/2014/main" id="{4C28D17F-9994-4F7F-A69F-7E4878D5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229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15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b04c51a414e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699" y="562831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87" name="Text 70">
            <a:extLst xmlns:a="http://schemas.openxmlformats.org/drawingml/2006/main">
              <a:ext uri="{FF2B5EF4-FFF2-40B4-BE49-F238E27FC236}">
                <a16:creationId xmlns:a16="http://schemas.microsoft.com/office/drawing/2014/main" id="{B4E3CFDC-1CB6-4298-95A3-0B01F407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413248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Shake / Voice SOS</a:t>
            </a:r>
            <a:endParaRPr sz="950"/>
          </a:p>
        </p:txBody>
      </p:sp>
      <p:sp>
        <p:nvSpPr>
          <p:cNvPr id="88" name="Text 71">
            <a:extLst xmlns:a="http://schemas.openxmlformats.org/drawingml/2006/main">
              <a:ext uri="{FF2B5EF4-FFF2-40B4-BE49-F238E27FC236}">
                <a16:creationId xmlns:a16="http://schemas.microsoft.com/office/drawing/2014/main" id="{3447C2B0-7B0F-46F6-A959-E09D8A45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769864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Hands-free when she cannot tap</a:t>
            </a:r>
            <a:endParaRPr sz="800"/>
          </a:p>
        </p:txBody>
      </p:sp>
      <p:sp>
        <p:nvSpPr>
          <p:cNvPr id="89" name="Shape 72">
            <a:extLst xmlns:a="http://schemas.openxmlformats.org/drawingml/2006/main">
              <a:ext uri="{FF2B5EF4-FFF2-40B4-BE49-F238E27FC236}">
                <a16:creationId xmlns:a16="http://schemas.microsoft.com/office/drawing/2014/main" id="{18AC345E-AB7A-4781-B357-B6745C1D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5340096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90" name="Shape 73">
            <a:extLst xmlns:a="http://schemas.openxmlformats.org/drawingml/2006/main">
              <a:ext uri="{FF2B5EF4-FFF2-40B4-BE49-F238E27FC236}">
                <a16:creationId xmlns:a16="http://schemas.microsoft.com/office/drawing/2014/main" id="{C1733631-FF52-4C01-BD2D-3A4AB0A0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55229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20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7e876ea0643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6827" y="562831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92" name="Text 74">
            <a:extLst xmlns:a="http://schemas.openxmlformats.org/drawingml/2006/main">
              <a:ext uri="{FF2B5EF4-FFF2-40B4-BE49-F238E27FC236}">
                <a16:creationId xmlns:a16="http://schemas.microsoft.com/office/drawing/2014/main" id="{6619CCFE-5AF7-4F37-BFC1-2D8596B9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5413248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Trusted Contacts</a:t>
            </a:r>
            <a:endParaRPr sz="950"/>
          </a:p>
        </p:txBody>
      </p:sp>
      <p:sp>
        <p:nvSpPr>
          <p:cNvPr id="93" name="Text 75">
            <a:extLst xmlns:a="http://schemas.openxmlformats.org/drawingml/2006/main">
              <a:ext uri="{FF2B5EF4-FFF2-40B4-BE49-F238E27FC236}">
                <a16:creationId xmlns:a16="http://schemas.microsoft.com/office/drawing/2014/main" id="{E056B311-1706-4A2E-914C-73DEE16A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5769864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Priority-ordered call &amp; alert chain</a:t>
            </a:r>
            <a:endParaRPr sz="800"/>
          </a:p>
        </p:txBody>
      </p:sp>
      <p:sp>
        <p:nvSpPr>
          <p:cNvPr id="94" name="Shape 76">
            <a:extLst xmlns:a="http://schemas.openxmlformats.org/drawingml/2006/main">
              <a:ext uri="{FF2B5EF4-FFF2-40B4-BE49-F238E27FC236}">
                <a16:creationId xmlns:a16="http://schemas.microsoft.com/office/drawing/2014/main" id="{365EF37C-9A75-47EA-889F-FA38ABE8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340096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95" name="Shape 77">
            <a:extLst xmlns:a="http://schemas.openxmlformats.org/drawingml/2006/main">
              <a:ext uri="{FF2B5EF4-FFF2-40B4-BE49-F238E27FC236}">
                <a16:creationId xmlns:a16="http://schemas.microsoft.com/office/drawing/2014/main" id="{D9830CE5-75A9-46D8-97D2-589D7BF5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55229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25" name="Imag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9c2acfd3f4e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3955" y="562831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97" name="Text 78">
            <a:extLst xmlns:a="http://schemas.openxmlformats.org/drawingml/2006/main">
              <a:ext uri="{FF2B5EF4-FFF2-40B4-BE49-F238E27FC236}">
                <a16:creationId xmlns:a16="http://schemas.microsoft.com/office/drawing/2014/main" id="{40CC34CC-F1C3-413F-8506-73BAE456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5413248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Nearby Help</a:t>
            </a:r>
            <a:endParaRPr sz="950"/>
          </a:p>
        </p:txBody>
      </p:sp>
      <p:sp>
        <p:nvSpPr>
          <p:cNvPr id="98" name="Text 79">
            <a:extLst xmlns:a="http://schemas.openxmlformats.org/drawingml/2006/main">
              <a:ext uri="{FF2B5EF4-FFF2-40B4-BE49-F238E27FC236}">
                <a16:creationId xmlns:a16="http://schemas.microsoft.com/office/drawing/2014/main" id="{16C093C4-A344-44EA-8622-F10C3E64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5769864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Police, hospitals, safe spots + 112</a:t>
            </a:r>
            <a:endParaRPr sz="800"/>
          </a:p>
        </p:txBody>
      </p:sp>
      <p:sp>
        <p:nvSpPr>
          <p:cNvPr id="99" name="Text 80">
            <a:extLst xmlns:a="http://schemas.openxmlformats.org/drawingml/2006/main">
              <a:ext uri="{FF2B5EF4-FFF2-40B4-BE49-F238E27FC236}">
                <a16:creationId xmlns:a16="http://schemas.microsoft.com/office/drawing/2014/main" id="{B1C0CDB4-C0DB-4FED-87A5-B0FC1282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36208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+ Siren  ·  Anonymized community SOS within ~200 m  ·  Optional encrypted audio/video  ·  AI-assisted risk signals</a:t>
            </a:r>
            <a:endParaRPr sz="950"/>
          </a:p>
        </p:txBody>
      </p:sp>
      <p:sp>
        <p:nvSpPr>
          <p:cNvPr id="100" name="Shape 81">
            <a:extLst xmlns:a="http://schemas.openxmlformats.org/drawingml/2006/main">
              <a:ext uri="{FF2B5EF4-FFF2-40B4-BE49-F238E27FC236}">
                <a16:creationId xmlns:a16="http://schemas.microsoft.com/office/drawing/2014/main" id="{76B67BD5-F96E-458D-9F5B-167B6A2C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971800"/>
            <a:ext cx="4599432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101" name="Shape 82">
            <a:extLst xmlns:a="http://schemas.openxmlformats.org/drawingml/2006/main">
              <a:ext uri="{FF2B5EF4-FFF2-40B4-BE49-F238E27FC236}">
                <a16:creationId xmlns:a16="http://schemas.microsoft.com/office/drawing/2014/main" id="{A1AF847C-0995-4666-BB8B-C409E625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81528"/>
            <a:ext cx="42336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102" name="Text 83">
            <a:extLst xmlns:a="http://schemas.openxmlformats.org/drawingml/2006/main">
              <a:ext uri="{FF2B5EF4-FFF2-40B4-BE49-F238E27FC236}">
                <a16:creationId xmlns:a16="http://schemas.microsoft.com/office/drawing/2014/main" id="{6BBD0C5E-3E0E-43FE-A4F2-7E261EFA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81528"/>
            <a:ext cx="42336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IT'S DIFFERENT</a:t>
            </a:r>
            <a:endParaRPr sz="1300"/>
          </a:p>
        </p:txBody>
      </p:sp>
      <p:graphicFrame>
        <p:nvGraphicFramePr>
          <p:cNvPr id="232" name="Table 0"/>
          <p:cNvGraphicFramePr/>
          <p:nvPr/>
        </p:nvGraphicFramePr>
        <p:xfrm>
          <a:off xmlns:a="http://schemas.openxmlformats.org/drawingml/2006/main" x="7452360" y="3520440"/>
          <a:ext xmlns:a="http://schemas.openxmlformats.org/drawingml/2006/main" cx="4233672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6152"/>
                <a:gridCol w="1371600"/>
                <a:gridCol w="1645920"/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1323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Traditional SOS App</a:t>
                      </a:r>
                      <a:endParaRPr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5A6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SafeSaathi</a:t>
                      </a:r>
                      <a:endParaRPr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B312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Trigger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Manual button only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Tap · shake · voice · auto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Reactive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Proactive monitoring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Journey awareness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Limited / none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Route, stops, ETA, timer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If she can't respond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Nothing happens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Auto-escalates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Escalation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Single alert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Configurable 3 levels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Shape 84">
            <a:extLst xmlns:a="http://schemas.openxmlformats.org/drawingml/2006/main">
              <a:ext uri="{FF2B5EF4-FFF2-40B4-BE49-F238E27FC236}">
                <a16:creationId xmlns:a16="http://schemas.microsoft.com/office/drawing/2014/main" id="{782610C8-A197-458C-B443-C2C16E13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303520"/>
            <a:ext cx="4233672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pic>
        <p:nvPicPr>
          <p:cNvPr id="234" name="Imag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6a9f24d7f4a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544982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06" name="Text 85">
            <a:extLst xmlns:a="http://schemas.openxmlformats.org/drawingml/2006/main">
              <a:ext uri="{FF2B5EF4-FFF2-40B4-BE49-F238E27FC236}">
                <a16:creationId xmlns:a16="http://schemas.microsoft.com/office/drawing/2014/main" id="{45BE4273-D798-4FB3-875A-C1C56DAA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303520"/>
            <a:ext cx="3749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Novelty 1 — Silence is a signal:</a:t>
            </a: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 a missed “Are you safe?” check triggers help automatically</a:t>
            </a:r>
            <a:endParaRPr sz="950"/>
          </a:p>
        </p:txBody>
      </p:sp>
      <p:sp>
        <p:nvSpPr>
          <p:cNvPr id="107" name="Shape 86">
            <a:extLst xmlns:a="http://schemas.openxmlformats.org/drawingml/2006/main">
              <a:ext uri="{FF2B5EF4-FFF2-40B4-BE49-F238E27FC236}">
                <a16:creationId xmlns:a16="http://schemas.microsoft.com/office/drawing/2014/main" id="{B2593A64-97D3-4C1D-B0EA-1358C97A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888736"/>
            <a:ext cx="4233672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pic>
        <p:nvPicPr>
          <p:cNvPr id="237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674e29dd64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603504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09" name="Text 87">
            <a:extLst xmlns:a="http://schemas.openxmlformats.org/drawingml/2006/main">
              <a:ext uri="{FF2B5EF4-FFF2-40B4-BE49-F238E27FC236}">
                <a16:creationId xmlns:a16="http://schemas.microsoft.com/office/drawing/2014/main" id="{54ED02BD-A456-407B-A094-5AD94461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888736"/>
            <a:ext cx="3749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Novelty 2 — Community safety network: nearby users can act as digital witnesses; anonymized alerts protect bystanders.</a:t>
            </a:r>
            <a:endParaRPr sz="950"/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5D99A32-9815-4647-932D-2C182A95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7861197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C8D1BD3-BE3E-493A-9517-ECFEAC69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378E70D-E531-489C-8438-FA2928E8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0774DF-61CE-4824-AD38-A40DA4CC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TECH STACK + ARCHITECTURE</a:t>
            </a:r>
            <a:endParaRPr sz="3000"/>
          </a:p>
        </p:txBody>
      </p:sp>
      <p:pic>
        <p:nvPicPr>
          <p:cNvPr id="10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c3f1b6e7943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10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337edf32641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E0BD216-DAA4-43FE-939B-9068F182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3749040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A90B588A-8886-4D0A-BBE8-7048FB8E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338328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69DB732-19E3-49C9-A51D-C9CAD45A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 STACK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D633FD1-6E54-488F-A00E-24BA098D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7a0006bf2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204094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8A1B195A-079A-4753-9461-C0855B02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184708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Mobile App</a:t>
            </a:r>
            <a:endParaRPr sz="12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064A301C-B808-43AE-A120-823195CE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12140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Kotlin · Jetpack Compose · Location Services · Sensors (accelerometer, gyroscope)</a:t>
            </a:r>
            <a:endParaRPr sz="95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8AC6F771-6F9B-40DA-9A18-E87D4816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974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480ca33a224b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281818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7F6BD694-CB77-483D-B5C9-387E9F00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62432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Backend</a:t>
            </a:r>
            <a:endParaRPr sz="120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252D72B5-FBDC-443F-B636-8129D0F7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89864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Auth · Cloud Functions (Node.js) · REST APIs</a:t>
            </a:r>
            <a:endParaRPr sz="95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9E8DECD5-45EA-4B93-99A4-91B7B923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b060f933241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359542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A412EB26-A79D-43B4-9651-E7EB0C8C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0156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Database</a:t>
            </a:r>
            <a:endParaRPr sz="1200"/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BF5E91A7-2382-4840-AA21-C52F39E2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67588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Firestore — journeys, guardians, alerts</a:t>
            </a:r>
            <a:endParaRPr sz="950"/>
          </a:p>
        </p:txBody>
      </p:sp>
      <p:sp>
        <p:nvSpPr>
          <p:cNvPr id="22" name="Shape 15">
            <a:extLst xmlns:a="http://schemas.openxmlformats.org/drawingml/2006/main">
              <a:ext uri="{FF2B5EF4-FFF2-40B4-BE49-F238E27FC236}">
                <a16:creationId xmlns:a16="http://schemas.microsoft.com/office/drawing/2014/main" id="{5D0F542C-560E-46D6-9630-3F9134A4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519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2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ce03c9d6a46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437266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92B73A88-79D9-47CC-8DF0-689681EF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17880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Maps &amp; Location</a:t>
            </a:r>
            <a:endParaRPr sz="1200"/>
          </a:p>
        </p:txBody>
      </p:sp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E0061A20-B4E4-46F1-80DD-998B37C5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45312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Google Maps SDK / MapLibre · Places API · Fused Location Provider</a:t>
            </a:r>
            <a:endParaRPr sz="950"/>
          </a:p>
        </p:txBody>
      </p:sp>
      <p:sp>
        <p:nvSpPr>
          <p:cNvPr id="26" name="Shape 18">
            <a:extLst xmlns:a="http://schemas.openxmlformats.org/drawingml/2006/main">
              <a:ext uri="{FF2B5EF4-FFF2-40B4-BE49-F238E27FC236}">
                <a16:creationId xmlns:a16="http://schemas.microsoft.com/office/drawing/2014/main" id="{0F6AF475-9E50-4787-8425-F2B96AE7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2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339df35a5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514990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8" name="Text 19">
            <a:extLst xmlns:a="http://schemas.openxmlformats.org/drawingml/2006/main">
              <a:ext uri="{FF2B5EF4-FFF2-40B4-BE49-F238E27FC236}">
                <a16:creationId xmlns:a16="http://schemas.microsoft.com/office/drawing/2014/main" id="{165434CA-3595-42A7-937D-E355CDE9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95604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Notifications</a:t>
            </a:r>
            <a:endParaRPr sz="1200"/>
          </a:p>
        </p:txBody>
      </p:sp>
      <p:sp>
        <p:nvSpPr>
          <p:cNvPr id="29" name="Text 20">
            <a:extLst xmlns:a="http://schemas.openxmlformats.org/drawingml/2006/main">
              <a:ext uri="{FF2B5EF4-FFF2-40B4-BE49-F238E27FC236}">
                <a16:creationId xmlns:a16="http://schemas.microsoft.com/office/drawing/2014/main" id="{0057378F-1CB1-4655-A660-AC8E4FB7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23036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Cloud Messaging · SMS fallback</a:t>
            </a:r>
            <a:endParaRPr sz="950"/>
          </a:p>
        </p:txBody>
      </p:sp>
      <p:sp>
        <p:nvSpPr>
          <p:cNvPr id="30" name="Shape 21">
            <a:extLst xmlns:a="http://schemas.openxmlformats.org/drawingml/2006/main">
              <a:ext uri="{FF2B5EF4-FFF2-40B4-BE49-F238E27FC236}">
                <a16:creationId xmlns:a16="http://schemas.microsoft.com/office/drawing/2014/main" id="{A2F587FD-7360-49F4-AA86-B6DEFCD4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064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3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43ca3930241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592714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2" name="Text 22">
            <a:extLst xmlns:a="http://schemas.openxmlformats.org/drawingml/2006/main">
              <a:ext uri="{FF2B5EF4-FFF2-40B4-BE49-F238E27FC236}">
                <a16:creationId xmlns:a16="http://schemas.microsoft.com/office/drawing/2014/main" id="{7D657923-0E35-4A99-AA13-8A4E7C2B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73328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AI Layer</a:t>
            </a:r>
            <a:endParaRPr sz="1200"/>
          </a:p>
        </p:txBody>
      </p:sp>
      <p:sp>
        <p:nvSpPr>
          <p:cNvPr id="33" name="Text 23">
            <a:extLst xmlns:a="http://schemas.openxmlformats.org/drawingml/2006/main">
              <a:ext uri="{FF2B5EF4-FFF2-40B4-BE49-F238E27FC236}">
                <a16:creationId xmlns:a16="http://schemas.microsoft.com/office/drawing/2014/main" id="{401A1460-2E4A-4337-AFAF-DC2F4FA4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600760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Python · FastAPI · scikit-learn risk scoring (rules + Isolation Forest)</a:t>
            </a:r>
            <a:endParaRPr sz="950"/>
          </a:p>
        </p:txBody>
      </p:sp>
      <p:sp>
        <p:nvSpPr>
          <p:cNvPr id="34" name="Shape 24">
            <a:extLst xmlns:a="http://schemas.openxmlformats.org/drawingml/2006/main">
              <a:ext uri="{FF2B5EF4-FFF2-40B4-BE49-F238E27FC236}">
                <a16:creationId xmlns:a16="http://schemas.microsoft.com/office/drawing/2014/main" id="{166BDFBF-F5E0-42D0-A12E-04717835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188720"/>
            <a:ext cx="761695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35" name="Shape 25">
            <a:extLst xmlns:a="http://schemas.openxmlformats.org/drawingml/2006/main">
              <a:ext uri="{FF2B5EF4-FFF2-40B4-BE49-F238E27FC236}">
                <a16:creationId xmlns:a16="http://schemas.microsoft.com/office/drawing/2014/main" id="{2B7CE346-727B-407E-9310-48D661A3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325880"/>
            <a:ext cx="715975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36" name="Text 26">
            <a:extLst xmlns:a="http://schemas.openxmlformats.org/drawingml/2006/main">
              <a:ext uri="{FF2B5EF4-FFF2-40B4-BE49-F238E27FC236}">
                <a16:creationId xmlns:a16="http://schemas.microsoft.com/office/drawing/2014/main" id="{AC247E6C-6706-4146-9E8F-8CC2A52F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325880"/>
            <a:ext cx="715975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ARCHITECTURE</a:t>
            </a:r>
            <a:endParaRPr sz="1300"/>
          </a:p>
        </p:txBody>
      </p:sp>
      <p:sp>
        <p:nvSpPr>
          <p:cNvPr id="37" name="Shape 27">
            <a:extLst xmlns:a="http://schemas.openxmlformats.org/drawingml/2006/main">
              <a:ext uri="{FF2B5EF4-FFF2-40B4-BE49-F238E27FC236}">
                <a16:creationId xmlns:a16="http://schemas.microsoft.com/office/drawing/2014/main" id="{67562E1C-183B-4E9C-ACCB-E75207F3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74520"/>
            <a:ext cx="13258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38" name="Text 28">
            <a:extLst xmlns:a="http://schemas.openxmlformats.org/drawingml/2006/main">
              <a:ext uri="{FF2B5EF4-FFF2-40B4-BE49-F238E27FC236}">
                <a16:creationId xmlns:a16="http://schemas.microsoft.com/office/drawing/2014/main" id="{D7A87376-2A49-44CF-AC2F-1DA9F61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9384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User</a:t>
            </a:r>
            <a:endParaRPr sz="1050"/>
          </a:p>
        </p:txBody>
      </p:sp>
      <p:sp>
        <p:nvSpPr>
          <p:cNvPr id="39" name="Text 29">
            <a:extLst xmlns:a="http://schemas.openxmlformats.org/drawingml/2006/main">
              <a:ext uri="{FF2B5EF4-FFF2-40B4-BE49-F238E27FC236}">
                <a16:creationId xmlns:a16="http://schemas.microsoft.com/office/drawing/2014/main" id="{23F23E2C-6668-47A3-9FE4-6C33913B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2203704"/>
            <a:ext cx="121615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Starts journey or triggers SOS</a:t>
            </a:r>
            <a:endParaRPr sz="800"/>
          </a:p>
        </p:txBody>
      </p:sp>
      <p:pic>
        <p:nvPicPr>
          <p:cNvPr id="139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022cad16b4e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9659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1" name="Shape 30">
            <a:extLst xmlns:a="http://schemas.openxmlformats.org/drawingml/2006/main">
              <a:ext uri="{FF2B5EF4-FFF2-40B4-BE49-F238E27FC236}">
                <a16:creationId xmlns:a16="http://schemas.microsoft.com/office/drawing/2014/main" id="{775AC189-2304-4BB6-AF65-36DF63D1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74520"/>
            <a:ext cx="16002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2" name="Text 31">
            <a:extLst xmlns:a="http://schemas.openxmlformats.org/drawingml/2006/main">
              <a:ext uri="{FF2B5EF4-FFF2-40B4-BE49-F238E27FC236}">
                <a16:creationId xmlns:a16="http://schemas.microsoft.com/office/drawing/2014/main" id="{0E523B8A-7959-4539-B9D1-73BC62AE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29384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Mobile App</a:t>
            </a:r>
            <a:endParaRPr sz="1050"/>
          </a:p>
        </p:txBody>
      </p:sp>
      <p:sp>
        <p:nvSpPr>
          <p:cNvPr id="43" name="Text 32">
            <a:extLst xmlns:a="http://schemas.openxmlformats.org/drawingml/2006/main">
              <a:ext uri="{FF2B5EF4-FFF2-40B4-BE49-F238E27FC236}">
                <a16:creationId xmlns:a16="http://schemas.microsoft.com/office/drawing/2014/main" id="{D28FF712-FF8E-4258-BD9D-8A89BE19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203704"/>
            <a:ext cx="149047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Kotlin + Compose · foreground service</a:t>
            </a:r>
            <a:endParaRPr sz="800"/>
          </a:p>
        </p:txBody>
      </p:sp>
      <p:sp>
        <p:nvSpPr>
          <p:cNvPr id="44" name="Shape 33">
            <a:extLst xmlns:a="http://schemas.openxmlformats.org/drawingml/2006/main">
              <a:ext uri="{FF2B5EF4-FFF2-40B4-BE49-F238E27FC236}">
                <a16:creationId xmlns:a16="http://schemas.microsoft.com/office/drawing/2014/main" id="{CE6F3154-B9FC-4DF8-BAD9-CF2432A7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74520"/>
            <a:ext cx="16002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5" name="Text 34">
            <a:extLst xmlns:a="http://schemas.openxmlformats.org/drawingml/2006/main">
              <a:ext uri="{FF2B5EF4-FFF2-40B4-BE49-F238E27FC236}">
                <a16:creationId xmlns:a16="http://schemas.microsoft.com/office/drawing/2014/main" id="{AFA14A0B-460E-47AB-AE7B-9CF0E952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29384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Location / Sensor Data</a:t>
            </a:r>
            <a:endParaRPr sz="1050"/>
          </a:p>
        </p:txBody>
      </p:sp>
      <p:sp>
        <p:nvSpPr>
          <p:cNvPr id="46" name="Text 35">
            <a:extLst xmlns:a="http://schemas.openxmlformats.org/drawingml/2006/main">
              <a:ext uri="{FF2B5EF4-FFF2-40B4-BE49-F238E27FC236}">
                <a16:creationId xmlns:a16="http://schemas.microsoft.com/office/drawing/2014/main" id="{89EFAB4F-D8BC-4FB6-9BED-78AAD9C8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03704"/>
            <a:ext cx="149047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GPS · accelerometer · gyroscope · optional mic cue</a:t>
            </a:r>
            <a:endParaRPr sz="800"/>
          </a:p>
        </p:txBody>
      </p:sp>
      <p:sp>
        <p:nvSpPr>
          <p:cNvPr id="47" name="Shape 36">
            <a:extLst xmlns:a="http://schemas.openxmlformats.org/drawingml/2006/main">
              <a:ext uri="{FF2B5EF4-FFF2-40B4-BE49-F238E27FC236}">
                <a16:creationId xmlns:a16="http://schemas.microsoft.com/office/drawing/2014/main" id="{49AA879F-BD86-493A-8B29-B677F2FA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1874520"/>
            <a:ext cx="146304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8" name="Text 37">
            <a:extLst xmlns:a="http://schemas.openxmlformats.org/drawingml/2006/main">
              <a:ext uri="{FF2B5EF4-FFF2-40B4-BE49-F238E27FC236}">
                <a16:creationId xmlns:a16="http://schemas.microsoft.com/office/drawing/2014/main" id="{CED6E0EE-530A-4C03-9B7B-0B783A9D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2938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Backend</a:t>
            </a:r>
            <a:endParaRPr sz="1050"/>
          </a:p>
        </p:txBody>
      </p:sp>
      <p:sp>
        <p:nvSpPr>
          <p:cNvPr id="49" name="Text 38">
            <a:extLst xmlns:a="http://schemas.openxmlformats.org/drawingml/2006/main">
              <a:ext uri="{FF2B5EF4-FFF2-40B4-BE49-F238E27FC236}">
                <a16:creationId xmlns:a16="http://schemas.microsoft.com/office/drawing/2014/main" id="{2948C712-23DA-44B1-8EBB-AABA02FD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2203704"/>
            <a:ext cx="135331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Firebase Auth · Cloud Functions · Firestore</a:t>
            </a:r>
            <a:endParaRPr sz="800"/>
          </a:p>
        </p:txBody>
      </p:sp>
      <p:sp>
        <p:nvSpPr>
          <p:cNvPr id="50" name="Shape 39">
            <a:extLst xmlns:a="http://schemas.openxmlformats.org/drawingml/2006/main">
              <a:ext uri="{FF2B5EF4-FFF2-40B4-BE49-F238E27FC236}">
                <a16:creationId xmlns:a16="http://schemas.microsoft.com/office/drawing/2014/main" id="{E3B7EF3D-996D-40C9-9159-CD62D235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308860"/>
            <a:ext cx="4114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1" name="Shape 40">
            <a:extLst xmlns:a="http://schemas.openxmlformats.org/drawingml/2006/main">
              <a:ext uri="{FF2B5EF4-FFF2-40B4-BE49-F238E27FC236}">
                <a16:creationId xmlns:a16="http://schemas.microsoft.com/office/drawing/2014/main" id="{F36748C7-A051-49A3-A3F3-58943A99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308860"/>
            <a:ext cx="4114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2" name="Shape 41">
            <a:extLst xmlns:a="http://schemas.openxmlformats.org/drawingml/2006/main">
              <a:ext uri="{FF2B5EF4-FFF2-40B4-BE49-F238E27FC236}">
                <a16:creationId xmlns:a16="http://schemas.microsoft.com/office/drawing/2014/main" id="{A9FEA390-85DC-44D9-B5C3-018B78DD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8860"/>
            <a:ext cx="4114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3" name="Shape 42">
            <a:extLst xmlns:a="http://schemas.openxmlformats.org/drawingml/2006/main">
              <a:ext uri="{FF2B5EF4-FFF2-40B4-BE49-F238E27FC236}">
                <a16:creationId xmlns:a16="http://schemas.microsoft.com/office/drawing/2014/main" id="{92133F7A-C941-4CA3-8D02-0CD5B454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246120"/>
            <a:ext cx="214884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5ECFF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54" name="Text 43">
            <a:extLst xmlns:a="http://schemas.openxmlformats.org/drawingml/2006/main">
              <a:ext uri="{FF2B5EF4-FFF2-40B4-BE49-F238E27FC236}">
                <a16:creationId xmlns:a16="http://schemas.microsoft.com/office/drawing/2014/main" id="{50BD0E6B-232F-435E-BC36-C9BBCE5D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00984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Risk Analysis (AI)</a:t>
            </a:r>
            <a:endParaRPr sz="1050"/>
          </a:p>
        </p:txBody>
      </p:sp>
      <p:sp>
        <p:nvSpPr>
          <p:cNvPr id="55" name="Text 44">
            <a:extLst xmlns:a="http://schemas.openxmlformats.org/drawingml/2006/main">
              <a:ext uri="{FF2B5EF4-FFF2-40B4-BE49-F238E27FC236}">
                <a16:creationId xmlns:a16="http://schemas.microsoft.com/office/drawing/2014/main" id="{4A664F49-2A7B-40A9-AE2D-906CA19C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3575304"/>
            <a:ext cx="203911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FastAPI · risk score 0–1 from journey signals</a:t>
            </a:r>
            <a:endParaRPr sz="800"/>
          </a:p>
        </p:txBody>
      </p:sp>
      <p:sp>
        <p:nvSpPr>
          <p:cNvPr id="56" name="Shape 45">
            <a:extLst xmlns:a="http://schemas.openxmlformats.org/drawingml/2006/main">
              <a:ext uri="{FF2B5EF4-FFF2-40B4-BE49-F238E27FC236}">
                <a16:creationId xmlns:a16="http://schemas.microsoft.com/office/drawing/2014/main" id="{7E3EA8FE-5D5F-4275-B8A8-3E0833E2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46120"/>
            <a:ext cx="21945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57" name="Text 46">
            <a:extLst xmlns:a="http://schemas.openxmlformats.org/drawingml/2006/main">
              <a:ext uri="{FF2B5EF4-FFF2-40B4-BE49-F238E27FC236}">
                <a16:creationId xmlns:a16="http://schemas.microsoft.com/office/drawing/2014/main" id="{799EAB2C-F57E-4B4E-A020-13DB8247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300984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 Engine</a:t>
            </a:r>
            <a:endParaRPr sz="1050"/>
          </a:p>
        </p:txBody>
      </p:sp>
      <p:sp>
        <p:nvSpPr>
          <p:cNvPr id="58" name="Text 47">
            <a:extLst xmlns:a="http://schemas.openxmlformats.org/drawingml/2006/main">
              <a:ext uri="{FF2B5EF4-FFF2-40B4-BE49-F238E27FC236}">
                <a16:creationId xmlns:a16="http://schemas.microsoft.com/office/drawing/2014/main" id="{9866B35A-1B14-4AC0-AE17-AF561E66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3575304"/>
            <a:ext cx="208483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Rules + risk score → check-in &amp; escalation</a:t>
            </a:r>
            <a:endParaRPr sz="800"/>
          </a:p>
        </p:txBody>
      </p:sp>
      <p:sp>
        <p:nvSpPr>
          <p:cNvPr id="59" name="Shape 48">
            <a:extLst xmlns:a="http://schemas.openxmlformats.org/drawingml/2006/main">
              <a:ext uri="{FF2B5EF4-FFF2-40B4-BE49-F238E27FC236}">
                <a16:creationId xmlns:a16="http://schemas.microsoft.com/office/drawing/2014/main" id="{701F2082-F7B3-4A2A-BFCC-0BCC8B70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46120"/>
            <a:ext cx="169164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60" name="Text 49">
            <a:extLst xmlns:a="http://schemas.openxmlformats.org/drawingml/2006/main">
              <a:ext uri="{FF2B5EF4-FFF2-40B4-BE49-F238E27FC236}">
                <a16:creationId xmlns:a16="http://schemas.microsoft.com/office/drawing/2014/main" id="{984F4E41-1641-4B40-AED3-ED39FAA7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46120"/>
            <a:ext cx="1691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Trusted Contacts</a:t>
            </a:r>
            <a:endParaRPr sz="950"/>
          </a:p>
        </p:txBody>
      </p:sp>
      <p:sp>
        <p:nvSpPr>
          <p:cNvPr id="61" name="Shape 50">
            <a:extLst xmlns:a="http://schemas.openxmlformats.org/drawingml/2006/main">
              <a:ext uri="{FF2B5EF4-FFF2-40B4-BE49-F238E27FC236}">
                <a16:creationId xmlns:a16="http://schemas.microsoft.com/office/drawing/2014/main" id="{E5189B9E-D3E2-40DE-9E50-D8BF49B8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712464"/>
            <a:ext cx="169164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62" name="Text 51">
            <a:extLst xmlns:a="http://schemas.openxmlformats.org/drawingml/2006/main">
              <a:ext uri="{FF2B5EF4-FFF2-40B4-BE49-F238E27FC236}">
                <a16:creationId xmlns:a16="http://schemas.microsoft.com/office/drawing/2014/main" id="{459F1139-ABD8-4E28-B326-FD71174C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712464"/>
            <a:ext cx="1691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Nearby Community</a:t>
            </a:r>
            <a:endParaRPr sz="950"/>
          </a:p>
        </p:txBody>
      </p:sp>
      <p:sp>
        <p:nvSpPr>
          <p:cNvPr id="63" name="Shape 52">
            <a:extLst xmlns:a="http://schemas.openxmlformats.org/drawingml/2006/main">
              <a:ext uri="{FF2B5EF4-FFF2-40B4-BE49-F238E27FC236}">
                <a16:creationId xmlns:a16="http://schemas.microsoft.com/office/drawing/2014/main" id="{F98C1370-22E4-48AB-B7DC-33FC2B3E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43200"/>
            <a:ext cx="914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4" name="Shape 53">
            <a:extLst xmlns:a="http://schemas.openxmlformats.org/drawingml/2006/main">
              <a:ext uri="{FF2B5EF4-FFF2-40B4-BE49-F238E27FC236}">
                <a16:creationId xmlns:a16="http://schemas.microsoft.com/office/drawing/2014/main" id="{443DBB1D-CD7E-432E-A4CE-6E44EAF3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823960" y="3680460"/>
            <a:ext cx="73152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5" name="Shape 54">
            <a:extLst xmlns:a="http://schemas.openxmlformats.org/drawingml/2006/main">
              <a:ext uri="{FF2B5EF4-FFF2-40B4-BE49-F238E27FC236}">
                <a16:creationId xmlns:a16="http://schemas.microsoft.com/office/drawing/2014/main" id="{D66CE137-1CEB-47F4-B0E5-431F67A5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172200" y="3447288"/>
            <a:ext cx="45720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3122E"/>
            </a:solidFill>
            <a:prstDash val="solid"/>
            <a:tailEnd type="triangle"/>
          </a:ln>
        </p:spPr>
      </p:sp>
      <p:sp>
        <p:nvSpPr>
          <p:cNvPr id="66" name="Shape 55">
            <a:extLst xmlns:a="http://schemas.openxmlformats.org/drawingml/2006/main">
              <a:ext uri="{FF2B5EF4-FFF2-40B4-BE49-F238E27FC236}">
                <a16:creationId xmlns:a16="http://schemas.microsoft.com/office/drawing/2014/main" id="{F4B656A9-16A3-4BF9-9F55-307E1566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72200" y="3840480"/>
            <a:ext cx="45720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3122E"/>
            </a:solidFill>
            <a:prstDash val="solid"/>
            <a:tailEnd type="triangle"/>
          </a:ln>
        </p:spPr>
      </p:sp>
      <p:sp>
        <p:nvSpPr>
          <p:cNvPr id="67" name="Shape 56">
            <a:extLst xmlns:a="http://schemas.openxmlformats.org/drawingml/2006/main">
              <a:ext uri="{FF2B5EF4-FFF2-40B4-BE49-F238E27FC236}">
                <a16:creationId xmlns:a16="http://schemas.microsoft.com/office/drawing/2014/main" id="{0247CE3E-BFAF-4BC4-B44F-FABFB9C0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743200"/>
            <a:ext cx="914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122E"/>
            </a:solidFill>
            <a:prstDash val="dash"/>
            <a:tailEnd type="triangle"/>
          </a:ln>
        </p:spPr>
      </p:sp>
      <p:sp>
        <p:nvSpPr>
          <p:cNvPr id="68" name="Text 57">
            <a:extLst xmlns:a="http://schemas.openxmlformats.org/drawingml/2006/main">
              <a:ext uri="{FF2B5EF4-FFF2-40B4-BE49-F238E27FC236}">
                <a16:creationId xmlns:a16="http://schemas.microsoft.com/office/drawing/2014/main" id="{E48CD33D-07CD-486E-B590-CF09722B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6148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Direct SOS (tap / shake / voice)</a:t>
            </a:r>
            <a:endParaRPr sz="750"/>
          </a:p>
        </p:txBody>
      </p:sp>
      <p:sp>
        <p:nvSpPr>
          <p:cNvPr id="69" name="Text 58">
            <a:extLst xmlns:a="http://schemas.openxmlformats.org/drawingml/2006/main">
              <a:ext uri="{FF2B5EF4-FFF2-40B4-BE49-F238E27FC236}">
                <a16:creationId xmlns:a16="http://schemas.microsoft.com/office/drawing/2014/main" id="{5F76B508-FE01-49DF-A97B-924929E5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142232"/>
            <a:ext cx="1691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5A6478"/>
                </a:solidFill>
                <a:latin typeface="Arial"/>
                <a:ea typeface="Arial"/>
                <a:cs typeface="Arial"/>
              </a:rPr>
              <a:t>Coarse alert · 112 / security / witness</a:t>
            </a:r>
            <a:endParaRPr sz="750"/>
          </a:p>
        </p:txBody>
      </p:sp>
      <p:sp>
        <p:nvSpPr>
          <p:cNvPr id="70" name="Text 59">
            <a:extLst xmlns:a="http://schemas.openxmlformats.org/drawingml/2006/main">
              <a:ext uri="{FF2B5EF4-FFF2-40B4-BE49-F238E27FC236}">
                <a16:creationId xmlns:a16="http://schemas.microsoft.com/office/drawing/2014/main" id="{64AA4EB3-E570-465A-B471-92F4CDB3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43484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SAFETY ENGINE — ESCALATION LADDER</a:t>
            </a:r>
            <a:endParaRPr sz="1050"/>
          </a:p>
        </p:txBody>
      </p:sp>
      <p:sp>
        <p:nvSpPr>
          <p:cNvPr id="71" name="Shape 60">
            <a:extLst xmlns:a="http://schemas.openxmlformats.org/drawingml/2006/main">
              <a:ext uri="{FF2B5EF4-FFF2-40B4-BE49-F238E27FC236}">
                <a16:creationId xmlns:a16="http://schemas.microsoft.com/office/drawing/2014/main" id="{1DF8A511-2596-4900-B2AE-38736430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736592"/>
            <a:ext cx="1828800" cy="71323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72" name="Text 61">
            <a:extLst xmlns:a="http://schemas.openxmlformats.org/drawingml/2006/main">
              <a:ext uri="{FF2B5EF4-FFF2-40B4-BE49-F238E27FC236}">
                <a16:creationId xmlns:a16="http://schemas.microsoft.com/office/drawing/2014/main" id="{26D0B307-7412-4939-B0F1-81B37AC2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4773168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  “Are you safe?”</a:t>
            </a:r>
            <a:endParaRPr sz="1050"/>
          </a:p>
        </p:txBody>
      </p:sp>
      <p:sp>
        <p:nvSpPr>
          <p:cNvPr id="73" name="Text 62">
            <a:extLst xmlns:a="http://schemas.openxmlformats.org/drawingml/2006/main">
              <a:ext uri="{FF2B5EF4-FFF2-40B4-BE49-F238E27FC236}">
                <a16:creationId xmlns:a16="http://schemas.microsoft.com/office/drawing/2014/main" id="{E543AC46-89AA-4F6E-A29B-50ACC915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5065776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Silent prompt · 30 s · safe PIN</a:t>
            </a:r>
            <a:endParaRPr sz="850"/>
          </a:p>
        </p:txBody>
      </p:sp>
      <p:sp>
        <p:nvSpPr>
          <p:cNvPr id="74" name="Shape 63">
            <a:extLst xmlns:a="http://schemas.openxmlformats.org/drawingml/2006/main">
              <a:ext uri="{FF2B5EF4-FFF2-40B4-BE49-F238E27FC236}">
                <a16:creationId xmlns:a16="http://schemas.microsoft.com/office/drawing/2014/main" id="{8C4C1815-A066-4410-9EC2-F8F1CA7B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6592"/>
            <a:ext cx="1828800" cy="7132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820C"/>
          </a:solidFill>
          <a:ln xmlns:a="http://schemas.openxmlformats.org/drawingml/2006/main" w="12700">
            <a:solidFill>
              <a:srgbClr val="E8820C"/>
            </a:solidFill>
            <a:prstDash val="solid"/>
          </a:ln>
        </p:spPr>
      </p:sp>
      <p:sp>
        <p:nvSpPr>
          <p:cNvPr id="75" name="Text 64">
            <a:extLst xmlns:a="http://schemas.openxmlformats.org/drawingml/2006/main">
              <a:ext uri="{FF2B5EF4-FFF2-40B4-BE49-F238E27FC236}">
                <a16:creationId xmlns:a16="http://schemas.microsoft.com/office/drawing/2014/main" id="{0E766698-C653-4C85-89D2-DB295FE5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73168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  Alert guardians</a:t>
            </a:r>
            <a:endParaRPr sz="1050"/>
          </a:p>
        </p:txBody>
      </p:sp>
      <p:sp>
        <p:nvSpPr>
          <p:cNvPr id="76" name="Text 65">
            <a:extLst xmlns:a="http://schemas.openxmlformats.org/drawingml/2006/main">
              <a:ext uri="{FF2B5EF4-FFF2-40B4-BE49-F238E27FC236}">
                <a16:creationId xmlns:a16="http://schemas.microsoft.com/office/drawing/2014/main" id="{27618812-8E24-4416-A653-0914DAE6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5776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+ SMS + live location link</a:t>
            </a:r>
            <a:endParaRPr sz="850"/>
          </a:p>
        </p:txBody>
      </p:sp>
      <p:sp>
        <p:nvSpPr>
          <p:cNvPr id="77" name="Shape 66">
            <a:extLst xmlns:a="http://schemas.openxmlformats.org/drawingml/2006/main">
              <a:ext uri="{FF2B5EF4-FFF2-40B4-BE49-F238E27FC236}">
                <a16:creationId xmlns:a16="http://schemas.microsoft.com/office/drawing/2014/main" id="{6EBB4220-80D8-44E1-A9EA-9A809EAF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736592"/>
            <a:ext cx="1828800" cy="7132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78" name="Text 67">
            <a:extLst xmlns:a="http://schemas.openxmlformats.org/drawingml/2006/main">
              <a:ext uri="{FF2B5EF4-FFF2-40B4-BE49-F238E27FC236}">
                <a16:creationId xmlns:a16="http://schemas.microsoft.com/office/drawing/2014/main" id="{2E230403-5477-4CDA-B539-AE9D16C2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740" y="4773168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L3  Emergency mode</a:t>
            </a:r>
            <a:endParaRPr sz="1050"/>
          </a:p>
        </p:txBody>
      </p:sp>
      <p:sp>
        <p:nvSpPr>
          <p:cNvPr id="79" name="Text 68">
            <a:extLst xmlns:a="http://schemas.openxmlformats.org/drawingml/2006/main">
              <a:ext uri="{FF2B5EF4-FFF2-40B4-BE49-F238E27FC236}">
                <a16:creationId xmlns:a16="http://schemas.microsoft.com/office/drawing/2014/main" id="{60852C09-C8C9-43A6-8848-62C4C9F9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740" y="5065776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Siren · call chain · one-tap 112</a:t>
            </a:r>
            <a:endParaRPr sz="850"/>
          </a:p>
        </p:txBody>
      </p:sp>
      <p:sp>
        <p:nvSpPr>
          <p:cNvPr id="80" name="Shape 69">
            <a:extLst xmlns:a="http://schemas.openxmlformats.org/drawingml/2006/main">
              <a:ext uri="{FF2B5EF4-FFF2-40B4-BE49-F238E27FC236}">
                <a16:creationId xmlns:a16="http://schemas.microsoft.com/office/drawing/2014/main" id="{0F5943FD-1D61-45E4-95B2-A71F8EBF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650992"/>
            <a:ext cx="35204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pic>
        <p:nvPicPr>
          <p:cNvPr id="18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1e5c1cedd149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0288" y="585216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82" name="Text 70">
            <a:extLst xmlns:a="http://schemas.openxmlformats.org/drawingml/2006/main">
              <a:ext uri="{FF2B5EF4-FFF2-40B4-BE49-F238E27FC236}">
                <a16:creationId xmlns:a16="http://schemas.microsoft.com/office/drawing/2014/main" id="{5DCD2D12-FACF-4BA0-AD2D-70A497DC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650992"/>
            <a:ext cx="2926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Privacy by design: location shared only during journey/SOS · TLS · Firestore rules · auto-delete history · nearby alerts hide exact address + identity.</a:t>
            </a:r>
            <a:endParaRPr sz="850"/>
          </a:p>
        </p:txBody>
      </p:sp>
      <p:sp>
        <p:nvSpPr>
          <p:cNvPr id="83" name="Shape 71">
            <a:extLst xmlns:a="http://schemas.openxmlformats.org/drawingml/2006/main">
              <a:ext uri="{FF2B5EF4-FFF2-40B4-BE49-F238E27FC236}">
                <a16:creationId xmlns:a16="http://schemas.microsoft.com/office/drawing/2014/main" id="{FBE3BF8F-3D12-474E-81D8-6F28272E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650992"/>
            <a:ext cx="35204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pic>
        <p:nvPicPr>
          <p:cNvPr id="183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c92fe7bb5f4f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93608" y="5852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85" name="Text 72">
            <a:extLst xmlns:a="http://schemas.openxmlformats.org/drawingml/2006/main">
              <a:ext uri="{FF2B5EF4-FFF2-40B4-BE49-F238E27FC236}">
                <a16:creationId xmlns:a16="http://schemas.microsoft.com/office/drawing/2014/main" id="{430D2AEB-8043-41CC-BF95-18AA37BF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50992"/>
            <a:ext cx="2926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Offline fallback: SMS with last-known location; queue and retry uploads when data returns.</a:t>
            </a:r>
            <a:endParaRPr sz="850"/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973D51C-21BB-4AE3-9A9E-02C575F6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380" y="4736592"/>
            <a:ext cx="1828800" cy="713232"/>
          </a:xfrm>
          <a:prstGeom xmlns:a="http://schemas.openxmlformats.org/drawingml/2006/main" prst="chevron">
            <a:avLst/>
          </a:prstGeom>
          <a:ln xmlns:a="http://schemas.openxmlformats.org/drawingml/2006/main" w="9525">
            <a:solidFill>
              <a:srgbClr val="6D1023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2C23E41-6008-4733-A5B9-E17FFC94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773168"/>
            <a:ext cx="15240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0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L4  Community SOS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FE42538-C96D-4FE4-87E6-4A8B4C31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5065776"/>
            <a:ext cx="15621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FFFFFF"/>
                </a:solidFill>
                <a:latin typeface="Arial"/>
                <a:ea typeface="Arial"/>
                <a:cs typeface="Arial"/>
              </a:rPr>
              <a:t>Anonymized alert · ~200 m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6D76048-75FF-46D4-848F-72E57A52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12849653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B174F6C-9427-4197-8EF3-D337E981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20308C8-6AEA-4113-BE42-493F4468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1EA08EA-A764-4F65-8A39-F744E868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FEASIBILITY, SHOWSTOPPERS &amp; USP</a:t>
            </a:r>
            <a:endParaRPr sz="2800"/>
          </a:p>
        </p:txBody>
      </p:sp>
      <p:pic>
        <p:nvPicPr>
          <p:cNvPr id="10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144acf8694e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10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beffc110846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426C72F-7592-438D-A87C-0696B5BA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580644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073FAF2D-1028-4950-92BB-E2B71BCB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544068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A35ED3C-4899-410A-BCBC-CA08D047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5440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FEASIBILITY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FCCCA12-F7AB-46B5-BF66-17B3F231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14173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3D496F2-495A-418C-96F7-F2052673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TECHNICAL</a:t>
            </a:r>
            <a:endParaRPr sz="9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325926D-CBC7-40F0-850C-2EDFFB3F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1226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Mature Android APIs: GPS, sensors, geofencing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= auth, DB &amp; push with no server setup</a:t>
            </a:r>
            <a:endParaRPr sz="95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253F470-B393-4F88-AD58-23601D8C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783080"/>
            <a:ext cx="14173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2224EC9-5C87-4EB2-983D-E731C800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78308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ECONOMIC</a:t>
            </a:r>
            <a:endParaRPr sz="9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FD67594-3749-430B-B49C-BAFD7164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11226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Runs on existing smartphones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No extra hardware · free-tier cloud &amp; Maps credits</a:t>
            </a:r>
            <a:endParaRPr sz="9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B9B9AC8-3800-483D-BE16-09C39E35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0"/>
            <a:ext cx="14173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1D1F53B2-F14E-4A25-BC74-BDF5B122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SCOPE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B92FD95-BC2A-4E57-84FE-BF64271D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4670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Lightweight risk score: rules + Isolation Forest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Trained &amp; demoed on simulated journeys</a:t>
            </a:r>
            <a:endParaRPr sz="9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F555DAC-75A7-4217-899B-30CCEED8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17520"/>
            <a:ext cx="21031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4226FFD-D426-4A2E-9AF0-1CD578B1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1752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HACKATHON BUILD PLAN</a:t>
            </a:r>
            <a:endParaRPr sz="9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A519CF86-F161-4F9A-AC31-024C9323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34670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3 modules: SOS core → Journey monitor → Risk &amp; escalation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4 members build in parallel</a:t>
            </a:r>
            <a:endParaRPr sz="9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5052D7C-DEFC-43C7-82C2-C54BD2A0E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1783080"/>
            <a:ext cx="0" cy="2377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81654EFE-6041-4355-9B98-E25E8148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71800"/>
            <a:ext cx="5440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E7A2EB9-C4C3-4108-85F8-B04B75E9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34840"/>
            <a:ext cx="580644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B0631BD-F6DD-484E-9B63-CFFBEC44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44568"/>
            <a:ext cx="544068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B891CC0-1CF1-4C53-B56A-619F9C3B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44568"/>
            <a:ext cx="5440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USP (UNIQUE SELLING POINT)</a:t>
            </a:r>
            <a:endParaRPr sz="13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C1C81008-41EE-4E6E-A6EF-E4170FAB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01768"/>
            <a:ext cx="1737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299F7D10-C182-4AF4-A7A2-53BC81AF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74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3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c8172dffb45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2728" y="51846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01FA17A2-5937-4460-9064-0AAF4AE1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550408"/>
            <a:ext cx="15910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Proactive, not only reactive</a:t>
            </a:r>
            <a:endParaRPr sz="950"/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10C1DEC9-50D9-4056-A1E0-F3074650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907024"/>
            <a:ext cx="15910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Watches the journey, not just waits for a button</a:t>
            </a:r>
            <a:endParaRPr sz="800"/>
          </a:p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AA6A1152-EB49-4BEE-A438-585F09A8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5001768"/>
            <a:ext cx="1737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DE7C1080-6D57-4864-9602-7830A373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074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3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a6f2b76de44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99816" y="51846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A85C5C27-D1FE-4F4F-99D7-D835AC54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550408"/>
            <a:ext cx="15910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Multi-signal monitoring</a:t>
            </a:r>
            <a:endParaRPr sz="95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9BADD839-0957-42C0-B2FC-2B438D7D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907024"/>
            <a:ext cx="15910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Route, stops, ETA, timer &amp; motion combined</a:t>
            </a:r>
            <a:endParaRPr sz="800"/>
          </a:p>
        </p:txBody>
      </p:sp>
      <p:sp>
        <p:nvSpPr>
          <p:cNvPr id="37" name="Shape 31">
            <a:extLst xmlns:a="http://schemas.openxmlformats.org/drawingml/2006/main">
              <a:ext uri="{FF2B5EF4-FFF2-40B4-BE49-F238E27FC236}">
                <a16:creationId xmlns:a16="http://schemas.microsoft.com/office/drawing/2014/main" id="{2ED670CC-F517-4D87-8E8F-9A5B6005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5001768"/>
            <a:ext cx="1737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38" name="Shape 32">
            <a:extLst xmlns:a="http://schemas.openxmlformats.org/drawingml/2006/main">
              <a:ext uri="{FF2B5EF4-FFF2-40B4-BE49-F238E27FC236}">
                <a16:creationId xmlns:a16="http://schemas.microsoft.com/office/drawing/2014/main" id="{9C741510-4B04-46E7-8810-6FB17FFE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074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4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d0d4725d4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6904" y="51846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1F1E7AB5-2EBA-4B70-9F6F-D821F658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550408"/>
            <a:ext cx="15910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Auto-escalation</a:t>
            </a:r>
            <a:endParaRPr sz="950"/>
          </a:p>
        </p:txBody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E5FAF898-DA84-4DB6-A825-81968270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907024"/>
            <a:ext cx="15910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Missed safety check → guardians alerted</a:t>
            </a:r>
            <a:endParaRPr sz="800"/>
          </a:p>
        </p:txBody>
      </p:sp>
      <p:sp>
        <p:nvSpPr>
          <p:cNvPr id="42" name="Shape 35">
            <a:extLst xmlns:a="http://schemas.openxmlformats.org/drawingml/2006/main">
              <a:ext uri="{FF2B5EF4-FFF2-40B4-BE49-F238E27FC236}">
                <a16:creationId xmlns:a16="http://schemas.microsoft.com/office/drawing/2014/main" id="{F73F98FB-D84C-4A4A-B67B-CD281083C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88720"/>
            <a:ext cx="555955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43" name="Shape 36">
            <a:extLst xmlns:a="http://schemas.openxmlformats.org/drawingml/2006/main">
              <a:ext uri="{FF2B5EF4-FFF2-40B4-BE49-F238E27FC236}">
                <a16:creationId xmlns:a16="http://schemas.microsoft.com/office/drawing/2014/main" id="{677417B7-E3AB-4F34-98F3-8A51B16F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298448"/>
            <a:ext cx="519379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6AB6353D-0603-4BFD-A843-ED0F0B9C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298448"/>
            <a:ext cx="519379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SHOWSTOPPERS &amp; MITIGATION</a:t>
            </a:r>
            <a:endParaRPr sz="130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F816259E-9BE6-490F-B084-13A830E7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19072"/>
            <a:ext cx="2103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RISK</a:t>
            </a:r>
            <a:endParaRPr sz="1100"/>
          </a:p>
        </p:txBody>
      </p:sp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C1C3E93D-790D-4908-8F92-B6E457E1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719072"/>
            <a:ext cx="2679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MITIGATION</a:t>
            </a:r>
            <a:endParaRPr sz="1100"/>
          </a:p>
        </p:txBody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D408083C-0436-4049-A531-D49635C1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29968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4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75712375944d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2148840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A99C77C7-2179-4211-B722-D5D8034C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029968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GPS inaccuracy</a:t>
            </a:r>
            <a:endParaRPr sz="950"/>
          </a:p>
        </p:txBody>
      </p:sp>
      <p:sp>
        <p:nvSpPr>
          <p:cNvPr id="50" name="Shape 42">
            <a:extLst xmlns:a="http://schemas.openxmlformats.org/drawingml/2006/main">
              <a:ext uri="{FF2B5EF4-FFF2-40B4-BE49-F238E27FC236}">
                <a16:creationId xmlns:a16="http://schemas.microsoft.com/office/drawing/2014/main" id="{0A148712-2BB1-4E40-B54F-ABB1BA00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276856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1" name="Shape 43">
            <a:extLst xmlns:a="http://schemas.openxmlformats.org/drawingml/2006/main">
              <a:ext uri="{FF2B5EF4-FFF2-40B4-BE49-F238E27FC236}">
                <a16:creationId xmlns:a16="http://schemas.microsoft.com/office/drawing/2014/main" id="{5896ECB4-1EA9-4AE8-94A3-5460170A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29968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52" name="Text 44">
            <a:extLst xmlns:a="http://schemas.openxmlformats.org/drawingml/2006/main">
              <a:ext uri="{FF2B5EF4-FFF2-40B4-BE49-F238E27FC236}">
                <a16:creationId xmlns:a16="http://schemas.microsoft.com/office/drawing/2014/main" id="{DFE3114C-AF0A-4352-86E2-4B4CB5E9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029968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Accuracy filter + route buffer; confirm over several points</a:t>
            </a:r>
            <a:endParaRPr sz="850"/>
          </a:p>
        </p:txBody>
      </p:sp>
      <p:sp>
        <p:nvSpPr>
          <p:cNvPr id="53" name="Shape 45">
            <a:extLst xmlns:a="http://schemas.openxmlformats.org/drawingml/2006/main">
              <a:ext uri="{FF2B5EF4-FFF2-40B4-BE49-F238E27FC236}">
                <a16:creationId xmlns:a16="http://schemas.microsoft.com/office/drawing/2014/main" id="{84A7B579-C646-4980-B558-215D3083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15184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5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7f43f036f43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273405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55" name="Text 46">
            <a:extLst xmlns:a="http://schemas.openxmlformats.org/drawingml/2006/main">
              <a:ext uri="{FF2B5EF4-FFF2-40B4-BE49-F238E27FC236}">
                <a16:creationId xmlns:a16="http://schemas.microsoft.com/office/drawing/2014/main" id="{C1AF9CAF-9709-4AB4-BD40-4CD3EAB2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615184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False alarms</a:t>
            </a:r>
            <a:endParaRPr sz="950"/>
          </a:p>
        </p:txBody>
      </p:sp>
      <p:sp>
        <p:nvSpPr>
          <p:cNvPr id="56" name="Shape 47">
            <a:extLst xmlns:a="http://schemas.openxmlformats.org/drawingml/2006/main">
              <a:ext uri="{FF2B5EF4-FFF2-40B4-BE49-F238E27FC236}">
                <a16:creationId xmlns:a16="http://schemas.microsoft.com/office/drawing/2014/main" id="{7991E5E0-2393-4750-BF48-7F9D8D6E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862072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7" name="Shape 48">
            <a:extLst xmlns:a="http://schemas.openxmlformats.org/drawingml/2006/main">
              <a:ext uri="{FF2B5EF4-FFF2-40B4-BE49-F238E27FC236}">
                <a16:creationId xmlns:a16="http://schemas.microsoft.com/office/drawing/2014/main" id="{FD749433-9352-459B-9A87-1916C1BA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615184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58" name="Text 49">
            <a:extLst xmlns:a="http://schemas.openxmlformats.org/drawingml/2006/main">
              <a:ext uri="{FF2B5EF4-FFF2-40B4-BE49-F238E27FC236}">
                <a16:creationId xmlns:a16="http://schemas.microsoft.com/office/drawing/2014/main" id="{38F72F88-402F-46C2-9D52-2238F7AD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615184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Check-in + cancel window + safe PIN; no public accusation feed or identity display</a:t>
            </a:r>
            <a:endParaRPr sz="850"/>
          </a:p>
        </p:txBody>
      </p:sp>
      <p:sp>
        <p:nvSpPr>
          <p:cNvPr id="59" name="Shape 50">
            <a:extLst xmlns:a="http://schemas.openxmlformats.org/drawingml/2006/main">
              <a:ext uri="{FF2B5EF4-FFF2-40B4-BE49-F238E27FC236}">
                <a16:creationId xmlns:a16="http://schemas.microsoft.com/office/drawing/2014/main" id="{D50E8EDF-B6B6-4857-BCC9-A74BE84F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200400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3818b842040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331927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61" name="Text 51">
            <a:extLst xmlns:a="http://schemas.openxmlformats.org/drawingml/2006/main">
              <a:ext uri="{FF2B5EF4-FFF2-40B4-BE49-F238E27FC236}">
                <a16:creationId xmlns:a16="http://schemas.microsoft.com/office/drawing/2014/main" id="{BCAD1DCF-5082-4123-AA22-B50BF388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200400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Poor network</a:t>
            </a:r>
            <a:endParaRPr sz="950"/>
          </a:p>
        </p:txBody>
      </p:sp>
      <p:sp>
        <p:nvSpPr>
          <p:cNvPr id="62" name="Shape 52">
            <a:extLst xmlns:a="http://schemas.openxmlformats.org/drawingml/2006/main">
              <a:ext uri="{FF2B5EF4-FFF2-40B4-BE49-F238E27FC236}">
                <a16:creationId xmlns:a16="http://schemas.microsoft.com/office/drawing/2014/main" id="{326DD1B6-6385-4644-A0CA-CCE7F8F9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447288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3" name="Shape 53">
            <a:extLst xmlns:a="http://schemas.openxmlformats.org/drawingml/2006/main">
              <a:ext uri="{FF2B5EF4-FFF2-40B4-BE49-F238E27FC236}">
                <a16:creationId xmlns:a16="http://schemas.microsoft.com/office/drawing/2014/main" id="{B4164F67-E8E2-4327-85B1-8AB54CAD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200400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64" name="Text 54">
            <a:extLst xmlns:a="http://schemas.openxmlformats.org/drawingml/2006/main">
              <a:ext uri="{FF2B5EF4-FFF2-40B4-BE49-F238E27FC236}">
                <a16:creationId xmlns:a16="http://schemas.microsoft.com/office/drawing/2014/main" id="{236954FF-EA2B-4FF3-A9F8-48C936F2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200400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SMS fallback with last location; queue &amp; retry</a:t>
            </a:r>
            <a:endParaRPr sz="850"/>
          </a:p>
        </p:txBody>
      </p:sp>
      <p:sp>
        <p:nvSpPr>
          <p:cNvPr id="65" name="Shape 55">
            <a:extLst xmlns:a="http://schemas.openxmlformats.org/drawingml/2006/main">
              <a:ext uri="{FF2B5EF4-FFF2-40B4-BE49-F238E27FC236}">
                <a16:creationId xmlns:a16="http://schemas.microsoft.com/office/drawing/2014/main" id="{CFCD53A1-6762-4BBD-B177-7E0B3EEA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785616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67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6f85717e04a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3904488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67" name="Text 56">
            <a:extLst xmlns:a="http://schemas.openxmlformats.org/drawingml/2006/main">
              <a:ext uri="{FF2B5EF4-FFF2-40B4-BE49-F238E27FC236}">
                <a16:creationId xmlns:a16="http://schemas.microsoft.com/office/drawing/2014/main" id="{F220C773-586E-4C7E-ACB4-86DC5F9A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785616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Battery drain</a:t>
            </a:r>
            <a:endParaRPr sz="950"/>
          </a:p>
        </p:txBody>
      </p:sp>
      <p:sp>
        <p:nvSpPr>
          <p:cNvPr id="68" name="Shape 57">
            <a:extLst xmlns:a="http://schemas.openxmlformats.org/drawingml/2006/main">
              <a:ext uri="{FF2B5EF4-FFF2-40B4-BE49-F238E27FC236}">
                <a16:creationId xmlns:a16="http://schemas.microsoft.com/office/drawing/2014/main" id="{07501508-FD2A-41FF-A3DC-BB829E0A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032504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9" name="Shape 58">
            <a:extLst xmlns:a="http://schemas.openxmlformats.org/drawingml/2006/main">
              <a:ext uri="{FF2B5EF4-FFF2-40B4-BE49-F238E27FC236}">
                <a16:creationId xmlns:a16="http://schemas.microsoft.com/office/drawing/2014/main" id="{03D2F218-F64D-41B4-AA65-48484156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85616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70" name="Text 59">
            <a:extLst xmlns:a="http://schemas.openxmlformats.org/drawingml/2006/main">
              <a:ext uri="{FF2B5EF4-FFF2-40B4-BE49-F238E27FC236}">
                <a16:creationId xmlns:a16="http://schemas.microsoft.com/office/drawing/2014/main" id="{E2B118F7-9066-446B-B298-E2BBABE5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785616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Adaptive GPS sampling; monitor only during a journey</a:t>
            </a:r>
            <a:endParaRPr sz="850"/>
          </a:p>
        </p:txBody>
      </p:sp>
      <p:sp>
        <p:nvSpPr>
          <p:cNvPr id="71" name="Shape 60">
            <a:extLst xmlns:a="http://schemas.openxmlformats.org/drawingml/2006/main">
              <a:ext uri="{FF2B5EF4-FFF2-40B4-BE49-F238E27FC236}">
                <a16:creationId xmlns:a16="http://schemas.microsoft.com/office/drawing/2014/main" id="{1540F975-183C-4ED7-BC3E-B2C6731F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370832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73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b7be633b24a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44897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73" name="Text 61">
            <a:extLst xmlns:a="http://schemas.openxmlformats.org/drawingml/2006/main">
              <a:ext uri="{FF2B5EF4-FFF2-40B4-BE49-F238E27FC236}">
                <a16:creationId xmlns:a16="http://schemas.microsoft.com/office/drawing/2014/main" id="{56F64B57-BCC3-4BA7-BB94-A2AAAF73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370832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&amp; security</a:t>
            </a:r>
            <a:endParaRPr sz="950"/>
          </a:p>
        </p:txBody>
      </p:sp>
      <p:sp>
        <p:nvSpPr>
          <p:cNvPr id="74" name="Shape 62">
            <a:extLst xmlns:a="http://schemas.openxmlformats.org/drawingml/2006/main">
              <a:ext uri="{FF2B5EF4-FFF2-40B4-BE49-F238E27FC236}">
                <a16:creationId xmlns:a16="http://schemas.microsoft.com/office/drawing/2014/main" id="{06C830A4-EAB2-4C09-8A2B-03FA294E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617720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75" name="Shape 63">
            <a:extLst xmlns:a="http://schemas.openxmlformats.org/drawingml/2006/main">
              <a:ext uri="{FF2B5EF4-FFF2-40B4-BE49-F238E27FC236}">
                <a16:creationId xmlns:a16="http://schemas.microsoft.com/office/drawing/2014/main" id="{B5FE41FB-87BB-4E91-9D42-0019B0C6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370832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76" name="Text 64">
            <a:extLst xmlns:a="http://schemas.openxmlformats.org/drawingml/2006/main">
              <a:ext uri="{FF2B5EF4-FFF2-40B4-BE49-F238E27FC236}">
                <a16:creationId xmlns:a16="http://schemas.microsoft.com/office/drawing/2014/main" id="{D186E3F6-4CB1-4D9D-A29B-6CBFD16E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4370832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Explicit consent, journey-only sharing, TLS, auto-delete; nearby alerts hide identity</a:t>
            </a:r>
            <a:endParaRPr sz="850"/>
          </a:p>
        </p:txBody>
      </p:sp>
      <p:sp>
        <p:nvSpPr>
          <p:cNvPr id="77" name="Shape 65">
            <a:extLst xmlns:a="http://schemas.openxmlformats.org/drawingml/2006/main">
              <a:ext uri="{FF2B5EF4-FFF2-40B4-BE49-F238E27FC236}">
                <a16:creationId xmlns:a16="http://schemas.microsoft.com/office/drawing/2014/main" id="{8916163A-A703-40E7-9FB6-12362EDF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56048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79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4f7aae3b64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5074920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79" name="Text 66">
            <a:extLst xmlns:a="http://schemas.openxmlformats.org/drawingml/2006/main">
              <a:ext uri="{FF2B5EF4-FFF2-40B4-BE49-F238E27FC236}">
                <a16:creationId xmlns:a16="http://schemas.microsoft.com/office/drawing/2014/main" id="{1E932B32-545D-4CE7-89A0-BA4002F7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956048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Background-location limits</a:t>
            </a:r>
            <a:endParaRPr sz="950"/>
          </a:p>
        </p:txBody>
      </p:sp>
      <p:sp>
        <p:nvSpPr>
          <p:cNvPr id="80" name="Shape 67">
            <a:extLst xmlns:a="http://schemas.openxmlformats.org/drawingml/2006/main">
              <a:ext uri="{FF2B5EF4-FFF2-40B4-BE49-F238E27FC236}">
                <a16:creationId xmlns:a16="http://schemas.microsoft.com/office/drawing/2014/main" id="{FC23B9F0-EE3B-484F-9FE9-7A3AC1D3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5202936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81" name="Shape 68">
            <a:extLst xmlns:a="http://schemas.openxmlformats.org/drawingml/2006/main">
              <a:ext uri="{FF2B5EF4-FFF2-40B4-BE49-F238E27FC236}">
                <a16:creationId xmlns:a16="http://schemas.microsoft.com/office/drawing/2014/main" id="{13B2A9FD-B002-4187-91E3-D1FC8FEE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956048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82" name="Text 69">
            <a:extLst xmlns:a="http://schemas.openxmlformats.org/drawingml/2006/main">
              <a:ext uri="{FF2B5EF4-FFF2-40B4-BE49-F238E27FC236}">
                <a16:creationId xmlns:a16="http://schemas.microsoft.com/office/drawing/2014/main" id="{0039FC05-BA88-4B63-8E36-2BB5E914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4956048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Foreground service with visible notification (Android policy)</a:t>
            </a:r>
            <a:endParaRPr sz="850"/>
          </a:p>
        </p:txBody>
      </p:sp>
      <p:sp>
        <p:nvSpPr>
          <p:cNvPr id="83" name="Shape 70">
            <a:extLst xmlns:a="http://schemas.openxmlformats.org/drawingml/2006/main">
              <a:ext uri="{FF2B5EF4-FFF2-40B4-BE49-F238E27FC236}">
                <a16:creationId xmlns:a16="http://schemas.microsoft.com/office/drawing/2014/main" id="{B3459B76-ABDE-4F32-BFB2-25F2A94A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41264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85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ba5dac3d44b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566013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85" name="Text 71">
            <a:extLst xmlns:a="http://schemas.openxmlformats.org/drawingml/2006/main">
              <a:ext uri="{FF2B5EF4-FFF2-40B4-BE49-F238E27FC236}">
                <a16:creationId xmlns:a16="http://schemas.microsoft.com/office/drawing/2014/main" id="{AB4181BC-16FA-410F-A1D8-D90BDF35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541264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mis-scoring</a:t>
            </a:r>
            <a:endParaRPr sz="950"/>
          </a:p>
        </p:txBody>
      </p:sp>
      <p:sp>
        <p:nvSpPr>
          <p:cNvPr id="86" name="Shape 72">
            <a:extLst xmlns:a="http://schemas.openxmlformats.org/drawingml/2006/main">
              <a:ext uri="{FF2B5EF4-FFF2-40B4-BE49-F238E27FC236}">
                <a16:creationId xmlns:a16="http://schemas.microsoft.com/office/drawing/2014/main" id="{398C776B-EE8C-4252-B9AF-60F71EBD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5788152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87" name="Shape 73">
            <a:extLst xmlns:a="http://schemas.openxmlformats.org/drawingml/2006/main">
              <a:ext uri="{FF2B5EF4-FFF2-40B4-BE49-F238E27FC236}">
                <a16:creationId xmlns:a16="http://schemas.microsoft.com/office/drawing/2014/main" id="{8A33D802-7C21-42A2-8CED-E8C1BC73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541264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88" name="Text 74">
            <a:extLst xmlns:a="http://schemas.openxmlformats.org/drawingml/2006/main">
              <a:ext uri="{FF2B5EF4-FFF2-40B4-BE49-F238E27FC236}">
                <a16:creationId xmlns:a16="http://schemas.microsoft.com/office/drawing/2014/main" id="{F4C03D95-C7BF-415B-AEC5-4FCB9F3B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5541264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AI only raises signals; rules + user confirmation decide</a:t>
            </a:r>
            <a:endParaRPr sz="850"/>
          </a:p>
        </p:txBody>
      </p:sp>
      <p:sp>
        <p:nvSpPr>
          <p:cNvPr id="89" name="Text 75">
            <a:extLst xmlns:a="http://schemas.openxmlformats.org/drawingml/2006/main">
              <a:ext uri="{FF2B5EF4-FFF2-40B4-BE49-F238E27FC236}">
                <a16:creationId xmlns:a16="http://schemas.microsoft.com/office/drawing/2014/main" id="{24A7AE01-2A81-4371-BA6F-CDBE8FFE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614476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SafeSaathi is an assistive tool — it complements, never replaces, 112 and police. It does not predict or prevent crime.</a:t>
            </a:r>
            <a:endParaRPr sz="850"/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34618E4-3AAE-4567-A32C-352CA47F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12180928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9B20E38-37C8-49E2-AD3F-FF514BD1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C77D3B-8E6A-4477-B048-69ECA0F3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4B68538-72E0-4BCD-B46D-0BC40005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BUSINESS MODEL &amp; REFERENCES</a:t>
            </a:r>
            <a:endParaRPr sz="2800"/>
          </a:p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da8ad4cb64d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4f7dc05524b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B217C58-E96B-4271-835A-6A88550E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6446520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F0154AF6-703A-4379-A0C0-2B37953E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608076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B57A68B-A2C6-4169-8EAA-C9BFBF7F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6080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MODEL — FREEMIUM B2C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498F972-8BF8-4C3E-874F-4142EED8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297180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EFB5FEE-8906-420C-85D2-08F7E58D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29718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6f494e0bd49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8928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EDBDB65-CF86-4259-AD0D-2FF2ED55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83080"/>
            <a:ext cx="1188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FREE</a:t>
            </a:r>
            <a:endParaRPr sz="13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3E5F999-7CB7-41E5-A3F0-FD60FBF7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83080"/>
            <a:ext cx="1325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</a:t>
            </a:r>
            <a:endParaRPr sz="85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EE2AF53B-DA54-4917-803F-79285FEA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2743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One-tap, shake &amp; voice SOS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Trusted contacts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Basic live location sharing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Nearby help + emergency siren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Safety timer</a:t>
            </a:r>
            <a:endParaRPr sz="11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2B1BD779-03A7-41F0-9C84-EBB22992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783080"/>
            <a:ext cx="297180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5E9B211D-DF9E-4FC2-A685-9856B879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783080"/>
            <a:ext cx="29718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pic>
        <p:nvPicPr>
          <p:cNvPr id="7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64ff0438d44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49040" y="18928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68CAB7A2-FF5D-4B06-9301-C2934847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83080"/>
            <a:ext cx="1188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PREMIUM</a:t>
            </a:r>
            <a:endParaRPr sz="13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9902AB0E-738C-4457-A1F7-D607F602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783080"/>
            <a:ext cx="1325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low-cost monthly / yearly</a:t>
            </a:r>
            <a:endParaRPr sz="85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86617EF2-6B6A-4666-AE99-D31C0244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423160"/>
            <a:ext cx="2743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Automated Guardian Journey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Route-deviation &amp; stop alerts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AI-assisted risk signals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Extended journey history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More guardians &amp; custom escalation</a:t>
            </a:r>
            <a:endParaRPr sz="115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1C3B576E-B176-4E2F-9814-E0AAF4F1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87952"/>
            <a:ext cx="6080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Principle: </a:t>
            </a:r>
            <a:r>
              <a:rPr sz="1050" i="1">
                <a:solidFill>
                  <a:srgbClr val="1B1B1B"/>
                </a:solidFill>
                <a:latin typeface="Arial"/>
                <a:ea typeface="Arial"/>
                <a:cs typeface="Arial"/>
              </a:rPr>
              <a:t>emergency SOS is never behind a paywall.</a:t>
            </a:r>
            <a:endParaRPr sz="105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137FFE4E-F661-4499-91F5-EBCBF1F8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53712"/>
            <a:ext cx="6080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ADDITIONAL REVENUE — INSTITUTIONAL PARTNERSHIPS (B2B2C)</a:t>
            </a:r>
            <a:endParaRPr sz="105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03623BAC-EA8C-4652-9E0D-D6A5E9A3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92040"/>
            <a:ext cx="193852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A992EB8D-3FB1-4333-AFC7-519CA654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0176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8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b418c50f464f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10" y="510271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C16B9B51-2C07-49BE-99BE-56453C32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956048"/>
            <a:ext cx="1325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Colleges &amp; Universities</a:t>
            </a:r>
            <a:endParaRPr sz="95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71B14579-9D8C-4704-8792-557E2E55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458968"/>
            <a:ext cx="17556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A6478"/>
                </a:solidFill>
                <a:latin typeface="Arial"/>
                <a:ea typeface="Arial"/>
                <a:cs typeface="Arial"/>
              </a:rPr>
              <a:t>Campus licence, hostel check-ins</a:t>
            </a:r>
            <a:endParaRPr sz="85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37C8C365-686A-4F6D-857C-0D67609F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892040"/>
            <a:ext cx="193852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0B89BA38-06FC-4994-9BDE-15B03BB7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500176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8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318176ef44b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52710" y="510271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3A63DD71-B786-47EE-A04A-B864F10A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4956048"/>
            <a:ext cx="1325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Corporates</a:t>
            </a:r>
            <a:endParaRPr sz="95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47EE7918-982D-4D72-9B0E-07E01E78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5458968"/>
            <a:ext cx="17556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A6478"/>
                </a:solidFill>
                <a:latin typeface="Arial"/>
                <a:ea typeface="Arial"/>
                <a:cs typeface="Arial"/>
              </a:rPr>
              <a:t>Night-shift &amp; cab-commute safety</a:t>
            </a:r>
            <a:endParaRPr sz="85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C3DC5B8E-C03B-408B-BB6A-A20A3DF5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892040"/>
            <a:ext cx="193852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DF2436C9-98CD-44CF-BDF8-E777749A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500176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f5f7e568448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0110" y="510271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96A9B017-6092-4A93-A671-35C29E42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956048"/>
            <a:ext cx="1325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Travel &amp; Mobility</a:t>
            </a:r>
            <a:endParaRPr sz="950"/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9E6ADD6C-6A5A-4DC5-AF91-C03B62D7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5458968"/>
            <a:ext cx="17556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A6478"/>
                </a:solidFill>
                <a:latin typeface="Arial"/>
                <a:ea typeface="Arial"/>
                <a:cs typeface="Arial"/>
              </a:rPr>
              <a:t>Hostels, travel &amp; cab platforms</a:t>
            </a:r>
            <a:endParaRPr sz="850"/>
          </a:p>
        </p:txBody>
      </p:sp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672BFEDB-68A3-4F8E-8291-17940D5B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9320"/>
            <a:ext cx="6080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Sustainability: </a:t>
            </a: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serverless, pay-as-you-grow infra keeps costs low; institutional licences fund the free tier.</a:t>
            </a:r>
            <a:endParaRPr sz="950"/>
          </a:p>
        </p:txBody>
      </p:sp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9416A95F-9E18-48B0-9B90-F24B63EE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188720"/>
            <a:ext cx="491947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41" name="Shape 32">
            <a:extLst xmlns:a="http://schemas.openxmlformats.org/drawingml/2006/main">
              <a:ext uri="{FF2B5EF4-FFF2-40B4-BE49-F238E27FC236}">
                <a16:creationId xmlns:a16="http://schemas.microsoft.com/office/drawing/2014/main" id="{63DAAF51-80C3-4513-9A40-0DAF79B4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298448"/>
            <a:ext cx="455371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499FEA74-D46A-40E3-9451-745B3336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298448"/>
            <a:ext cx="45537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REFERENCES</a:t>
            </a:r>
            <a:endParaRPr sz="1300"/>
          </a:p>
        </p:txBody>
      </p:sp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5AD065BF-FA87-4FFF-BD77-DFEA2404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55648"/>
            <a:ext cx="45537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STATISTICS &amp; REPORTS</a:t>
            </a:r>
            <a:endParaRPr sz="950"/>
          </a:p>
        </p:txBody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3BAC2F20-6AEA-4C4B-86B1-FDFCB095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011680"/>
            <a:ext cx="455371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[1]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NCRB, “Crime in India 2023” — ncrb.gov.in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[2]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NCW &amp; Pvalue Analytics, “NARI 2025: National Annual Report &amp; Index on Women’s Safety” — pvalueanalytics.com/Home/NARI2025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[3]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Emergency Response Support System (112 India) — 112.gov.in</a:t>
            </a:r>
            <a:endParaRPr sz="900"/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7AE0B82D-BA7F-4DC2-AB00-D206E692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035808"/>
            <a:ext cx="45537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OFFICIAL DOCUMENTATION &amp; APIs</a:t>
            </a:r>
            <a:endParaRPr sz="950"/>
          </a:p>
        </p:txBody>
      </p:sp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3A988824-34EA-4A93-B5FA-6EAD9861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291840"/>
            <a:ext cx="4553712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[4]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Android Developers — Location, background location &amp; sensors guides — developer.android.com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[5]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Google Maps Platform — Maps SDK for Android, Places API — developers.google.com/maps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[6]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— Auth, Firestore, Cloud Functions, FCM — firebase.google.com/docs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[7]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FastAPI — fastapi.tiangolo.com · scikit-learn — scikit-learn.org</a:t>
            </a:r>
            <a:endParaRPr sz="900"/>
          </a:p>
        </p:txBody>
      </p:sp>
      <p:sp>
        <p:nvSpPr>
          <p:cNvPr id="47" name="Text 38">
            <a:extLst xmlns:a="http://schemas.openxmlformats.org/drawingml/2006/main">
              <a:ext uri="{FF2B5EF4-FFF2-40B4-BE49-F238E27FC236}">
                <a16:creationId xmlns:a16="http://schemas.microsoft.com/office/drawing/2014/main" id="{9BBD08EC-CCC9-423B-8694-9B8ADF2F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636008"/>
            <a:ext cx="45537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RESEARCH PAPERS</a:t>
            </a:r>
            <a:endParaRPr sz="950"/>
          </a:p>
        </p:txBody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DC406A59-7860-4B9C-BEAE-08131D5B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892040"/>
            <a:ext cx="4553712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[8]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Chand D. et al., “A mobile application for Women’s Safety: WoSApp,” IEEE TENCON 2015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[9]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Yarrabothu R.S., Thota B., “Abhaya: An Android App for the safety of women,” IEEE INDICON 2015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[10]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Zhang D. et al., “iBAT: Detecting anomalous taxi trajectories from GPS traces,” ACM UbiComp 2011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[11]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Chandola V., Banerjee A., Kumar V., “Anomaly Detection: A Survey,” ACM Computing Surveys, 2009</a:t>
            </a:r>
            <a:endParaRPr sz="900"/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847ECD-9229-4907-A87D-65C4922D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6132014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2026-09-26T22:35:18.6890000Z</dcterms:created>
  <dcterms:modified xsi:type="dcterms:W3CDTF">2026-09-26T22:35:18.6890000Z</dcterms:modified>
</coreProperties>
</file>