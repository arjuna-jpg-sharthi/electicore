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65" r:id="rId4"/>
    <p:sldId id="260" r:id="rId5"/>
    <p:sldId id="261" r:id="rId6"/>
    <p:sldId id="262" r:id="rId7"/>
    <p:sldId id="266" r:id="rId8"/>
    <p:sldId id="267" r:id="rId9"/>
    <p:sldId id="263" r:id="rId10"/>
    <p:sldId id="264" r:id="rId11"/>
  </p:sldIdLst>
  <p:sldSz cx="9144000" cy="5143500" type="screen16x9"/>
  <p:notesSz cx="7099300" cy="10234613"/>
  <p:embeddedFontLst>
    <p:embeddedFont>
      <p:font typeface="Nunito" pitchFamily="2" charset="0"/>
      <p:regular r:id="rId13"/>
      <p:bold r:id="rId14"/>
    </p:embeddedFont>
    <p:embeddedFont>
      <p:font typeface="Tahoma" panose="020B0604030504040204" pitchFamily="3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6CBFA86-E376-4550-A0A5-5B5177A9819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183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048709" name="Google Shape;4;n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32" tIns="99032" rIns="99032" bIns="99032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Google Shape;131;g155e292743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48616" name="Google Shape;132;g155e2927439_0_8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32" tIns="99032" rIns="99032" bIns="9903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Google Shape;131;g155e292743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48616" name="Google Shape;132;g155e2927439_0_8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32" tIns="99032" rIns="99032" bIns="9903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9128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Google Shape;138;g191c162e9fe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48624" name="Google Shape;139;g191c162e9fe_0_38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32" tIns="99032" rIns="99032" bIns="99032" anchor="t" anchorCtr="0">
            <a:noAutofit/>
          </a:bodyPr>
          <a:lstStyle/>
          <a:p>
            <a:pPr marL="495239" indent="-343916" algn="just">
              <a:lnSpc>
                <a:spcPct val="150000"/>
              </a:lnSpc>
              <a:buClr>
                <a:srgbClr val="233A44"/>
              </a:buClr>
              <a:buSzPts val="1400"/>
              <a:buFont typeface="Times New Roman"/>
              <a:buChar char="●"/>
            </a:pPr>
            <a:endParaRPr sz="13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Google Shape;145;g20a06bbd68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48629" name="Google Shape;146;g20a06bbd687_0_7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32" tIns="99032" rIns="99032" bIns="9903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Google Shape;152;g2224b6020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48634" name="Google Shape;153;g2224b60206b_0_0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32" tIns="99032" rIns="99032" bIns="9903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Google Shape;152;g2224b60206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48634" name="Google Shape;153;g2224b60206b_0_0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32" tIns="99032" rIns="99032" bIns="9903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24443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Google Shape;167;g155e2927439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48639" name="Google Shape;168;g155e2927439_0_156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32" tIns="99032" rIns="99032" bIns="9903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Google Shape;174;g155e2927439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48643" name="Google Shape;175;g155e2927439_0_169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32" tIns="99032" rIns="99032" bIns="9903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580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581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582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048583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584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585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048586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587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588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1048589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590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591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1048592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593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594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1048595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596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597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8598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1048599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48600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1048652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653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654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048655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656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657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8658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48659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07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08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09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48610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</a:lvl9pPr>
          </a:lstStyle>
          <a:p>
            <a:endParaRPr/>
          </a:p>
        </p:txBody>
      </p:sp>
      <p:sp>
        <p:nvSpPr>
          <p:cNvPr id="1048611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76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77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78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48679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</a:lvl9pPr>
          </a:lstStyle>
          <a:p>
            <a:endParaRPr/>
          </a:p>
        </p:txBody>
      </p:sp>
      <p:sp>
        <p:nvSpPr>
          <p:cNvPr id="1048680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</a:lvl9pPr>
          </a:lstStyle>
          <a:p>
            <a:endParaRPr/>
          </a:p>
        </p:txBody>
      </p:sp>
      <p:sp>
        <p:nvSpPr>
          <p:cNvPr id="1048681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83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84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85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48686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45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46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47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48648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</a:lvl9pPr>
          </a:lstStyle>
          <a:p>
            <a:endParaRPr/>
          </a:p>
        </p:txBody>
      </p:sp>
      <p:sp>
        <p:nvSpPr>
          <p:cNvPr id="1048649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88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1048689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690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691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8692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1048693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694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695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1048696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697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698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8699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1048700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702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703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704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48705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48706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</a:lvl9pPr>
          </a:lstStyle>
          <a:p>
            <a:endParaRPr/>
          </a:p>
        </p:txBody>
      </p:sp>
      <p:sp>
        <p:nvSpPr>
          <p:cNvPr id="1048707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61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62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663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lvl1pPr>
          </a:lstStyle>
          <a:p>
            <a:endParaRPr/>
          </a:p>
        </p:txBody>
      </p:sp>
      <p:sp>
        <p:nvSpPr>
          <p:cNvPr id="1048664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048666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667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668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048669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670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671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8672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8673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</a:lvl9pPr>
          </a:lstStyle>
          <a:p>
            <a:endParaRPr/>
          </a:p>
        </p:txBody>
      </p:sp>
      <p:sp>
        <p:nvSpPr>
          <p:cNvPr id="1048674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</a:lvl1pPr>
            <a:lvl2pPr lvl="1">
              <a:buNone/>
            </a:lvl2pPr>
            <a:lvl3pPr lvl="2">
              <a:buNone/>
            </a:lvl3pPr>
            <a:lvl4pPr lvl="3">
              <a:buNone/>
            </a:lvl4pPr>
            <a:lvl5pPr lvl="4">
              <a:buNone/>
            </a:lvl5pPr>
            <a:lvl6pPr lvl="5">
              <a:buNone/>
            </a:lvl6pPr>
            <a:lvl7pPr lvl="6">
              <a:buNone/>
            </a:lvl7pPr>
            <a:lvl8pPr lvl="7">
              <a:buNone/>
            </a:lvl8pPr>
            <a:lvl9pPr lvl="8"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04857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57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cholar.google.com/scholar?q=David+Chaum+electronic+voting" TargetMode="External"/><Relationship Id="rId7" Type="http://schemas.openxmlformats.org/officeDocument/2006/relationships/hyperlink" Target="https://scholar.google.com/scholar?q=Tim+Berners-Lee+World+Wide+Web+technologie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scholar.google.com/scholar?q=Michael+Wooldridge+artificial+intelligence+intelligent+agents" TargetMode="External"/><Relationship Id="rId5" Type="http://schemas.openxmlformats.org/officeDocument/2006/relationships/hyperlink" Target="https://scholar.google.com/scholar?q=Andrew+S.+Tanenbaum+Computer+Networks" TargetMode="External"/><Relationship Id="rId4" Type="http://schemas.openxmlformats.org/officeDocument/2006/relationships/hyperlink" Target="https://scholar.google.com/scholar?q=Andrew+Ng+artificial+intelligence+machine+learning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Rectangle 6"/>
          <p:cNvSpPr>
            <a:spLocks noChangeArrowheads="1"/>
          </p:cNvSpPr>
          <p:nvPr/>
        </p:nvSpPr>
        <p:spPr bwMode="auto">
          <a:xfrm>
            <a:off x="750000" y="2230000"/>
            <a:ext cx="3600000" cy="15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33A44"/>
                </a:solidFill>
                <a:latin typeface="Times New Roman"/>
              </a:rPr>
              <a:t>PRESENTED BY:</a:t>
            </a:r>
            <a:endParaRPr lang="en-US" altLang="en-US" sz="1200" b="1" u="sng" dirty="0">
              <a:latin typeface="Times New Roman" pitchFamily="18" charset="0"/>
            </a:endParaRPr>
          </a:p>
          <a:p>
            <a:pPr algn="l">
              <a:spcBef>
                <a:spcPts val="700"/>
              </a:spcBef>
            </a:pPr>
            <a:r>
              <a:rPr sz="1150" b="0" i="0">
                <a:solidFill>
                  <a:srgbClr val="000000"/>
                </a:solidFill>
                <a:latin typeface="Times New Roman"/>
              </a:rPr>
              <a:t>1. Dhruv Sharma</a:t>
            </a:r>
            <a:r>
              <a:rPr sz="950" b="0" i="0">
                <a:solidFill>
                  <a:srgbClr val="404040"/>
                </a:solidFill>
                <a:latin typeface="Times New Roman"/>
              </a:rPr>
              <a:t>  (Roll No: 2502900100093)</a:t>
            </a:r>
          </a:p>
          <a:p>
            <a:pPr algn="l">
              <a:spcBef>
                <a:spcPts val="700"/>
              </a:spcBef>
            </a:pPr>
            <a:r>
              <a:rPr sz="1150" b="0" i="0">
                <a:solidFill>
                  <a:srgbClr val="000000"/>
                </a:solidFill>
                <a:latin typeface="Times New Roman"/>
              </a:rPr>
              <a:t>2. Dhruv Pratap Singh</a:t>
            </a:r>
            <a:r>
              <a:rPr sz="950" b="0" i="0">
                <a:solidFill>
                  <a:srgbClr val="404040"/>
                </a:solidFill>
                <a:latin typeface="Times New Roman"/>
              </a:rPr>
              <a:t>  (Roll No: 2502900100092)</a:t>
            </a:r>
          </a:p>
          <a:p>
            <a:pPr algn="l">
              <a:spcBef>
                <a:spcPts val="700"/>
              </a:spcBef>
            </a:pPr>
            <a:r>
              <a:rPr sz="1150" b="0" i="0">
                <a:solidFill>
                  <a:srgbClr val="000000"/>
                </a:solidFill>
                <a:latin typeface="Times New Roman"/>
              </a:rPr>
              <a:t>3. Dharmendra Kumar Sharma</a:t>
            </a:r>
            <a:r>
              <a:rPr sz="950" b="0" i="0">
                <a:solidFill>
                  <a:srgbClr val="404040"/>
                </a:solidFill>
                <a:latin typeface="Times New Roman"/>
              </a:rPr>
              <a:t>  (Roll No: 2502900100090)</a:t>
            </a:r>
          </a:p>
          <a:p>
            <a:pPr algn="l">
              <a:spcBef>
                <a:spcPts val="700"/>
              </a:spcBef>
            </a:pPr>
            <a:r>
              <a:rPr sz="1150" b="0" i="0">
                <a:solidFill>
                  <a:srgbClr val="000000"/>
                </a:solidFill>
                <a:latin typeface="Times New Roman"/>
              </a:rPr>
              <a:t>4. Jitendra Kumar Sharma</a:t>
            </a:r>
            <a:r>
              <a:rPr sz="950" b="0" i="0">
                <a:solidFill>
                  <a:srgbClr val="404040"/>
                </a:solidFill>
                <a:latin typeface="Times New Roman"/>
              </a:rPr>
              <a:t>  (Roll No: 2502900100112)</a:t>
            </a:r>
          </a:p>
        </p:txBody>
      </p:sp>
      <p:sp>
        <p:nvSpPr>
          <p:cNvPr id="1048605" name="Text Box 4"/>
          <p:cNvSpPr txBox="1">
            <a:spLocks noChangeArrowheads="1"/>
          </p:cNvSpPr>
          <p:nvPr/>
        </p:nvSpPr>
        <p:spPr bwMode="auto">
          <a:xfrm>
            <a:off x="1428750" y="758763"/>
            <a:ext cx="6229350" cy="1036181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000" b="1" dirty="0">
                <a:solidFill>
                  <a:srgbClr val="233A44"/>
                </a:solidFill>
                <a:latin typeface="Times New Roman"/>
                <a:ea typeface="Times New Roman" pitchFamily="18" charset="0"/>
                <a:cs typeface="Times New Roman" pitchFamily="18" charset="0"/>
              </a:rPr>
              <a:t>ELECTICORE</a:t>
            </a:r>
            <a:endParaRPr lang="en-US" sz="1800" b="1" dirty="0">
              <a:solidFill>
                <a:schemeClr val="accent5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algn="ctr">
              <a:spcBef>
                <a:spcPts val="400"/>
              </a:spcBef>
            </a:pPr>
            <a:r>
              <a:rPr sz="1400" b="1" i="1" dirty="0">
                <a:solidFill>
                  <a:srgbClr val="000000"/>
                </a:solidFill>
                <a:latin typeface="Times New Roman"/>
              </a:rPr>
              <a:t>“An AI-Enabled Smart Student Management Portal for Elections (Voting), Campus Safety, and Academic Collaboration”</a:t>
            </a:r>
          </a:p>
        </p:txBody>
      </p:sp>
      <p:pic>
        <p:nvPicPr>
          <p:cNvPr id="2097152" name="Picture 10" descr="IMG_20230426_16052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3531" y="243191"/>
            <a:ext cx="770831" cy="5739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25A717-BE87-1B43-3FFE-52E23AD9FC0D}"/>
              </a:ext>
            </a:extLst>
          </p:cNvPr>
          <p:cNvSpPr txBox="1"/>
          <p:nvPr/>
        </p:nvSpPr>
        <p:spPr>
          <a:xfrm>
            <a:off x="1104900" y="3827443"/>
            <a:ext cx="73342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ABES Institute of Technology, Ghaziabad</a:t>
            </a:r>
            <a:endParaRPr lang="en-IN" sz="1400" b="0" strike="noStrike" spc="-1" dirty="0">
              <a:latin typeface="Arial"/>
            </a:endParaRPr>
          </a:p>
          <a:p>
            <a:pPr algn="ctr"/>
            <a:r>
              <a:rPr sz="1150" b="0" i="0">
                <a:solidFill>
                  <a:srgbClr val="000000"/>
                </a:solidFill>
                <a:latin typeface="Times New Roman"/>
              </a:rPr>
              <a:t>Affiliated to:</a:t>
            </a:r>
          </a:p>
          <a:p>
            <a:pPr algn="ctr"/>
            <a:r>
              <a:rPr sz="1250" b="1" i="0">
                <a:solidFill>
                  <a:srgbClr val="000000"/>
                </a:solidFill>
                <a:latin typeface="Times New Roman"/>
              </a:rPr>
              <a:t>Dr. A.P.J. Abdul Kalam Technical University</a:t>
            </a:r>
          </a:p>
          <a:p>
            <a:pPr algn="ctr"/>
            <a:r>
              <a:rPr sz="1200" b="0" i="0">
                <a:solidFill>
                  <a:srgbClr val="000000"/>
                </a:solidFill>
                <a:latin typeface="Times New Roman"/>
              </a:rPr>
              <a:t>Session: 2026–27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662214-0B17-6C34-2C2D-36F8E1D27DF1}"/>
              </a:ext>
            </a:extLst>
          </p:cNvPr>
          <p:cNvSpPr txBox="1"/>
          <p:nvPr/>
        </p:nvSpPr>
        <p:spPr>
          <a:xfrm>
            <a:off x="1789684" y="1864348"/>
            <a:ext cx="56800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360" algn="ctr">
              <a:lnSpc>
                <a:spcPct val="10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Department of Computer Science &amp; Engineering</a:t>
            </a:r>
            <a:endParaRPr lang="en-IN" sz="1800" b="0" strike="noStrike" spc="-1" dirty="0">
              <a:latin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CDB230-BFDC-0A7C-949A-D23F4E247C7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525" y="250825"/>
            <a:ext cx="2266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7153" name="TextBox 2097152"/>
          <p:cNvSpPr txBox="1"/>
          <p:nvPr/>
        </p:nvSpPr>
        <p:spPr>
          <a:xfrm>
            <a:off x="4800000" y="2230000"/>
            <a:ext cx="3600000" cy="836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233A44"/>
                </a:solidFill>
                <a:latin typeface="Times New Roman"/>
              </a:rPr>
              <a:t>GUIDED BY:</a:t>
            </a:r>
          </a:p>
          <a:p>
            <a:pPr algn="ctr">
              <a:spcBef>
                <a:spcPts val="1000"/>
              </a:spcBef>
            </a:pPr>
            <a:r>
              <a:rPr lang="en-IN" sz="1300" b="1" dirty="0">
                <a:latin typeface="Times New Roman"/>
              </a:rPr>
              <a:t>MRS. MONIKA GAUR</a:t>
            </a:r>
            <a:endParaRPr sz="1300" b="1" i="0" dirty="0">
              <a:solidFill>
                <a:srgbClr val="000000"/>
              </a:solidFill>
              <a:latin typeface="Times New Roman"/>
            </a:endParaRPr>
          </a:p>
          <a:p>
            <a:pPr algn="ctr">
              <a:spcBef>
                <a:spcPts val="300"/>
              </a:spcBef>
            </a:pPr>
            <a:r>
              <a:rPr sz="1150" b="0" i="1" dirty="0">
                <a:solidFill>
                  <a:srgbClr val="000000"/>
                </a:solidFill>
                <a:latin typeface="Times New Roman"/>
              </a:rPr>
              <a:t>Faculty Guide / Department Supervisor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0C5EBF-F9C4-CE90-74C7-8562C4ACADC8}"/>
              </a:ext>
            </a:extLst>
          </p:cNvPr>
          <p:cNvSpPr txBox="1"/>
          <p:nvPr/>
        </p:nvSpPr>
        <p:spPr>
          <a:xfrm>
            <a:off x="4114800" y="2115014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686353-9D3B-0F62-750D-B201AF0A5418}"/>
              </a:ext>
            </a:extLst>
          </p:cNvPr>
          <p:cNvSpPr txBox="1"/>
          <p:nvPr/>
        </p:nvSpPr>
        <p:spPr>
          <a:xfrm>
            <a:off x="2759501" y="450986"/>
            <a:ext cx="36249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MINI PROJECT ID 2026-27CSEMPID017</a:t>
            </a:r>
            <a:endParaRPr lang="en-IN" dirty="0"/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Google Shape;134;p14"/>
          <p:cNvSpPr txBox="1">
            <a:spLocks noGrp="1"/>
          </p:cNvSpPr>
          <p:nvPr>
            <p:ph type="title"/>
          </p:nvPr>
        </p:nvSpPr>
        <p:spPr>
          <a:xfrm>
            <a:off x="819150" y="454775"/>
            <a:ext cx="7505700" cy="7779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Table of Contents</a:t>
            </a:r>
            <a:endParaRPr sz="2800" b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13" name="Google Shape;135;p14"/>
          <p:cNvSpPr txBox="1">
            <a:spLocks noGrp="1"/>
          </p:cNvSpPr>
          <p:nvPr>
            <p:ph type="body" idx="1"/>
          </p:nvPr>
        </p:nvSpPr>
        <p:spPr>
          <a:xfrm>
            <a:off x="680075" y="1288100"/>
            <a:ext cx="7603800" cy="32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indent="0">
              <a:spcBef>
                <a:spcPts val="1000"/>
              </a:spcBef>
              <a:buNone/>
            </a:pPr>
            <a:r>
              <a:rPr sz="1600" b="0" i="0" dirty="0">
                <a:solidFill>
                  <a:srgbClr val="000000"/>
                </a:solidFill>
                <a:latin typeface="Times New Roman"/>
              </a:rPr>
              <a:t>1. Introduction</a:t>
            </a:r>
          </a:p>
          <a:p>
            <a:pPr marL="146050" indent="0">
              <a:spcBef>
                <a:spcPts val="1000"/>
              </a:spcBef>
              <a:buNone/>
            </a:pPr>
            <a:r>
              <a:rPr sz="1600" b="0" i="0" dirty="0">
                <a:solidFill>
                  <a:srgbClr val="000000"/>
                </a:solidFill>
                <a:latin typeface="Times New Roman"/>
              </a:rPr>
              <a:t>2. Objectives</a:t>
            </a:r>
          </a:p>
          <a:p>
            <a:pPr marL="146050" indent="0">
              <a:spcBef>
                <a:spcPts val="1000"/>
              </a:spcBef>
              <a:buNone/>
            </a:pPr>
            <a:r>
              <a:rPr sz="1600" b="0" i="0" dirty="0">
                <a:solidFill>
                  <a:srgbClr val="000000"/>
                </a:solidFill>
                <a:latin typeface="Times New Roman"/>
              </a:rPr>
              <a:t>3. Literature Survey</a:t>
            </a:r>
          </a:p>
          <a:p>
            <a:pPr marL="146050" indent="0">
              <a:spcBef>
                <a:spcPts val="1000"/>
              </a:spcBef>
              <a:buNone/>
            </a:pPr>
            <a:r>
              <a:rPr sz="1600" b="0" i="0" dirty="0">
                <a:solidFill>
                  <a:srgbClr val="000000"/>
                </a:solidFill>
                <a:latin typeface="Times New Roman"/>
              </a:rPr>
              <a:t>4. Problem Statement</a:t>
            </a:r>
          </a:p>
          <a:p>
            <a:pPr marL="146050" indent="0">
              <a:spcBef>
                <a:spcPts val="1000"/>
              </a:spcBef>
              <a:buNone/>
            </a:pPr>
            <a:r>
              <a:rPr sz="1600" b="0" i="0" dirty="0">
                <a:solidFill>
                  <a:srgbClr val="000000"/>
                </a:solidFill>
                <a:latin typeface="Times New Roman"/>
              </a:rPr>
              <a:t>5. Proposed Solution (Methodology)</a:t>
            </a:r>
          </a:p>
          <a:p>
            <a:pPr marL="146050" indent="0">
              <a:spcBef>
                <a:spcPts val="1000"/>
              </a:spcBef>
              <a:buNone/>
            </a:pPr>
            <a:r>
              <a:rPr sz="1600" b="0" i="0" dirty="0">
                <a:solidFill>
                  <a:srgbClr val="000000"/>
                </a:solidFill>
                <a:latin typeface="Times New Roman"/>
              </a:rPr>
              <a:t>6. Mapping with SDG Goals</a:t>
            </a:r>
          </a:p>
          <a:p>
            <a:pPr marL="146050" indent="0">
              <a:spcBef>
                <a:spcPts val="1000"/>
              </a:spcBef>
              <a:buNone/>
            </a:pPr>
            <a:r>
              <a:rPr sz="1600" b="0" i="0" dirty="0">
                <a:solidFill>
                  <a:srgbClr val="000000"/>
                </a:solidFill>
                <a:latin typeface="Times New Roman"/>
              </a:rPr>
              <a:t>7. References</a:t>
            </a:r>
          </a:p>
        </p:txBody>
      </p:sp>
      <p:sp>
        <p:nvSpPr>
          <p:cNvPr id="1048614" name="Google Shape;136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Google Shape;134;p14"/>
          <p:cNvSpPr txBox="1">
            <a:spLocks noGrp="1"/>
          </p:cNvSpPr>
          <p:nvPr>
            <p:ph type="title"/>
          </p:nvPr>
        </p:nvSpPr>
        <p:spPr>
          <a:xfrm>
            <a:off x="819150" y="464427"/>
            <a:ext cx="7505700" cy="7771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sz="3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14" name="Google Shape;136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95500C3-B31A-05BF-6348-B358493A8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9150" y="1211008"/>
            <a:ext cx="7571584" cy="3468065"/>
          </a:xfrm>
        </p:spPr>
        <p:txBody>
          <a:bodyPr wrap="square" anchor="t">
            <a:noAutofit/>
          </a:bodyPr>
          <a:lstStyle/>
          <a:p>
            <a:pPr marL="146050" indent="0">
              <a:spcAft>
                <a:spcPts val="800"/>
              </a:spcAft>
              <a:buNone/>
            </a:pPr>
            <a:r>
              <a:rPr lang="en-IN" sz="1400" dirty="0">
                <a:solidFill>
                  <a:srgbClr val="000000"/>
                </a:solidFill>
                <a:latin typeface="Times New Roman"/>
              </a:rPr>
              <a:t>ELECTICORE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 is an AI-enabled web platform designed to simplify and improve campus management by bringing multiple student services under one system.</a:t>
            </a:r>
            <a:endParaRPr lang="en-IN" sz="1400" dirty="0">
              <a:latin typeface="Times New Roman" pitchFamily="18" charset="0"/>
              <a:cs typeface="Times New Roman" pitchFamily="18" charset="0"/>
            </a:endParaRPr>
          </a:p>
          <a:p>
            <a:pPr marL="146050" indent="0">
              <a:spcAft>
                <a:spcPts val="800"/>
              </a:spcAft>
              <a:buNone/>
            </a:pPr>
            <a:r>
              <a:rPr sz="1400" b="0" i="0" dirty="0">
                <a:solidFill>
                  <a:srgbClr val="000000"/>
                </a:solidFill>
                <a:latin typeface="Times New Roman"/>
              </a:rPr>
              <a:t>The platform provides a secure online voting system for electing Class Representatives (CR) and Student Council members, ensuring a transparent and fair election process. It also features an AI-assisted Anti-Ragging Report Centre, where students can confidentially report ragging incidents — the AI analyses the complaint, drafts a professional email, and automatically sends it to the concerned faculty or Anti-Ragging Committee for quick action.</a:t>
            </a:r>
          </a:p>
          <a:p>
            <a:pPr>
              <a:spcBef>
                <a:spcPts val="200"/>
              </a:spcBef>
            </a:pPr>
            <a:r>
              <a:rPr sz="1400" b="1" i="0" dirty="0">
                <a:solidFill>
                  <a:srgbClr val="233A44"/>
                </a:solidFill>
                <a:latin typeface="Times New Roman"/>
              </a:rPr>
              <a:t>Additional Features:</a:t>
            </a:r>
          </a:p>
          <a:p>
            <a:pPr marL="615950" lvl="1" indent="0">
              <a:spcBef>
                <a:spcPts val="200"/>
              </a:spcBef>
              <a:buNone/>
            </a:pPr>
            <a:r>
              <a:rPr sz="1400" b="0" i="0" dirty="0">
                <a:solidFill>
                  <a:srgbClr val="000000"/>
                </a:solidFill>
                <a:latin typeface="Times New Roman"/>
              </a:rPr>
              <a:t>Faculty Directory</a:t>
            </a:r>
          </a:p>
          <a:p>
            <a:pPr marL="615950" lvl="1" indent="0">
              <a:spcBef>
                <a:spcPts val="200"/>
              </a:spcBef>
              <a:buNone/>
            </a:pPr>
            <a:r>
              <a:rPr sz="1400" b="0" i="0" dirty="0">
                <a:solidFill>
                  <a:srgbClr val="000000"/>
                </a:solidFill>
                <a:latin typeface="Times New Roman"/>
              </a:rPr>
              <a:t>Event &amp; Hackathon Notifications</a:t>
            </a:r>
          </a:p>
          <a:p>
            <a:pPr>
              <a:spcBef>
                <a:spcPts val="800"/>
              </a:spcBef>
            </a:pPr>
            <a:r>
              <a:rPr lang="en-IN" sz="1400" i="1" dirty="0">
                <a:solidFill>
                  <a:srgbClr val="000000"/>
                </a:solidFill>
                <a:latin typeface="Times New Roman"/>
              </a:rPr>
              <a:t>ELECTICORE</a:t>
            </a:r>
            <a:r>
              <a:rPr sz="1400" b="0" i="1" dirty="0">
                <a:solidFill>
                  <a:srgbClr val="000000"/>
                </a:solidFill>
                <a:latin typeface="Times New Roman"/>
              </a:rPr>
              <a:t> aims to build a smarter, safer, and more connected campus through digital technology.</a:t>
            </a:r>
          </a:p>
        </p:txBody>
      </p:sp>
    </p:spTree>
    <p:extLst>
      <p:ext uri="{BB962C8B-B14F-4D97-AF65-F5344CB8AC3E}">
        <p14:creationId xmlns:p14="http://schemas.microsoft.com/office/powerpoint/2010/main" val="2971225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Google Shape;141;p15"/>
          <p:cNvSpPr txBox="1">
            <a:spLocks noGrp="1"/>
          </p:cNvSpPr>
          <p:nvPr>
            <p:ph type="title"/>
          </p:nvPr>
        </p:nvSpPr>
        <p:spPr>
          <a:xfrm>
            <a:off x="774725" y="455975"/>
            <a:ext cx="7505700" cy="712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2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Objectives</a:t>
            </a:r>
            <a:endParaRPr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22" name="Google Shape;143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95500C3-B31A-05BF-6348-B358493A8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1792" y="1168400"/>
            <a:ext cx="7658633" cy="3243071"/>
          </a:xfrm>
        </p:spPr>
        <p:txBody>
          <a:bodyPr wrap="square" anchor="t">
            <a:normAutofit/>
          </a:bodyPr>
          <a:lstStyle/>
          <a:p>
            <a:pPr>
              <a:spcBef>
                <a:spcPts val="800"/>
              </a:spcBef>
            </a:pPr>
            <a:r>
              <a:rPr sz="1600" b="1" i="0" dirty="0">
                <a:solidFill>
                  <a:srgbClr val="233A44"/>
                </a:solidFill>
                <a:latin typeface="Times New Roman"/>
              </a:rPr>
              <a:t>Secure Digital Voting:  </a:t>
            </a:r>
            <a:r>
              <a:rPr sz="1600" b="0" i="0" dirty="0">
                <a:solidFill>
                  <a:srgbClr val="000000"/>
                </a:solidFill>
                <a:latin typeface="Times New Roman"/>
              </a:rPr>
              <a:t>Develop a secure digital voting system for CR and Student Council elections with a One Student – One Vote mechanism.</a:t>
            </a:r>
            <a:endParaRPr lang="en-IN" sz="16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800"/>
              </a:spcBef>
            </a:pPr>
            <a:r>
              <a:rPr sz="1600" b="1" i="0" dirty="0">
                <a:solidFill>
                  <a:srgbClr val="233A44"/>
                </a:solidFill>
                <a:latin typeface="Times New Roman"/>
              </a:rPr>
              <a:t>AI-Assisted Anti-Ragging Portal:  </a:t>
            </a:r>
            <a:r>
              <a:rPr sz="1600" b="0" i="0" dirty="0">
                <a:solidFill>
                  <a:srgbClr val="000000"/>
                </a:solidFill>
                <a:latin typeface="Times New Roman"/>
              </a:rPr>
              <a:t>Create a complaint portal that automatically generates and sends complaint emails to the concerned faculty using AI.</a:t>
            </a:r>
          </a:p>
          <a:p>
            <a:pPr>
              <a:spcBef>
                <a:spcPts val="800"/>
              </a:spcBef>
            </a:pPr>
            <a:r>
              <a:rPr sz="1600" b="1" i="0" dirty="0">
                <a:solidFill>
                  <a:srgbClr val="233A44"/>
                </a:solidFill>
                <a:latin typeface="Times New Roman"/>
              </a:rPr>
              <a:t>Faculty Directory:  </a:t>
            </a:r>
            <a:r>
              <a:rPr sz="1600" b="0" i="0" dirty="0">
                <a:solidFill>
                  <a:srgbClr val="000000"/>
                </a:solidFill>
                <a:latin typeface="Times New Roman"/>
              </a:rPr>
              <a:t>Provide a centralized faculty directory for academic guidance and easy student–faculty communication.</a:t>
            </a:r>
          </a:p>
          <a:p>
            <a:pPr>
              <a:spcBef>
                <a:spcPts val="800"/>
              </a:spcBef>
            </a:pPr>
            <a:r>
              <a:rPr sz="1600" b="1" i="0" dirty="0">
                <a:solidFill>
                  <a:srgbClr val="233A44"/>
                </a:solidFill>
                <a:latin typeface="Times New Roman"/>
              </a:rPr>
              <a:t>Events Hub:</a:t>
            </a:r>
            <a:r>
              <a:rPr lang="en-IN" sz="1600" b="1" i="0" dirty="0">
                <a:solidFill>
                  <a:srgbClr val="233A44"/>
                </a:solidFill>
                <a:latin typeface="Times New Roman"/>
              </a:rPr>
              <a:t> </a:t>
            </a:r>
            <a:r>
              <a:rPr lang="en-IN" sz="1600" i="0" dirty="0">
                <a:solidFill>
                  <a:srgbClr val="000000"/>
                </a:solidFill>
                <a:latin typeface="Times New Roman"/>
              </a:rPr>
              <a:t>Notify</a:t>
            </a:r>
            <a:r>
              <a:rPr sz="1600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IN" sz="1600" dirty="0">
                <a:solidFill>
                  <a:srgbClr val="000000"/>
                </a:solidFill>
                <a:latin typeface="Times New Roman"/>
              </a:rPr>
              <a:t>the students</a:t>
            </a:r>
            <a:r>
              <a:rPr sz="1600" b="0" i="0" dirty="0">
                <a:solidFill>
                  <a:srgbClr val="000000"/>
                </a:solidFill>
                <a:latin typeface="Times New Roman"/>
              </a:rPr>
              <a:t> about hackathons, clubs, workshops, seminars, and college events.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Google Shape;148;p16"/>
          <p:cNvSpPr txBox="1">
            <a:spLocks noGrp="1"/>
          </p:cNvSpPr>
          <p:nvPr>
            <p:ph type="title"/>
          </p:nvPr>
        </p:nvSpPr>
        <p:spPr>
          <a:xfrm>
            <a:off x="774725" y="417875"/>
            <a:ext cx="7505700" cy="737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lang="en" sz="2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Literature Survey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27" name="Google Shape;150;p1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233A44"/>
                </a:solidFill>
                <a:effectLst/>
                <a:uLnTx/>
                <a:uFillTx/>
                <a:latin typeface="Nunito"/>
                <a:sym typeface="Nuni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</a:pPr>
              <a:t>5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233A44"/>
              </a:solidFill>
              <a:effectLst/>
              <a:uLnTx/>
              <a:uFillTx/>
              <a:latin typeface="Nunito"/>
              <a:sym typeface="Nunito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500C3-B31A-05BF-6348-B358493A8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5034" y="871727"/>
            <a:ext cx="7592216" cy="2420949"/>
          </a:xfrm>
        </p:spPr>
        <p:txBody>
          <a:bodyPr wrap="square" anchor="t">
            <a:normAutofit/>
          </a:bodyPr>
          <a:lstStyle/>
          <a:p>
            <a:pPr marL="146050" indent="0">
              <a:buNone/>
            </a:pPr>
            <a:r>
              <a:rPr sz="1600" b="0" i="1" dirty="0">
                <a:solidFill>
                  <a:srgbClr val="000000"/>
                </a:solidFill>
                <a:latin typeface="Times New Roman"/>
              </a:rPr>
              <a:t>A review of key academic works underpinning the </a:t>
            </a:r>
            <a:r>
              <a:rPr lang="en-IN" sz="1600" i="1" dirty="0">
                <a:solidFill>
                  <a:srgbClr val="000000"/>
                </a:solidFill>
                <a:latin typeface="Times New Roman"/>
              </a:rPr>
              <a:t>ELECTICORE</a:t>
            </a:r>
            <a:r>
              <a:rPr sz="1600" b="0" i="1" dirty="0">
                <a:solidFill>
                  <a:srgbClr val="000000"/>
                </a:solidFill>
                <a:latin typeface="Times New Roman"/>
              </a:rPr>
              <a:t> platform:</a:t>
            </a:r>
            <a:endParaRPr lang="en-IN" sz="16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048628" name="Table 10486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876433"/>
              </p:ext>
            </p:extLst>
          </p:nvPr>
        </p:nvGraphicFramePr>
        <p:xfrm>
          <a:off x="783306" y="1382268"/>
          <a:ext cx="7824245" cy="316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9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5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80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6900">
                <a:tc>
                  <a:txBody>
                    <a:bodyPr/>
                    <a:lstStyle/>
                    <a:p>
                      <a:pPr algn="l"/>
                      <a:r>
                        <a:rPr sz="950" b="1" i="0" dirty="0">
                          <a:solidFill>
                            <a:srgbClr val="FFFFFF"/>
                          </a:solidFill>
                          <a:latin typeface="Times New Roman"/>
                        </a:rPr>
                        <a:t>Author</a:t>
                      </a:r>
                    </a:p>
                  </a:txBody>
                  <a:tcPr marL="45720" marR="45720" marT="9144" marB="9144" anchor="ctr">
                    <a:solidFill>
                      <a:srgbClr val="233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Times New Roman"/>
                        </a:rPr>
                        <a:t>Year</a:t>
                      </a:r>
                    </a:p>
                  </a:txBody>
                  <a:tcPr marL="45720" marR="45720" marT="9144" marB="9144" anchor="ctr">
                    <a:solidFill>
                      <a:srgbClr val="233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Times New Roman"/>
                        </a:rPr>
                        <a:t>Research Area</a:t>
                      </a:r>
                    </a:p>
                  </a:txBody>
                  <a:tcPr marL="45720" marR="45720" marT="9144" marB="9144" anchor="ctr">
                    <a:solidFill>
                      <a:srgbClr val="233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 i="0" dirty="0">
                          <a:solidFill>
                            <a:srgbClr val="FFFFFF"/>
                          </a:solidFill>
                          <a:latin typeface="Times New Roman"/>
                        </a:rPr>
                        <a:t>Key Findings</a:t>
                      </a:r>
                    </a:p>
                  </a:txBody>
                  <a:tcPr marL="45720" marR="45720" marT="9144" marB="9144" anchor="ctr">
                    <a:solidFill>
                      <a:srgbClr val="233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900">
                <a:tc>
                  <a:txBody>
                    <a:bodyPr/>
                    <a:lstStyle/>
                    <a:p>
                      <a:pPr algn="l"/>
                      <a:r>
                        <a:rPr sz="11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David </a:t>
                      </a:r>
                      <a:r>
                        <a:rPr lang="en-IN" sz="11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Chaum</a:t>
                      </a:r>
                      <a:endParaRPr sz="1100" b="0" i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2022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Electronic Voting Systems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Secure online voting enhances election transparency, voter privacy, and trust.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900">
                <a:tc>
                  <a:txBody>
                    <a:bodyPr/>
                    <a:lstStyle/>
                    <a:p>
                      <a:pPr algn="l"/>
                      <a:r>
                        <a:rPr sz="11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Andrew Ng</a:t>
                      </a:r>
                    </a:p>
                  </a:txBody>
                  <a:tcPr marL="45720" marR="45720" marT="9144" marB="9144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2024</a:t>
                      </a:r>
                    </a:p>
                  </a:txBody>
                  <a:tcPr marL="45720" marR="45720" marT="9144" marB="9144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</a:rPr>
                        <a:t>Artificial Intelligence</a:t>
                      </a:r>
                    </a:p>
                  </a:txBody>
                  <a:tcPr marL="45720" marR="45720" marT="9144" marB="9144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Times New Roman"/>
                        </a:rPr>
                        <a:t>AI improves automation by analyzing text, generating emails, and assisting in decision-making.</a:t>
                      </a:r>
                    </a:p>
                  </a:txBody>
                  <a:tcPr marL="45720" marR="45720" marT="9144" marB="9144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90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</a:rPr>
                        <a:t>Andrew S. Tanenbaum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2023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Web &amp; Network Systems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Times New Roman"/>
                        </a:rPr>
                        <a:t>Secure and reliable web architectures improve communication and data management.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90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</a:rPr>
                        <a:t>Michael Wooldridge</a:t>
                      </a:r>
                    </a:p>
                  </a:txBody>
                  <a:tcPr marL="45720" marR="45720" marT="9144" marB="9144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2023</a:t>
                      </a:r>
                    </a:p>
                  </a:txBody>
                  <a:tcPr marL="45720" marR="45720" marT="9144" marB="9144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0000"/>
                          </a:solidFill>
                          <a:latin typeface="Times New Roman"/>
                        </a:rPr>
                        <a:t>Intelligent Systems</a:t>
                      </a:r>
                    </a:p>
                  </a:txBody>
                  <a:tcPr marL="45720" marR="45720" marT="9144" marB="9144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000000"/>
                          </a:solidFill>
                          <a:latin typeface="Times New Roman"/>
                        </a:rPr>
                        <a:t>AI agents help automate repetitive administrative tasks efficiently.</a:t>
                      </a:r>
                    </a:p>
                  </a:txBody>
                  <a:tcPr marL="45720" marR="45720" marT="9144" marB="9144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6900">
                <a:tc>
                  <a:txBody>
                    <a:bodyPr/>
                    <a:lstStyle/>
                    <a:p>
                      <a:pPr algn="l"/>
                      <a:r>
                        <a:rPr sz="11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Tim Berners-Lee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2022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Web Technologies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Modern web platforms encourage collaboration, accessibility, and effective information sharing.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Google Shape;155;p17"/>
          <p:cNvSpPr txBox="1">
            <a:spLocks noGrp="1"/>
          </p:cNvSpPr>
          <p:nvPr>
            <p:ph type="title"/>
          </p:nvPr>
        </p:nvSpPr>
        <p:spPr>
          <a:xfrm>
            <a:off x="676656" y="571606"/>
            <a:ext cx="7505700" cy="7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1935"/>
              <a:buFont typeface="Arial"/>
              <a:buNone/>
            </a:pPr>
            <a:r>
              <a:rPr lang="en" sz="2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32" name="Google Shape;157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714961" y="1264020"/>
            <a:ext cx="7714078" cy="3182112"/>
          </a:xfrm>
        </p:spPr>
        <p:txBody>
          <a:bodyPr wrap="square" anchor="t">
            <a:normAutofit/>
          </a:bodyPr>
          <a:lstStyle/>
          <a:p>
            <a:pPr marL="146050" indent="0">
              <a:buNone/>
            </a:pPr>
            <a:r>
              <a:rPr sz="1400" b="1" i="0" dirty="0">
                <a:solidFill>
                  <a:srgbClr val="233A44"/>
                </a:solidFill>
                <a:latin typeface="Times New Roman"/>
              </a:rPr>
              <a:t>Current Challenges:  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Many colleges still rely on separate systems or manual processes for student services, reducing transparency, communication, and participation.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146050" indent="0">
              <a:spcBef>
                <a:spcPts val="600"/>
              </a:spcBef>
              <a:buNone/>
            </a:pPr>
            <a:r>
              <a:rPr sz="1400" b="1" i="0" dirty="0">
                <a:solidFill>
                  <a:srgbClr val="233A44"/>
                </a:solidFill>
                <a:latin typeface="Times New Roman"/>
              </a:rPr>
              <a:t>Manual Elections:  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CR and Student Council elections still conducted manually, without digital transparency.</a:t>
            </a:r>
          </a:p>
          <a:p>
            <a:pPr marL="146050" indent="0">
              <a:spcBef>
                <a:spcPts val="600"/>
              </a:spcBef>
              <a:buNone/>
            </a:pPr>
            <a:r>
              <a:rPr sz="1400" b="1" i="0" dirty="0">
                <a:solidFill>
                  <a:srgbClr val="233A44"/>
                </a:solidFill>
                <a:latin typeface="Times New Roman"/>
              </a:rPr>
              <a:t>Delayed Ragging Reports:  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Delays in reporting ragging incidents due to lack of a confidential digital channel.</a:t>
            </a:r>
          </a:p>
          <a:p>
            <a:pPr marL="146050" indent="0">
              <a:spcBef>
                <a:spcPts val="600"/>
              </a:spcBef>
              <a:buNone/>
            </a:pPr>
            <a:r>
              <a:rPr sz="1400" b="1" i="0" dirty="0">
                <a:solidFill>
                  <a:srgbClr val="233A44"/>
                </a:solidFill>
                <a:latin typeface="Times New Roman"/>
              </a:rPr>
              <a:t>Faculty Discovery Gap:  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Difficulty in finding the appropriate faculty member for guidance.</a:t>
            </a:r>
          </a:p>
          <a:p>
            <a:pPr marL="146050" indent="0">
              <a:spcBef>
                <a:spcPts val="600"/>
              </a:spcBef>
              <a:buNone/>
            </a:pPr>
            <a:r>
              <a:rPr sz="1400" b="1" i="0" dirty="0">
                <a:solidFill>
                  <a:srgbClr val="233A44"/>
                </a:solidFill>
                <a:latin typeface="Times New Roman"/>
              </a:rPr>
              <a:t>Missed Opportunities:  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Students often miss updates about hackathons, clubs, workshops, and campus events.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Google Shape;155;p17"/>
          <p:cNvSpPr txBox="1">
            <a:spLocks noGrp="1"/>
          </p:cNvSpPr>
          <p:nvPr>
            <p:ph type="title"/>
          </p:nvPr>
        </p:nvSpPr>
        <p:spPr>
          <a:xfrm>
            <a:off x="520700" y="445296"/>
            <a:ext cx="8115300" cy="7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1935"/>
              <a:buFont typeface="Arial"/>
              <a:buNone/>
            </a:pPr>
            <a:r>
              <a:rPr lang="en" sz="2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Proposed Solution &amp; Technology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32" name="Google Shape;157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274320" y="1400746"/>
            <a:ext cx="4766310" cy="2961375"/>
          </a:xfrm>
        </p:spPr>
        <p:txBody>
          <a:bodyPr wrap="square" anchor="t">
            <a:normAutofit fontScale="85000" lnSpcReduction="10000"/>
          </a:bodyPr>
          <a:lstStyle/>
          <a:p>
            <a:pPr marL="146050" indent="0">
              <a:buNone/>
            </a:pPr>
            <a:r>
              <a:rPr lang="en-IN" sz="1600" i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ELECTICORE</a:t>
            </a:r>
            <a:r>
              <a:rPr sz="1600" b="0" i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integrates multiple student services </a:t>
            </a:r>
            <a:r>
              <a:rPr lang="en-IN" sz="1600" i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into 	</a:t>
            </a:r>
            <a:r>
              <a:rPr sz="1600" b="0" i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one smart web application.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46050" indent="0">
              <a:spcBef>
                <a:spcPts val="600"/>
              </a:spcBef>
              <a:buNone/>
            </a:pPr>
            <a:r>
              <a:rPr sz="1600" b="1" i="0" dirty="0">
                <a:solidFill>
                  <a:srgbClr val="233A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Online Election Module:  </a:t>
            </a:r>
            <a:r>
              <a:rPr sz="1600" b="0" i="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 &amp; Student Council elections, secure authentication, one-student-one-vote, transparent results.</a:t>
            </a:r>
          </a:p>
          <a:p>
            <a:pPr marL="146050" indent="0">
              <a:spcBef>
                <a:spcPts val="600"/>
              </a:spcBef>
              <a:buNone/>
            </a:pPr>
            <a:r>
              <a:rPr sz="1600" b="1" i="0" dirty="0">
                <a:solidFill>
                  <a:srgbClr val="233A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 Anti-Ragging Module:  </a:t>
            </a:r>
            <a:r>
              <a:rPr sz="1600" b="0" i="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Confidential submission → AI drafts email → auto-sent to faculty → faster action.</a:t>
            </a:r>
          </a:p>
          <a:p>
            <a:pPr marL="146050" indent="0">
              <a:spcBef>
                <a:spcPts val="600"/>
              </a:spcBef>
              <a:buNone/>
            </a:pPr>
            <a:r>
              <a:rPr sz="1600" b="1" i="0" dirty="0">
                <a:solidFill>
                  <a:srgbClr val="233A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Faculty Directory:  </a:t>
            </a:r>
            <a:r>
              <a:rPr sz="1600" b="0" i="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Faculty profiles, department, subjects, email &amp; contact details.</a:t>
            </a:r>
          </a:p>
          <a:p>
            <a:pPr marL="146050" indent="0">
              <a:spcBef>
                <a:spcPts val="600"/>
              </a:spcBef>
              <a:buNone/>
            </a:pPr>
            <a:r>
              <a:rPr sz="1600" b="1" i="0" dirty="0">
                <a:solidFill>
                  <a:srgbClr val="233A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Notes &amp; Events Hub:  </a:t>
            </a:r>
            <a:r>
              <a:rPr sz="1600" b="0" i="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hackathons, clubs, workshops &amp; announcements</a:t>
            </a:r>
            <a:r>
              <a:rPr sz="1050" b="0" i="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</p:txBody>
      </p:sp>
      <p:sp>
        <p:nvSpPr>
          <p:cNvPr id="2001" name="FlowTitle0"/>
          <p:cNvSpPr txBox="1"/>
          <p:nvPr/>
        </p:nvSpPr>
        <p:spPr>
          <a:xfrm>
            <a:off x="5238226" y="1411604"/>
            <a:ext cx="3310000" cy="210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/>
            <a:r>
              <a:rPr sz="1050" b="1" i="0" dirty="0">
                <a:solidFill>
                  <a:srgbClr val="233A44"/>
                </a:solidFill>
                <a:latin typeface="Tahoma" pitchFamily="34" charset="0"/>
              </a:rPr>
              <a:t>Online Election Module</a:t>
            </a:r>
          </a:p>
        </p:txBody>
      </p:sp>
      <p:sp>
        <p:nvSpPr>
          <p:cNvPr id="2002" name="FlowBox0_0"/>
          <p:cNvSpPr/>
          <p:nvPr/>
        </p:nvSpPr>
        <p:spPr>
          <a:xfrm>
            <a:off x="5238226" y="1661604"/>
            <a:ext cx="950000" cy="400000"/>
          </a:xfrm>
          <a:prstGeom prst="roundRect">
            <a:avLst>
              <a:gd name="adj" fmla="val 14000"/>
            </a:avLst>
          </a:prstGeom>
          <a:solidFill>
            <a:srgbClr val="EFEFEF"/>
          </a:solidFill>
          <a:ln w="9525">
            <a:solidFill>
              <a:srgbClr val="233A44"/>
            </a:solidFill>
          </a:ln>
        </p:spPr>
        <p:txBody>
          <a:bodyPr wrap="square" lIns="18000" tIns="9000" rIns="18000" bIns="9000" anchor="ctr" anchorCtr="1">
            <a:normAutofit/>
          </a:bodyPr>
          <a:lstStyle/>
          <a:p>
            <a:pPr algn="ctr"/>
            <a:r>
              <a:rPr sz="800" b="1" i="0" dirty="0">
                <a:solidFill>
                  <a:srgbClr val="233A44"/>
                </a:solidFill>
                <a:latin typeface="Tahoma" pitchFamily="34" charset="0"/>
              </a:rPr>
              <a:t>Login</a:t>
            </a:r>
          </a:p>
        </p:txBody>
      </p:sp>
      <p:sp>
        <p:nvSpPr>
          <p:cNvPr id="2003" name="FlowArrow0_0"/>
          <p:cNvSpPr/>
          <p:nvPr/>
        </p:nvSpPr>
        <p:spPr>
          <a:xfrm>
            <a:off x="6188226" y="1796604"/>
            <a:ext cx="230000" cy="130000"/>
          </a:xfrm>
          <a:prstGeom prst="rightArrow">
            <a:avLst/>
          </a:prstGeom>
          <a:solidFill>
            <a:srgbClr val="233A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04" name="FlowBox0_1"/>
          <p:cNvSpPr/>
          <p:nvPr/>
        </p:nvSpPr>
        <p:spPr>
          <a:xfrm>
            <a:off x="6418226" y="1661604"/>
            <a:ext cx="950000" cy="400000"/>
          </a:xfrm>
          <a:prstGeom prst="roundRect">
            <a:avLst>
              <a:gd name="adj" fmla="val 14000"/>
            </a:avLst>
          </a:prstGeom>
          <a:solidFill>
            <a:srgbClr val="EFEFEF"/>
          </a:solidFill>
          <a:ln w="9525">
            <a:solidFill>
              <a:srgbClr val="233A44"/>
            </a:solidFill>
          </a:ln>
        </p:spPr>
        <p:txBody>
          <a:bodyPr wrap="square" lIns="18000" tIns="9000" rIns="18000" bIns="9000" anchor="ctr" anchorCtr="1">
            <a:normAutofit/>
          </a:bodyPr>
          <a:lstStyle/>
          <a:p>
            <a:pPr algn="ctr"/>
            <a:r>
              <a:rPr sz="800" b="1" i="0" dirty="0">
                <a:solidFill>
                  <a:srgbClr val="233A44"/>
                </a:solidFill>
                <a:latin typeface="Tahoma" pitchFamily="34" charset="0"/>
              </a:rPr>
              <a:t>Cast Vote</a:t>
            </a:r>
          </a:p>
        </p:txBody>
      </p:sp>
      <p:sp>
        <p:nvSpPr>
          <p:cNvPr id="2005" name="FlowArrow0_1"/>
          <p:cNvSpPr/>
          <p:nvPr/>
        </p:nvSpPr>
        <p:spPr>
          <a:xfrm>
            <a:off x="7368226" y="1796604"/>
            <a:ext cx="230000" cy="130000"/>
          </a:xfrm>
          <a:prstGeom prst="rightArrow">
            <a:avLst/>
          </a:prstGeom>
          <a:solidFill>
            <a:srgbClr val="233A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06" name="FlowBox0_2"/>
          <p:cNvSpPr/>
          <p:nvPr/>
        </p:nvSpPr>
        <p:spPr>
          <a:xfrm>
            <a:off x="7598226" y="1661604"/>
            <a:ext cx="950000" cy="400000"/>
          </a:xfrm>
          <a:prstGeom prst="roundRect">
            <a:avLst>
              <a:gd name="adj" fmla="val 14000"/>
            </a:avLst>
          </a:prstGeom>
          <a:solidFill>
            <a:srgbClr val="EFEFEF"/>
          </a:solidFill>
          <a:ln w="9525">
            <a:solidFill>
              <a:srgbClr val="233A44"/>
            </a:solidFill>
          </a:ln>
        </p:spPr>
        <p:txBody>
          <a:bodyPr wrap="square" lIns="18000" tIns="9000" rIns="18000" bIns="9000" anchor="ctr" anchorCtr="1">
            <a:normAutofit/>
          </a:bodyPr>
          <a:lstStyle/>
          <a:p>
            <a:pPr algn="ctr"/>
            <a:r>
              <a:rPr sz="800" b="1" i="0" dirty="0">
                <a:solidFill>
                  <a:srgbClr val="233A44"/>
                </a:solidFill>
                <a:latin typeface="Tahoma" pitchFamily="34" charset="0"/>
              </a:rPr>
              <a:t>Result</a:t>
            </a:r>
          </a:p>
        </p:txBody>
      </p:sp>
      <p:sp>
        <p:nvSpPr>
          <p:cNvPr id="2007" name="FlowTitle1"/>
          <p:cNvSpPr txBox="1"/>
          <p:nvPr/>
        </p:nvSpPr>
        <p:spPr>
          <a:xfrm>
            <a:off x="5238226" y="2149233"/>
            <a:ext cx="3310000" cy="210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/>
            <a:r>
              <a:rPr sz="1050" b="1" i="0" dirty="0">
                <a:solidFill>
                  <a:srgbClr val="233A44"/>
                </a:solidFill>
                <a:latin typeface="Tahoma" pitchFamily="34" charset="0"/>
              </a:rPr>
              <a:t>AI Anti-Ragging Module</a:t>
            </a:r>
          </a:p>
        </p:txBody>
      </p:sp>
      <p:sp>
        <p:nvSpPr>
          <p:cNvPr id="2008" name="FlowBox1_0"/>
          <p:cNvSpPr/>
          <p:nvPr/>
        </p:nvSpPr>
        <p:spPr>
          <a:xfrm>
            <a:off x="5238226" y="2399233"/>
            <a:ext cx="950000" cy="400000"/>
          </a:xfrm>
          <a:prstGeom prst="roundRect">
            <a:avLst>
              <a:gd name="adj" fmla="val 14000"/>
            </a:avLst>
          </a:prstGeom>
          <a:solidFill>
            <a:srgbClr val="EFEFEF"/>
          </a:solidFill>
          <a:ln w="9525">
            <a:solidFill>
              <a:srgbClr val="233A44"/>
            </a:solidFill>
          </a:ln>
        </p:spPr>
        <p:txBody>
          <a:bodyPr wrap="square" lIns="18000" tIns="9000" rIns="18000" bIns="9000" anchor="ctr" anchorCtr="1">
            <a:normAutofit/>
          </a:bodyPr>
          <a:lstStyle/>
          <a:p>
            <a:pPr algn="ctr"/>
            <a:r>
              <a:rPr sz="800" b="1" i="0" dirty="0">
                <a:solidFill>
                  <a:srgbClr val="233A44"/>
                </a:solidFill>
                <a:latin typeface="Tahoma" pitchFamily="34" charset="0"/>
              </a:rPr>
              <a:t>Complaint</a:t>
            </a:r>
          </a:p>
        </p:txBody>
      </p:sp>
      <p:sp>
        <p:nvSpPr>
          <p:cNvPr id="2009" name="FlowArrow1_0"/>
          <p:cNvSpPr/>
          <p:nvPr/>
        </p:nvSpPr>
        <p:spPr>
          <a:xfrm>
            <a:off x="6188226" y="2534233"/>
            <a:ext cx="230000" cy="130000"/>
          </a:xfrm>
          <a:prstGeom prst="rightArrow">
            <a:avLst/>
          </a:prstGeom>
          <a:solidFill>
            <a:srgbClr val="233A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0" name="FlowBox1_1"/>
          <p:cNvSpPr/>
          <p:nvPr/>
        </p:nvSpPr>
        <p:spPr>
          <a:xfrm>
            <a:off x="6418226" y="2399233"/>
            <a:ext cx="950000" cy="400000"/>
          </a:xfrm>
          <a:prstGeom prst="roundRect">
            <a:avLst>
              <a:gd name="adj" fmla="val 14000"/>
            </a:avLst>
          </a:prstGeom>
          <a:solidFill>
            <a:srgbClr val="EFEFEF"/>
          </a:solidFill>
          <a:ln w="9525">
            <a:solidFill>
              <a:srgbClr val="233A44"/>
            </a:solidFill>
          </a:ln>
        </p:spPr>
        <p:txBody>
          <a:bodyPr wrap="square" lIns="18000" tIns="9000" rIns="18000" bIns="9000" anchor="ctr" anchorCtr="1">
            <a:normAutofit/>
          </a:bodyPr>
          <a:lstStyle/>
          <a:p>
            <a:pPr algn="ctr"/>
            <a:r>
              <a:rPr sz="800" b="1" i="0" dirty="0">
                <a:solidFill>
                  <a:srgbClr val="233A44"/>
                </a:solidFill>
                <a:latin typeface="Tahoma" pitchFamily="34" charset="0"/>
              </a:rPr>
              <a:t>AI Drafts Mail</a:t>
            </a:r>
          </a:p>
        </p:txBody>
      </p:sp>
      <p:sp>
        <p:nvSpPr>
          <p:cNvPr id="2011" name="FlowArrow1_1"/>
          <p:cNvSpPr/>
          <p:nvPr/>
        </p:nvSpPr>
        <p:spPr>
          <a:xfrm>
            <a:off x="7368226" y="2534233"/>
            <a:ext cx="230000" cy="130000"/>
          </a:xfrm>
          <a:prstGeom prst="rightArrow">
            <a:avLst/>
          </a:prstGeom>
          <a:solidFill>
            <a:srgbClr val="233A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2" name="FlowBox1_2"/>
          <p:cNvSpPr/>
          <p:nvPr/>
        </p:nvSpPr>
        <p:spPr>
          <a:xfrm>
            <a:off x="7598226" y="2399233"/>
            <a:ext cx="950000" cy="400000"/>
          </a:xfrm>
          <a:prstGeom prst="roundRect">
            <a:avLst>
              <a:gd name="adj" fmla="val 14000"/>
            </a:avLst>
          </a:prstGeom>
          <a:solidFill>
            <a:srgbClr val="EFEFEF"/>
          </a:solidFill>
          <a:ln w="9525">
            <a:solidFill>
              <a:srgbClr val="233A44"/>
            </a:solidFill>
          </a:ln>
        </p:spPr>
        <p:txBody>
          <a:bodyPr wrap="square" lIns="18000" tIns="9000" rIns="18000" bIns="9000" anchor="ctr" anchorCtr="1">
            <a:normAutofit/>
          </a:bodyPr>
          <a:lstStyle/>
          <a:p>
            <a:pPr algn="ctr"/>
            <a:r>
              <a:rPr sz="800" b="1" i="0" dirty="0">
                <a:solidFill>
                  <a:srgbClr val="233A44"/>
                </a:solidFill>
                <a:latin typeface="Tahoma" pitchFamily="34" charset="0"/>
              </a:rPr>
              <a:t>Faculty Alert</a:t>
            </a:r>
          </a:p>
        </p:txBody>
      </p:sp>
      <p:sp>
        <p:nvSpPr>
          <p:cNvPr id="2013" name="FlowTitle2"/>
          <p:cNvSpPr txBox="1"/>
          <p:nvPr/>
        </p:nvSpPr>
        <p:spPr>
          <a:xfrm>
            <a:off x="5238226" y="2886862"/>
            <a:ext cx="3310000" cy="210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/>
            <a:r>
              <a:rPr sz="1050" b="1" i="0" dirty="0">
                <a:solidFill>
                  <a:srgbClr val="233A44"/>
                </a:solidFill>
                <a:latin typeface="Tahoma" pitchFamily="34" charset="0"/>
              </a:rPr>
              <a:t>Faculty Directory</a:t>
            </a:r>
          </a:p>
        </p:txBody>
      </p:sp>
      <p:sp>
        <p:nvSpPr>
          <p:cNvPr id="2014" name="FlowBox2_0"/>
          <p:cNvSpPr/>
          <p:nvPr/>
        </p:nvSpPr>
        <p:spPr>
          <a:xfrm>
            <a:off x="5238226" y="3136862"/>
            <a:ext cx="950000" cy="400000"/>
          </a:xfrm>
          <a:prstGeom prst="roundRect">
            <a:avLst>
              <a:gd name="adj" fmla="val 14000"/>
            </a:avLst>
          </a:prstGeom>
          <a:solidFill>
            <a:srgbClr val="EFEFEF"/>
          </a:solidFill>
          <a:ln w="9525">
            <a:solidFill>
              <a:srgbClr val="233A44"/>
            </a:solidFill>
          </a:ln>
        </p:spPr>
        <p:txBody>
          <a:bodyPr wrap="square" lIns="18000" tIns="9000" rIns="18000" bIns="9000" anchor="ctr" anchorCtr="1">
            <a:normAutofit/>
          </a:bodyPr>
          <a:lstStyle/>
          <a:p>
            <a:pPr algn="ctr"/>
            <a:r>
              <a:rPr sz="800" b="1" i="0" dirty="0">
                <a:solidFill>
                  <a:srgbClr val="233A44"/>
                </a:solidFill>
                <a:latin typeface="Tahoma" pitchFamily="34" charset="0"/>
              </a:rPr>
              <a:t>Search</a:t>
            </a:r>
          </a:p>
        </p:txBody>
      </p:sp>
      <p:sp>
        <p:nvSpPr>
          <p:cNvPr id="2015" name="FlowArrow2_0"/>
          <p:cNvSpPr/>
          <p:nvPr/>
        </p:nvSpPr>
        <p:spPr>
          <a:xfrm>
            <a:off x="6188226" y="3271862"/>
            <a:ext cx="230000" cy="130000"/>
          </a:xfrm>
          <a:prstGeom prst="rightArrow">
            <a:avLst/>
          </a:prstGeom>
          <a:solidFill>
            <a:srgbClr val="233A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6" name="FlowBox2_1"/>
          <p:cNvSpPr/>
          <p:nvPr/>
        </p:nvSpPr>
        <p:spPr>
          <a:xfrm>
            <a:off x="6418226" y="3136862"/>
            <a:ext cx="950000" cy="400000"/>
          </a:xfrm>
          <a:prstGeom prst="roundRect">
            <a:avLst>
              <a:gd name="adj" fmla="val 14000"/>
            </a:avLst>
          </a:prstGeom>
          <a:solidFill>
            <a:srgbClr val="EFEFEF"/>
          </a:solidFill>
          <a:ln w="9525">
            <a:solidFill>
              <a:srgbClr val="233A44"/>
            </a:solidFill>
          </a:ln>
        </p:spPr>
        <p:txBody>
          <a:bodyPr wrap="square" lIns="18000" tIns="9000" rIns="18000" bIns="9000" anchor="ctr" anchorCtr="1">
            <a:normAutofit/>
          </a:bodyPr>
          <a:lstStyle/>
          <a:p>
            <a:pPr algn="ctr"/>
            <a:r>
              <a:rPr sz="800" b="1" i="0" dirty="0">
                <a:solidFill>
                  <a:srgbClr val="233A44"/>
                </a:solidFill>
                <a:latin typeface="Tahoma" pitchFamily="34" charset="0"/>
              </a:rPr>
              <a:t>View Profile</a:t>
            </a:r>
          </a:p>
        </p:txBody>
      </p:sp>
      <p:sp>
        <p:nvSpPr>
          <p:cNvPr id="2017" name="FlowArrow2_1"/>
          <p:cNvSpPr/>
          <p:nvPr/>
        </p:nvSpPr>
        <p:spPr>
          <a:xfrm>
            <a:off x="7368226" y="3271862"/>
            <a:ext cx="230000" cy="130000"/>
          </a:xfrm>
          <a:prstGeom prst="rightArrow">
            <a:avLst/>
          </a:prstGeom>
          <a:solidFill>
            <a:srgbClr val="233A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8" name="FlowBox2_2"/>
          <p:cNvSpPr/>
          <p:nvPr/>
        </p:nvSpPr>
        <p:spPr>
          <a:xfrm>
            <a:off x="7598226" y="3136862"/>
            <a:ext cx="950000" cy="400000"/>
          </a:xfrm>
          <a:prstGeom prst="roundRect">
            <a:avLst>
              <a:gd name="adj" fmla="val 14000"/>
            </a:avLst>
          </a:prstGeom>
          <a:solidFill>
            <a:srgbClr val="EFEFEF"/>
          </a:solidFill>
          <a:ln w="9525">
            <a:solidFill>
              <a:srgbClr val="233A44"/>
            </a:solidFill>
          </a:ln>
        </p:spPr>
        <p:txBody>
          <a:bodyPr wrap="square" lIns="18000" tIns="9000" rIns="18000" bIns="9000" anchor="ctr" anchorCtr="1">
            <a:normAutofit/>
          </a:bodyPr>
          <a:lstStyle/>
          <a:p>
            <a:pPr algn="ctr"/>
            <a:r>
              <a:rPr sz="800" b="1" i="0" dirty="0">
                <a:solidFill>
                  <a:srgbClr val="233A44"/>
                </a:solidFill>
                <a:latin typeface="Tahoma" pitchFamily="34" charset="0"/>
              </a:rPr>
              <a:t>Contact</a:t>
            </a:r>
          </a:p>
        </p:txBody>
      </p:sp>
      <p:sp>
        <p:nvSpPr>
          <p:cNvPr id="2019" name="FlowTitle3"/>
          <p:cNvSpPr txBox="1"/>
          <p:nvPr/>
        </p:nvSpPr>
        <p:spPr>
          <a:xfrm>
            <a:off x="5238226" y="3624491"/>
            <a:ext cx="3310000" cy="210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/>
            <a:r>
              <a:rPr sz="1050" b="1" i="0" dirty="0">
                <a:solidFill>
                  <a:srgbClr val="233A44"/>
                </a:solidFill>
                <a:latin typeface="Tahoma" pitchFamily="34" charset="0"/>
              </a:rPr>
              <a:t>Notes &amp; Events Hub</a:t>
            </a:r>
          </a:p>
        </p:txBody>
      </p:sp>
      <p:sp>
        <p:nvSpPr>
          <p:cNvPr id="2020" name="FlowBox3_0"/>
          <p:cNvSpPr/>
          <p:nvPr/>
        </p:nvSpPr>
        <p:spPr>
          <a:xfrm>
            <a:off x="5238226" y="3874491"/>
            <a:ext cx="950000" cy="400000"/>
          </a:xfrm>
          <a:prstGeom prst="roundRect">
            <a:avLst>
              <a:gd name="adj" fmla="val 14000"/>
            </a:avLst>
          </a:prstGeom>
          <a:solidFill>
            <a:srgbClr val="EFEFEF"/>
          </a:solidFill>
          <a:ln w="9525">
            <a:solidFill>
              <a:srgbClr val="233A44"/>
            </a:solidFill>
          </a:ln>
        </p:spPr>
        <p:txBody>
          <a:bodyPr wrap="square" lIns="18000" tIns="9000" rIns="18000" bIns="9000" anchor="ctr" anchorCtr="1">
            <a:normAutofit/>
          </a:bodyPr>
          <a:lstStyle/>
          <a:p>
            <a:pPr algn="ctr"/>
            <a:r>
              <a:rPr sz="800" b="1" i="0" dirty="0">
                <a:solidFill>
                  <a:srgbClr val="233A44"/>
                </a:solidFill>
                <a:latin typeface="Tahoma" pitchFamily="34" charset="0"/>
              </a:rPr>
              <a:t>Browse</a:t>
            </a:r>
          </a:p>
        </p:txBody>
      </p:sp>
      <p:sp>
        <p:nvSpPr>
          <p:cNvPr id="2021" name="FlowArrow3_0"/>
          <p:cNvSpPr/>
          <p:nvPr/>
        </p:nvSpPr>
        <p:spPr>
          <a:xfrm>
            <a:off x="6188226" y="4009491"/>
            <a:ext cx="230000" cy="130000"/>
          </a:xfrm>
          <a:prstGeom prst="rightArrow">
            <a:avLst/>
          </a:prstGeom>
          <a:solidFill>
            <a:srgbClr val="233A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2" name="FlowBox3_1"/>
          <p:cNvSpPr/>
          <p:nvPr/>
        </p:nvSpPr>
        <p:spPr>
          <a:xfrm>
            <a:off x="6418226" y="3874491"/>
            <a:ext cx="950000" cy="400000"/>
          </a:xfrm>
          <a:prstGeom prst="roundRect">
            <a:avLst>
              <a:gd name="adj" fmla="val 14000"/>
            </a:avLst>
          </a:prstGeom>
          <a:solidFill>
            <a:srgbClr val="EFEFEF"/>
          </a:solidFill>
          <a:ln w="9525">
            <a:solidFill>
              <a:srgbClr val="233A44"/>
            </a:solidFill>
          </a:ln>
        </p:spPr>
        <p:txBody>
          <a:bodyPr wrap="square" lIns="18000" tIns="9000" rIns="18000" bIns="9000" anchor="ctr" anchorCtr="1">
            <a:normAutofit/>
          </a:bodyPr>
          <a:lstStyle/>
          <a:p>
            <a:pPr algn="ctr"/>
            <a:r>
              <a:rPr sz="800" b="1" i="0" dirty="0">
                <a:solidFill>
                  <a:srgbClr val="233A44"/>
                </a:solidFill>
                <a:latin typeface="Tahoma" pitchFamily="34" charset="0"/>
              </a:rPr>
              <a:t>View Details</a:t>
            </a:r>
          </a:p>
        </p:txBody>
      </p:sp>
      <p:sp>
        <p:nvSpPr>
          <p:cNvPr id="2023" name="FlowArrow3_1"/>
          <p:cNvSpPr/>
          <p:nvPr/>
        </p:nvSpPr>
        <p:spPr>
          <a:xfrm>
            <a:off x="7368226" y="4009491"/>
            <a:ext cx="230000" cy="130000"/>
          </a:xfrm>
          <a:prstGeom prst="rightArrow">
            <a:avLst/>
          </a:prstGeom>
          <a:solidFill>
            <a:srgbClr val="233A4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4" name="FlowBox3_2"/>
          <p:cNvSpPr/>
          <p:nvPr/>
        </p:nvSpPr>
        <p:spPr>
          <a:xfrm>
            <a:off x="7598226" y="3874491"/>
            <a:ext cx="950000" cy="400000"/>
          </a:xfrm>
          <a:prstGeom prst="roundRect">
            <a:avLst>
              <a:gd name="adj" fmla="val 14000"/>
            </a:avLst>
          </a:prstGeom>
          <a:solidFill>
            <a:srgbClr val="EFEFEF"/>
          </a:solidFill>
          <a:ln w="9525">
            <a:solidFill>
              <a:srgbClr val="233A44"/>
            </a:solidFill>
          </a:ln>
        </p:spPr>
        <p:txBody>
          <a:bodyPr wrap="square" lIns="18000" tIns="9000" rIns="18000" bIns="9000" anchor="ctr" anchorCtr="1">
            <a:normAutofit/>
          </a:bodyPr>
          <a:lstStyle/>
          <a:p>
            <a:pPr algn="ctr"/>
            <a:r>
              <a:rPr sz="800" b="1" i="0" dirty="0">
                <a:solidFill>
                  <a:srgbClr val="233A44"/>
                </a:solidFill>
                <a:latin typeface="Tahoma" pitchFamily="34" charset="0"/>
              </a:rPr>
              <a:t>Get Notified</a:t>
            </a:r>
          </a:p>
        </p:txBody>
      </p:sp>
    </p:spTree>
    <p:extLst>
      <p:ext uri="{BB962C8B-B14F-4D97-AF65-F5344CB8AC3E}">
        <p14:creationId xmlns:p14="http://schemas.microsoft.com/office/powerpoint/2010/main" val="3010839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595664"/>
            <a:ext cx="7505700" cy="95460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Mapping with SDG Goals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150" y="1402080"/>
            <a:ext cx="7678674" cy="3141587"/>
          </a:xfrm>
        </p:spPr>
        <p:txBody>
          <a:bodyPr wrap="square" anchor="t">
            <a:noAutofit/>
          </a:bodyPr>
          <a:lstStyle/>
          <a:p>
            <a:pPr marL="146050" indent="0">
              <a:spcBef>
                <a:spcPts val="1200"/>
              </a:spcBef>
              <a:buNone/>
            </a:pPr>
            <a:r>
              <a:rPr sz="1600" b="1" i="0" dirty="0">
                <a:solidFill>
                  <a:srgbClr val="233A44"/>
                </a:solidFill>
                <a:latin typeface="Times New Roman"/>
              </a:rPr>
              <a:t>SDG 4 – Quality Education</a:t>
            </a:r>
            <a:endParaRPr lang="en-US" sz="1600" dirty="0"/>
          </a:p>
          <a:p>
            <a:pPr marL="146050" indent="0">
              <a:spcBef>
                <a:spcPts val="200"/>
              </a:spcBef>
              <a:buNone/>
            </a:pPr>
            <a:r>
              <a:rPr sz="1600" b="0" i="0" dirty="0">
                <a:solidFill>
                  <a:srgbClr val="000000"/>
                </a:solidFill>
                <a:latin typeface="Times New Roman"/>
              </a:rPr>
              <a:t>Provides students with easy access to study materials, faculty guidance, and academic resources through a unified digital platform.</a:t>
            </a:r>
          </a:p>
          <a:p>
            <a:pPr marL="146050" indent="0">
              <a:spcBef>
                <a:spcPts val="1200"/>
              </a:spcBef>
              <a:buNone/>
            </a:pPr>
            <a:r>
              <a:rPr sz="1600" b="1" i="0" dirty="0">
                <a:solidFill>
                  <a:srgbClr val="233A44"/>
                </a:solidFill>
                <a:latin typeface="Times New Roman"/>
              </a:rPr>
              <a:t>SDG 9 – Industry, Innovation &amp; Infrastructure</a:t>
            </a:r>
          </a:p>
          <a:p>
            <a:pPr marL="146050" indent="0">
              <a:spcBef>
                <a:spcPts val="200"/>
              </a:spcBef>
              <a:buNone/>
            </a:pPr>
            <a:r>
              <a:rPr sz="1600" b="0" i="0" dirty="0">
                <a:solidFill>
                  <a:srgbClr val="000000"/>
                </a:solidFill>
                <a:latin typeface="Times New Roman"/>
              </a:rPr>
              <a:t>Promotes digital transformation through a centralized campus management platform, modernizing institutional infrastructure.</a:t>
            </a:r>
          </a:p>
          <a:p>
            <a:pPr marL="146050" indent="0">
              <a:spcBef>
                <a:spcPts val="1200"/>
              </a:spcBef>
              <a:buNone/>
            </a:pPr>
            <a:r>
              <a:rPr sz="1600" b="1" i="0" dirty="0">
                <a:solidFill>
                  <a:srgbClr val="233A44"/>
                </a:solidFill>
                <a:latin typeface="Times New Roman"/>
              </a:rPr>
              <a:t>SDG 16 – Peace, Justice &amp; Strong Institutions</a:t>
            </a:r>
          </a:p>
          <a:p>
            <a:pPr marL="146050" indent="0">
              <a:spcBef>
                <a:spcPts val="200"/>
              </a:spcBef>
              <a:buNone/>
            </a:pPr>
            <a:r>
              <a:rPr sz="1600" b="0" i="0" dirty="0">
                <a:solidFill>
                  <a:srgbClr val="000000"/>
                </a:solidFill>
                <a:latin typeface="Times New Roman"/>
              </a:rPr>
              <a:t>Encourages transparent elections and supports a safer campus through AI-assisted anti-ragging reporting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Google Shape;170;p19"/>
          <p:cNvSpPr txBox="1">
            <a:spLocks noGrp="1"/>
          </p:cNvSpPr>
          <p:nvPr>
            <p:ph type="title"/>
          </p:nvPr>
        </p:nvSpPr>
        <p:spPr>
          <a:xfrm>
            <a:off x="819150" y="467025"/>
            <a:ext cx="7505700" cy="56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sz="2800" b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36" name="Google Shape;171;p19"/>
          <p:cNvSpPr txBox="1">
            <a:spLocks noGrp="1"/>
          </p:cNvSpPr>
          <p:nvPr>
            <p:ph type="body" idx="1"/>
          </p:nvPr>
        </p:nvSpPr>
        <p:spPr>
          <a:xfrm>
            <a:off x="661481" y="1032524"/>
            <a:ext cx="7996136" cy="35102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IN" sz="1200" dirty="0">
                <a:hlinkClick r:id="rId3"/>
              </a:rPr>
              <a:t>https://scholar.google.com/scholar?q=David+Chaum+electronic+voting </a:t>
            </a:r>
            <a:endParaRPr lang="en-IN" sz="1200" dirty="0"/>
          </a:p>
          <a:p>
            <a:pPr lvl="0"/>
            <a:r>
              <a:rPr lang="en-IN" sz="1200" dirty="0">
                <a:hlinkClick r:id="rId4"/>
              </a:rPr>
              <a:t>https://scholar.google.com/scholar?q=Andrew+Ng+artificial+intelligence+machine+learning </a:t>
            </a:r>
            <a:endParaRPr lang="en-IN" sz="1200" dirty="0"/>
          </a:p>
          <a:p>
            <a:pPr lvl="0"/>
            <a:r>
              <a:rPr lang="en-IN" sz="1200" dirty="0">
                <a:hlinkClick r:id="rId5"/>
              </a:rPr>
              <a:t>https://scholar.google.com/scholar?q=Andrew+S.+Tanenbaum+Computer+Networks </a:t>
            </a:r>
            <a:endParaRPr lang="en-IN" sz="1200" dirty="0"/>
          </a:p>
          <a:p>
            <a:pPr lvl="0"/>
            <a:r>
              <a:rPr lang="en-IN" sz="1200" dirty="0">
                <a:hlinkClick r:id="rId6"/>
              </a:rPr>
              <a:t>https://scholar.google.com/scholar?q=Michael+Wooldridge+artificial+intelligence+intelligent+agents </a:t>
            </a:r>
            <a:endParaRPr lang="en-IN" sz="1200" dirty="0"/>
          </a:p>
          <a:p>
            <a:pPr lvl="0"/>
            <a:r>
              <a:rPr lang="en-IN" sz="1200" dirty="0">
                <a:hlinkClick r:id="rId7"/>
              </a:rPr>
              <a:t>https://scholar.google.com/scholar?q=Tim+Berners-Lee+World+Wide+Web+technologies </a:t>
            </a:r>
            <a:endParaRPr lang="en-IN" sz="1200" dirty="0"/>
          </a:p>
          <a:p>
            <a:pPr marL="146050" indent="0">
              <a:spcBef>
                <a:spcPts val="800"/>
              </a:spcBef>
              <a:buNone/>
            </a:pPr>
            <a:endParaRPr sz="1200" b="0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8637" name="Google Shape;172;p1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Google Shape;177;p20"/>
          <p:cNvSpPr txBox="1">
            <a:spLocks noGrp="1"/>
          </p:cNvSpPr>
          <p:nvPr>
            <p:ph type="title"/>
          </p:nvPr>
        </p:nvSpPr>
        <p:spPr>
          <a:xfrm>
            <a:off x="819150" y="700000"/>
            <a:ext cx="7505700" cy="7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dirty="0">
                <a:solidFill>
                  <a:srgbClr val="233A44"/>
                </a:solidFill>
                <a:latin typeface="Times New Roman"/>
              </a:rPr>
              <a:t>Thank You!</a:t>
            </a:r>
            <a:endParaRPr sz="44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41" name="Google Shape;178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"/>
          </a:p>
        </p:txBody>
      </p:sp>
      <p:sp>
        <p:nvSpPr>
          <p:cNvPr id="1048642" name="TextBox 1048641"/>
          <p:cNvSpPr txBox="1"/>
          <p:nvPr/>
        </p:nvSpPr>
        <p:spPr>
          <a:xfrm>
            <a:off x="1777806" y="1450000"/>
            <a:ext cx="558838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IN" i="1" dirty="0">
                <a:latin typeface="Times New Roman"/>
              </a:rPr>
              <a:t>ELECTICORE</a:t>
            </a:r>
            <a:r>
              <a:rPr sz="1400" b="0" i="1" dirty="0">
                <a:solidFill>
                  <a:srgbClr val="000000"/>
                </a:solidFill>
                <a:latin typeface="Times New Roman"/>
              </a:rPr>
              <a:t> — Building a Smarter, Safer, and More Connected Campus</a:t>
            </a:r>
          </a:p>
        </p:txBody>
      </p:sp>
      <p:sp>
        <p:nvSpPr>
          <p:cNvPr id="1048643" name="TextBox 1048642"/>
          <p:cNvSpPr txBox="1"/>
          <p:nvPr/>
        </p:nvSpPr>
        <p:spPr>
          <a:xfrm>
            <a:off x="819150" y="2050000"/>
            <a:ext cx="7505700" cy="1505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 i="0" dirty="0">
                <a:solidFill>
                  <a:srgbClr val="000000"/>
                </a:solidFill>
                <a:latin typeface="Times New Roman"/>
              </a:rPr>
              <a:t>Dhruv Sharma  —  2502900100093</a:t>
            </a:r>
          </a:p>
          <a:p>
            <a:pPr algn="ctr">
              <a:spcBef>
                <a:spcPts val="600"/>
              </a:spcBef>
            </a:pPr>
            <a:r>
              <a:rPr sz="1300" b="0" i="0" dirty="0">
                <a:solidFill>
                  <a:srgbClr val="000000"/>
                </a:solidFill>
                <a:latin typeface="Times New Roman"/>
              </a:rPr>
              <a:t>Dhruv Pratap Singh  —  2502900100092</a:t>
            </a:r>
          </a:p>
          <a:p>
            <a:pPr algn="ctr">
              <a:spcBef>
                <a:spcPts val="600"/>
              </a:spcBef>
            </a:pPr>
            <a:r>
              <a:rPr sz="1300" b="0" i="0" dirty="0">
                <a:solidFill>
                  <a:srgbClr val="000000"/>
                </a:solidFill>
                <a:latin typeface="Times New Roman"/>
              </a:rPr>
              <a:t>Dharmendra Kumar Sharma  —  2502900100090</a:t>
            </a:r>
          </a:p>
          <a:p>
            <a:pPr algn="ctr">
              <a:spcBef>
                <a:spcPts val="600"/>
              </a:spcBef>
            </a:pPr>
            <a:r>
              <a:rPr sz="1300" b="0" i="0" dirty="0">
                <a:solidFill>
                  <a:srgbClr val="000000"/>
                </a:solidFill>
                <a:latin typeface="Times New Roman"/>
              </a:rPr>
              <a:t>Jitendra Kumar Sharma  —  2502900100112</a:t>
            </a:r>
          </a:p>
          <a:p>
            <a:pPr algn="ctr">
              <a:spcBef>
                <a:spcPts val="1600"/>
              </a:spcBef>
            </a:pPr>
            <a:r>
              <a:rPr sz="1150" b="0" i="1" dirty="0">
                <a:solidFill>
                  <a:srgbClr val="000000"/>
                </a:solidFill>
                <a:latin typeface="Times New Roman"/>
              </a:rPr>
              <a:t>Guided by </a:t>
            </a:r>
            <a:r>
              <a:rPr lang="en-IN" sz="1150" b="0" i="1" dirty="0">
                <a:solidFill>
                  <a:srgbClr val="000000"/>
                </a:solidFill>
                <a:latin typeface="Times New Roman"/>
              </a:rPr>
              <a:t>Mrs. Monika Gaur </a:t>
            </a:r>
            <a:r>
              <a:rPr sz="1150" b="0" i="1" dirty="0">
                <a:solidFill>
                  <a:srgbClr val="000000"/>
                </a:solidFill>
                <a:latin typeface="Times New Roman"/>
              </a:rPr>
              <a:t>|  Department of CSE, ABES Institute of Technology, Ghaziabad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930</TotalTime>
  <Words>910</Words>
  <Application>Microsoft Office PowerPoint</Application>
  <PresentationFormat>On-screen Show (16:9)</PresentationFormat>
  <Paragraphs>119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Nunito</vt:lpstr>
      <vt:lpstr>Calibri</vt:lpstr>
      <vt:lpstr>Times New Roman</vt:lpstr>
      <vt:lpstr>Arial</vt:lpstr>
      <vt:lpstr>Tahoma</vt:lpstr>
      <vt:lpstr>Shift</vt:lpstr>
      <vt:lpstr>PowerPoint Presentation</vt:lpstr>
      <vt:lpstr>Table of Contents</vt:lpstr>
      <vt:lpstr>Introduction</vt:lpstr>
      <vt:lpstr>Objectives</vt:lpstr>
      <vt:lpstr>Literature Survey</vt:lpstr>
      <vt:lpstr>Problem Statement</vt:lpstr>
      <vt:lpstr>Proposed Solution &amp; Technology</vt:lpstr>
      <vt:lpstr>Mapping with SDG Goals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Anil suryavanshi</dc:creator>
  <cp:lastModifiedBy>dhruvsharma.2603r@gmail.com</cp:lastModifiedBy>
  <cp:revision>76</cp:revision>
  <dcterms:created xsi:type="dcterms:W3CDTF">2023-05-15T05:17:35Z</dcterms:created>
  <dcterms:modified xsi:type="dcterms:W3CDTF">2026-08-21T19:03:24Z</dcterms:modified>
</cp:coreProperties>
</file>